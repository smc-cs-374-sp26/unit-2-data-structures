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307" r:id="rId3"/>
    <p:sldId id="308" r:id="rId4"/>
    <p:sldId id="305" r:id="rId5"/>
    <p:sldId id="309" r:id="rId6"/>
    <p:sldId id="31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58"/>
    <p:restoredTop sz="94699"/>
  </p:normalViewPr>
  <p:slideViewPr>
    <p:cSldViewPr snapToGrid="0">
      <p:cViewPr varScale="1">
        <p:scale>
          <a:sx n="88" d="100"/>
          <a:sy n="88" d="100"/>
        </p:scale>
        <p:origin x="176"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3/11/26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3979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3/11/26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0366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3/11/26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8268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3/11/26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48911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3/11/26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61468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3/11/26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32858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3/11/26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56177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3/11/26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7228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3/11/26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21736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3/11/26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32741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3/11/26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8066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3/11/26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88101915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Children Drawing And Coloring">
            <a:extLst>
              <a:ext uri="{FF2B5EF4-FFF2-40B4-BE49-F238E27FC236}">
                <a16:creationId xmlns:a16="http://schemas.microsoft.com/office/drawing/2014/main" id="{19A2194D-946D-00F1-CCAB-1E91234D7350}"/>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131" r="-1" b="152"/>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49000">
                <a:srgbClr val="000000">
                  <a:alpha val="47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857D16-3885-B9B8-50B5-48C8FE0EDCE7}"/>
              </a:ext>
            </a:extLst>
          </p:cNvPr>
          <p:cNvSpPr>
            <a:spLocks noGrp="1"/>
          </p:cNvSpPr>
          <p:nvPr>
            <p:ph type="ctrTitle"/>
          </p:nvPr>
        </p:nvSpPr>
        <p:spPr>
          <a:xfrm>
            <a:off x="893618" y="1878366"/>
            <a:ext cx="4671319" cy="1885803"/>
          </a:xfrm>
        </p:spPr>
        <p:txBody>
          <a:bodyPr>
            <a:normAutofit/>
          </a:bodyPr>
          <a:lstStyle/>
          <a:p>
            <a:r>
              <a:rPr lang="en-US" dirty="0">
                <a:solidFill>
                  <a:srgbClr val="FFFFFF"/>
                </a:solidFill>
              </a:rPr>
              <a:t>Coloring</a:t>
            </a:r>
          </a:p>
        </p:txBody>
      </p:sp>
      <p:sp>
        <p:nvSpPr>
          <p:cNvPr id="3" name="Subtitle 2">
            <a:extLst>
              <a:ext uri="{FF2B5EF4-FFF2-40B4-BE49-F238E27FC236}">
                <a16:creationId xmlns:a16="http://schemas.microsoft.com/office/drawing/2014/main" id="{92930128-AD83-1C42-33FB-C90A1F87CF12}"/>
              </a:ext>
            </a:extLst>
          </p:cNvPr>
          <p:cNvSpPr>
            <a:spLocks noGrp="1"/>
          </p:cNvSpPr>
          <p:nvPr>
            <p:ph type="subTitle" idx="1"/>
          </p:nvPr>
        </p:nvSpPr>
        <p:spPr>
          <a:xfrm>
            <a:off x="893618" y="3845971"/>
            <a:ext cx="4671319" cy="1381455"/>
          </a:xfrm>
        </p:spPr>
        <p:txBody>
          <a:bodyPr>
            <a:normAutofit/>
          </a:bodyPr>
          <a:lstStyle/>
          <a:p>
            <a:endParaRPr lang="en-US">
              <a:solidFill>
                <a:srgbClr val="FFFFFF"/>
              </a:solidFill>
            </a:endParaRPr>
          </a:p>
        </p:txBody>
      </p:sp>
    </p:spTree>
    <p:extLst>
      <p:ext uri="{BB962C8B-B14F-4D97-AF65-F5344CB8AC3E}">
        <p14:creationId xmlns:p14="http://schemas.microsoft.com/office/powerpoint/2010/main" val="217516857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video>
              <p:cMediaNode mute="1">
                <p:cTn id="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6D9B87-2923-A9AB-00EF-E4E3B9635E1E}"/>
              </a:ext>
            </a:extLst>
          </p:cNvPr>
          <p:cNvSpPr>
            <a:spLocks noGrp="1"/>
          </p:cNvSpPr>
          <p:nvPr>
            <p:ph type="title"/>
          </p:nvPr>
        </p:nvSpPr>
        <p:spPr/>
        <p:txBody>
          <a:bodyPr/>
          <a:lstStyle/>
          <a:p>
            <a:r>
              <a:rPr lang="en-US" dirty="0"/>
              <a:t>Why color?</a:t>
            </a:r>
          </a:p>
        </p:txBody>
      </p:sp>
      <p:sp>
        <p:nvSpPr>
          <p:cNvPr id="5" name="Content Placeholder 4">
            <a:extLst>
              <a:ext uri="{FF2B5EF4-FFF2-40B4-BE49-F238E27FC236}">
                <a16:creationId xmlns:a16="http://schemas.microsoft.com/office/drawing/2014/main" id="{94692A4D-AADF-9E0F-461A-2FE3CAE94BB6}"/>
              </a:ext>
            </a:extLst>
          </p:cNvPr>
          <p:cNvSpPr>
            <a:spLocks noGrp="1"/>
          </p:cNvSpPr>
          <p:nvPr>
            <p:ph idx="1"/>
          </p:nvPr>
        </p:nvSpPr>
        <p:spPr/>
        <p:txBody>
          <a:bodyPr>
            <a:normAutofit/>
          </a:bodyPr>
          <a:lstStyle/>
          <a:p>
            <a:r>
              <a:rPr lang="en-US" sz="2800" dirty="0"/>
              <a:t>Helps divide vertices into mutually exclusive groups</a:t>
            </a:r>
          </a:p>
          <a:p>
            <a:endParaRPr lang="en-US" sz="2800" dirty="0"/>
          </a:p>
          <a:p>
            <a:r>
              <a:rPr lang="en-US" sz="2800" dirty="0"/>
              <a:t>If chemicals x, y, and z cannot be stored together, how many different shelves are needed?</a:t>
            </a:r>
          </a:p>
          <a:p>
            <a:r>
              <a:rPr lang="en-US" sz="2800" dirty="0"/>
              <a:t>If variables are accessed in various lines of a program, how many registers are needed to store all variables?</a:t>
            </a:r>
          </a:p>
          <a:p>
            <a:endParaRPr lang="en-US" sz="2800" dirty="0"/>
          </a:p>
          <a:p>
            <a:endParaRPr lang="en-US" sz="2800" dirty="0"/>
          </a:p>
        </p:txBody>
      </p:sp>
    </p:spTree>
    <p:extLst>
      <p:ext uri="{BB962C8B-B14F-4D97-AF65-F5344CB8AC3E}">
        <p14:creationId xmlns:p14="http://schemas.microsoft.com/office/powerpoint/2010/main" val="3076984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5966B-F823-359A-A3E0-B15AC66BAF09}"/>
              </a:ext>
            </a:extLst>
          </p:cNvPr>
          <p:cNvSpPr>
            <a:spLocks noGrp="1"/>
          </p:cNvSpPr>
          <p:nvPr>
            <p:ph type="title"/>
          </p:nvPr>
        </p:nvSpPr>
        <p:spPr/>
        <p:txBody>
          <a:bodyPr/>
          <a:lstStyle/>
          <a:p>
            <a:r>
              <a:rPr lang="en-US" dirty="0"/>
              <a:t>How to color?</a:t>
            </a:r>
          </a:p>
        </p:txBody>
      </p:sp>
      <p:sp>
        <p:nvSpPr>
          <p:cNvPr id="3" name="Content Placeholder 2">
            <a:extLst>
              <a:ext uri="{FF2B5EF4-FFF2-40B4-BE49-F238E27FC236}">
                <a16:creationId xmlns:a16="http://schemas.microsoft.com/office/drawing/2014/main" id="{56E093C9-E26A-9031-E0EC-0246D7F55FB9}"/>
              </a:ext>
            </a:extLst>
          </p:cNvPr>
          <p:cNvSpPr>
            <a:spLocks noGrp="1"/>
          </p:cNvSpPr>
          <p:nvPr>
            <p:ph idx="1"/>
          </p:nvPr>
        </p:nvSpPr>
        <p:spPr/>
        <p:txBody>
          <a:bodyPr>
            <a:normAutofit/>
          </a:bodyPr>
          <a:lstStyle/>
          <a:p>
            <a:r>
              <a:rPr lang="en-US" sz="2800" dirty="0"/>
              <a:t>Adapt BFS or DFS.</a:t>
            </a:r>
          </a:p>
          <a:p>
            <a:r>
              <a:rPr lang="en-US" sz="2800" dirty="0"/>
              <a:t>Modify it, so that each time we process, we add a "color" to the vertex, other than black/white/gray (that's separate)</a:t>
            </a:r>
          </a:p>
          <a:p>
            <a:pPr lvl="1"/>
            <a:r>
              <a:rPr lang="en-US" sz="2800" dirty="0"/>
              <a:t>Color = red/orange/yellow/</a:t>
            </a:r>
            <a:r>
              <a:rPr lang="en-US" sz="2800" dirty="0" err="1"/>
              <a:t>etc</a:t>
            </a:r>
            <a:endParaRPr lang="en-US" sz="2800" dirty="0"/>
          </a:p>
          <a:p>
            <a:pPr lvl="1"/>
            <a:r>
              <a:rPr lang="en-US" sz="2800" dirty="0"/>
              <a:t>Color = assigned number</a:t>
            </a:r>
          </a:p>
          <a:p>
            <a:r>
              <a:rPr lang="en-US" sz="2800" dirty="0"/>
              <a:t>Such that no color can be assigned to two adjacent vertices.</a:t>
            </a:r>
          </a:p>
        </p:txBody>
      </p:sp>
    </p:spTree>
    <p:extLst>
      <p:ext uri="{BB962C8B-B14F-4D97-AF65-F5344CB8AC3E}">
        <p14:creationId xmlns:p14="http://schemas.microsoft.com/office/powerpoint/2010/main" val="3744611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FF503-D24F-E6B5-F5AE-8812F3A66F96}"/>
              </a:ext>
            </a:extLst>
          </p:cNvPr>
          <p:cNvSpPr>
            <a:spLocks noGrp="1"/>
          </p:cNvSpPr>
          <p:nvPr>
            <p:ph type="title"/>
          </p:nvPr>
        </p:nvSpPr>
        <p:spPr/>
        <p:txBody>
          <a:bodyPr/>
          <a:lstStyle/>
          <a:p>
            <a:r>
              <a:rPr lang="en-US"/>
              <a:t>Warm-up: </a:t>
            </a:r>
            <a:r>
              <a:rPr lang="en-US" dirty="0"/>
              <a:t>Coloring</a:t>
            </a:r>
          </a:p>
        </p:txBody>
      </p:sp>
      <p:sp>
        <p:nvSpPr>
          <p:cNvPr id="3" name="Content Placeholder 2">
            <a:extLst>
              <a:ext uri="{FF2B5EF4-FFF2-40B4-BE49-F238E27FC236}">
                <a16:creationId xmlns:a16="http://schemas.microsoft.com/office/drawing/2014/main" id="{6F1868BD-6DB3-06DA-0BF2-5517CA3402E9}"/>
              </a:ext>
            </a:extLst>
          </p:cNvPr>
          <p:cNvSpPr>
            <a:spLocks noGrp="1"/>
          </p:cNvSpPr>
          <p:nvPr>
            <p:ph idx="1"/>
          </p:nvPr>
        </p:nvSpPr>
        <p:spPr/>
        <p:txBody>
          <a:bodyPr>
            <a:normAutofit/>
          </a:bodyPr>
          <a:lstStyle/>
          <a:p>
            <a:r>
              <a:rPr lang="en-US" sz="2400" dirty="0"/>
              <a:t>A public aquarium has ten species of aquatic life that it wishes to feature in large tanks. However, because some of the species prey on others, they cannot all live in the same tank. We label the species A-J and show each one's "enemy" species that cannot be placed in the same tank. What is the minimum number of tanks the aquarium needs to accommodate all 10 species?</a:t>
            </a:r>
          </a:p>
        </p:txBody>
      </p:sp>
      <p:graphicFrame>
        <p:nvGraphicFramePr>
          <p:cNvPr id="4" name="Table 3">
            <a:extLst>
              <a:ext uri="{FF2B5EF4-FFF2-40B4-BE49-F238E27FC236}">
                <a16:creationId xmlns:a16="http://schemas.microsoft.com/office/drawing/2014/main" id="{BE6B6973-EC1B-49CC-CE8A-B1EECF2D77DE}"/>
              </a:ext>
            </a:extLst>
          </p:cNvPr>
          <p:cNvGraphicFramePr>
            <a:graphicFrameLocks noGrp="1"/>
          </p:cNvGraphicFramePr>
          <p:nvPr>
            <p:extLst>
              <p:ext uri="{D42A27DB-BD31-4B8C-83A1-F6EECF244321}">
                <p14:modId xmlns:p14="http://schemas.microsoft.com/office/powerpoint/2010/main" val="1168229969"/>
              </p:ext>
            </p:extLst>
          </p:nvPr>
        </p:nvGraphicFramePr>
        <p:xfrm>
          <a:off x="2032000" y="4428476"/>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264295060"/>
                    </a:ext>
                  </a:extLst>
                </a:gridCol>
                <a:gridCol w="2032000">
                  <a:extLst>
                    <a:ext uri="{9D8B030D-6E8A-4147-A177-3AD203B41FA5}">
                      <a16:colId xmlns:a16="http://schemas.microsoft.com/office/drawing/2014/main" val="137193758"/>
                    </a:ext>
                  </a:extLst>
                </a:gridCol>
                <a:gridCol w="2032000">
                  <a:extLst>
                    <a:ext uri="{9D8B030D-6E8A-4147-A177-3AD203B41FA5}">
                      <a16:colId xmlns:a16="http://schemas.microsoft.com/office/drawing/2014/main" val="4262940969"/>
                    </a:ext>
                  </a:extLst>
                </a:gridCol>
                <a:gridCol w="2032000">
                  <a:extLst>
                    <a:ext uri="{9D8B030D-6E8A-4147-A177-3AD203B41FA5}">
                      <a16:colId xmlns:a16="http://schemas.microsoft.com/office/drawing/2014/main" val="3246562061"/>
                    </a:ext>
                  </a:extLst>
                </a:gridCol>
              </a:tblGrid>
              <a:tr h="370840">
                <a:tc>
                  <a:txBody>
                    <a:bodyPr/>
                    <a:lstStyle/>
                    <a:p>
                      <a:r>
                        <a:rPr lang="en-US" dirty="0"/>
                        <a:t>Species</a:t>
                      </a:r>
                    </a:p>
                  </a:txBody>
                  <a:tcPr/>
                </a:tc>
                <a:tc>
                  <a:txBody>
                    <a:bodyPr/>
                    <a:lstStyle/>
                    <a:p>
                      <a:r>
                        <a:rPr lang="en-US" dirty="0"/>
                        <a:t>Enemies</a:t>
                      </a:r>
                    </a:p>
                  </a:txBody>
                  <a:tcPr/>
                </a:tc>
                <a:tc>
                  <a:txBody>
                    <a:bodyPr/>
                    <a:lstStyle/>
                    <a:p>
                      <a:r>
                        <a:rPr lang="en-US" dirty="0"/>
                        <a:t>Species</a:t>
                      </a:r>
                    </a:p>
                  </a:txBody>
                  <a:tcPr/>
                </a:tc>
                <a:tc>
                  <a:txBody>
                    <a:bodyPr/>
                    <a:lstStyle/>
                    <a:p>
                      <a:r>
                        <a:rPr lang="en-US" dirty="0"/>
                        <a:t>Enemies</a:t>
                      </a:r>
                    </a:p>
                  </a:txBody>
                  <a:tcPr/>
                </a:tc>
                <a:extLst>
                  <a:ext uri="{0D108BD9-81ED-4DB2-BD59-A6C34878D82A}">
                    <a16:rowId xmlns:a16="http://schemas.microsoft.com/office/drawing/2014/main" val="520077631"/>
                  </a:ext>
                </a:extLst>
              </a:tr>
              <a:tr h="370840">
                <a:tc>
                  <a:txBody>
                    <a:bodyPr/>
                    <a:lstStyle/>
                    <a:p>
                      <a:r>
                        <a:rPr lang="en-US" dirty="0"/>
                        <a:t>A</a:t>
                      </a:r>
                    </a:p>
                  </a:txBody>
                  <a:tcPr/>
                </a:tc>
                <a:tc>
                  <a:txBody>
                    <a:bodyPr/>
                    <a:lstStyle/>
                    <a:p>
                      <a:r>
                        <a:rPr lang="en-US" dirty="0"/>
                        <a:t>B,E,H,J</a:t>
                      </a:r>
                    </a:p>
                  </a:txBody>
                  <a:tcPr/>
                </a:tc>
                <a:tc>
                  <a:txBody>
                    <a:bodyPr/>
                    <a:lstStyle/>
                    <a:p>
                      <a:r>
                        <a:rPr lang="en-US" dirty="0"/>
                        <a:t>F</a:t>
                      </a:r>
                    </a:p>
                  </a:txBody>
                  <a:tcPr/>
                </a:tc>
                <a:tc>
                  <a:txBody>
                    <a:bodyPr/>
                    <a:lstStyle/>
                    <a:p>
                      <a:r>
                        <a:rPr lang="en-US" dirty="0"/>
                        <a:t>E,I</a:t>
                      </a:r>
                    </a:p>
                  </a:txBody>
                  <a:tcPr/>
                </a:tc>
                <a:extLst>
                  <a:ext uri="{0D108BD9-81ED-4DB2-BD59-A6C34878D82A}">
                    <a16:rowId xmlns:a16="http://schemas.microsoft.com/office/drawing/2014/main" val="1745114433"/>
                  </a:ext>
                </a:extLst>
              </a:tr>
              <a:tr h="370840">
                <a:tc>
                  <a:txBody>
                    <a:bodyPr/>
                    <a:lstStyle/>
                    <a:p>
                      <a:r>
                        <a:rPr lang="en-US" dirty="0"/>
                        <a:t>B</a:t>
                      </a:r>
                    </a:p>
                  </a:txBody>
                  <a:tcPr/>
                </a:tc>
                <a:tc>
                  <a:txBody>
                    <a:bodyPr/>
                    <a:lstStyle/>
                    <a:p>
                      <a:r>
                        <a:rPr lang="en-US" dirty="0"/>
                        <a:t>A, C, G, I</a:t>
                      </a:r>
                    </a:p>
                  </a:txBody>
                  <a:tcPr/>
                </a:tc>
                <a:tc>
                  <a:txBody>
                    <a:bodyPr/>
                    <a:lstStyle/>
                    <a:p>
                      <a:r>
                        <a:rPr lang="en-US" dirty="0"/>
                        <a:t>G</a:t>
                      </a:r>
                    </a:p>
                  </a:txBody>
                  <a:tcPr/>
                </a:tc>
                <a:tc>
                  <a:txBody>
                    <a:bodyPr/>
                    <a:lstStyle/>
                    <a:p>
                      <a:r>
                        <a:rPr lang="en-US" dirty="0"/>
                        <a:t>B, D, J</a:t>
                      </a:r>
                    </a:p>
                  </a:txBody>
                  <a:tcPr/>
                </a:tc>
                <a:extLst>
                  <a:ext uri="{0D108BD9-81ED-4DB2-BD59-A6C34878D82A}">
                    <a16:rowId xmlns:a16="http://schemas.microsoft.com/office/drawing/2014/main" val="338250996"/>
                  </a:ext>
                </a:extLst>
              </a:tr>
              <a:tr h="370840">
                <a:tc>
                  <a:txBody>
                    <a:bodyPr/>
                    <a:lstStyle/>
                    <a:p>
                      <a:r>
                        <a:rPr lang="en-US" dirty="0"/>
                        <a:t>C</a:t>
                      </a:r>
                    </a:p>
                  </a:txBody>
                  <a:tcPr/>
                </a:tc>
                <a:tc>
                  <a:txBody>
                    <a:bodyPr/>
                    <a:lstStyle/>
                    <a:p>
                      <a:r>
                        <a:rPr lang="en-US" dirty="0"/>
                        <a:t>B, D</a:t>
                      </a:r>
                    </a:p>
                  </a:txBody>
                  <a:tcPr/>
                </a:tc>
                <a:tc>
                  <a:txBody>
                    <a:bodyPr/>
                    <a:lstStyle/>
                    <a:p>
                      <a:r>
                        <a:rPr lang="en-US" dirty="0"/>
                        <a:t>H</a:t>
                      </a:r>
                    </a:p>
                  </a:txBody>
                  <a:tcPr/>
                </a:tc>
                <a:tc>
                  <a:txBody>
                    <a:bodyPr/>
                    <a:lstStyle/>
                    <a:p>
                      <a:r>
                        <a:rPr lang="en-US" dirty="0"/>
                        <a:t>A, E</a:t>
                      </a:r>
                    </a:p>
                  </a:txBody>
                  <a:tcPr/>
                </a:tc>
                <a:extLst>
                  <a:ext uri="{0D108BD9-81ED-4DB2-BD59-A6C34878D82A}">
                    <a16:rowId xmlns:a16="http://schemas.microsoft.com/office/drawing/2014/main" val="3575391892"/>
                  </a:ext>
                </a:extLst>
              </a:tr>
              <a:tr h="370840">
                <a:tc>
                  <a:txBody>
                    <a:bodyPr/>
                    <a:lstStyle/>
                    <a:p>
                      <a:r>
                        <a:rPr lang="en-US" dirty="0"/>
                        <a:t>D</a:t>
                      </a:r>
                    </a:p>
                  </a:txBody>
                  <a:tcPr/>
                </a:tc>
                <a:tc>
                  <a:txBody>
                    <a:bodyPr/>
                    <a:lstStyle/>
                    <a:p>
                      <a:r>
                        <a:rPr lang="en-US" dirty="0"/>
                        <a:t>C, E, G, J</a:t>
                      </a:r>
                    </a:p>
                  </a:txBody>
                  <a:tcPr/>
                </a:tc>
                <a:tc>
                  <a:txBody>
                    <a:bodyPr/>
                    <a:lstStyle/>
                    <a:p>
                      <a:r>
                        <a:rPr lang="en-US" dirty="0"/>
                        <a:t>I</a:t>
                      </a:r>
                    </a:p>
                  </a:txBody>
                  <a:tcPr/>
                </a:tc>
                <a:tc>
                  <a:txBody>
                    <a:bodyPr/>
                    <a:lstStyle/>
                    <a:p>
                      <a:r>
                        <a:rPr lang="en-US" dirty="0"/>
                        <a:t>B, F</a:t>
                      </a:r>
                    </a:p>
                  </a:txBody>
                  <a:tcPr/>
                </a:tc>
                <a:extLst>
                  <a:ext uri="{0D108BD9-81ED-4DB2-BD59-A6C34878D82A}">
                    <a16:rowId xmlns:a16="http://schemas.microsoft.com/office/drawing/2014/main" val="2063765061"/>
                  </a:ext>
                </a:extLst>
              </a:tr>
              <a:tr h="370840">
                <a:tc>
                  <a:txBody>
                    <a:bodyPr/>
                    <a:lstStyle/>
                    <a:p>
                      <a:r>
                        <a:rPr lang="en-US" dirty="0"/>
                        <a:t>E</a:t>
                      </a:r>
                    </a:p>
                  </a:txBody>
                  <a:tcPr/>
                </a:tc>
                <a:tc>
                  <a:txBody>
                    <a:bodyPr/>
                    <a:lstStyle/>
                    <a:p>
                      <a:r>
                        <a:rPr lang="en-US" dirty="0"/>
                        <a:t>A, D, F, H, J</a:t>
                      </a:r>
                    </a:p>
                  </a:txBody>
                  <a:tcPr/>
                </a:tc>
                <a:tc>
                  <a:txBody>
                    <a:bodyPr/>
                    <a:lstStyle/>
                    <a:p>
                      <a:r>
                        <a:rPr lang="en-US" dirty="0"/>
                        <a:t>J</a:t>
                      </a:r>
                    </a:p>
                  </a:txBody>
                  <a:tcPr/>
                </a:tc>
                <a:tc>
                  <a:txBody>
                    <a:bodyPr/>
                    <a:lstStyle/>
                    <a:p>
                      <a:r>
                        <a:rPr lang="en-US" dirty="0"/>
                        <a:t>A, D, E, G</a:t>
                      </a:r>
                    </a:p>
                  </a:txBody>
                  <a:tcPr/>
                </a:tc>
                <a:extLst>
                  <a:ext uri="{0D108BD9-81ED-4DB2-BD59-A6C34878D82A}">
                    <a16:rowId xmlns:a16="http://schemas.microsoft.com/office/drawing/2014/main" val="3978695000"/>
                  </a:ext>
                </a:extLst>
              </a:tr>
            </a:tbl>
          </a:graphicData>
        </a:graphic>
      </p:graphicFrame>
    </p:spTree>
    <p:extLst>
      <p:ext uri="{BB962C8B-B14F-4D97-AF65-F5344CB8AC3E}">
        <p14:creationId xmlns:p14="http://schemas.microsoft.com/office/powerpoint/2010/main" val="3015133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733C2-79E8-982B-E5BD-7809EBC212BE}"/>
              </a:ext>
            </a:extLst>
          </p:cNvPr>
          <p:cNvSpPr>
            <a:spLocks noGrp="1"/>
          </p:cNvSpPr>
          <p:nvPr>
            <p:ph type="title"/>
          </p:nvPr>
        </p:nvSpPr>
        <p:spPr/>
        <p:txBody>
          <a:bodyPr/>
          <a:lstStyle/>
          <a:p>
            <a:r>
              <a:rPr lang="en-US" dirty="0"/>
              <a:t>Tasks</a:t>
            </a:r>
          </a:p>
        </p:txBody>
      </p:sp>
      <p:sp>
        <p:nvSpPr>
          <p:cNvPr id="3" name="Content Placeholder 2">
            <a:extLst>
              <a:ext uri="{FF2B5EF4-FFF2-40B4-BE49-F238E27FC236}">
                <a16:creationId xmlns:a16="http://schemas.microsoft.com/office/drawing/2014/main" id="{ADA1F8B8-6F63-A57D-AB56-B40C09C8DCAE}"/>
              </a:ext>
            </a:extLst>
          </p:cNvPr>
          <p:cNvSpPr>
            <a:spLocks noGrp="1"/>
          </p:cNvSpPr>
          <p:nvPr>
            <p:ph idx="1"/>
          </p:nvPr>
        </p:nvSpPr>
        <p:spPr/>
        <p:txBody>
          <a:bodyPr>
            <a:normAutofit/>
          </a:bodyPr>
          <a:lstStyle/>
          <a:p>
            <a:pPr marL="457200" indent="-457200">
              <a:buAutoNum type="arabicPeriod"/>
            </a:pPr>
            <a:r>
              <a:rPr lang="en-US" sz="2800" dirty="0"/>
              <a:t>Draw the graph on the board with your neighbors</a:t>
            </a:r>
          </a:p>
          <a:p>
            <a:pPr marL="457200" indent="-457200">
              <a:buAutoNum type="arabicPeriod"/>
            </a:pPr>
            <a:r>
              <a:rPr lang="en-US" sz="2800" dirty="0"/>
              <a:t>Decide whether to use BFS or DFS</a:t>
            </a:r>
          </a:p>
          <a:p>
            <a:pPr marL="457200" indent="-457200">
              <a:buAutoNum type="arabicPeriod"/>
            </a:pPr>
            <a:r>
              <a:rPr lang="en-US" sz="2800" dirty="0"/>
              <a:t>Adapt the algorithm to color the graph</a:t>
            </a:r>
          </a:p>
          <a:p>
            <a:pPr marL="457200" indent="-457200">
              <a:buAutoNum type="arabicPeriod"/>
            </a:pPr>
            <a:r>
              <a:rPr lang="en-US" sz="2800" dirty="0"/>
              <a:t>Report how many tanks are needed.</a:t>
            </a:r>
          </a:p>
          <a:p>
            <a:pPr marL="0" indent="0">
              <a:buNone/>
            </a:pPr>
            <a:r>
              <a:rPr lang="en-US" sz="2800" b="1" dirty="0"/>
              <a:t>Discuss</a:t>
            </a:r>
          </a:p>
          <a:p>
            <a:pPr marL="514350" indent="-514350">
              <a:buAutoNum type="arabicPeriod"/>
            </a:pPr>
            <a:r>
              <a:rPr lang="en-US" sz="2800" dirty="0"/>
              <a:t>Which feels more intuitive—DFS, or BFS?</a:t>
            </a:r>
          </a:p>
          <a:p>
            <a:pPr marL="514350" indent="-514350">
              <a:buAutoNum type="arabicPeriod"/>
            </a:pPr>
            <a:r>
              <a:rPr lang="en-US" sz="2800" dirty="0"/>
              <a:t>Did your algorithm produce the correct answer?</a:t>
            </a:r>
          </a:p>
        </p:txBody>
      </p:sp>
    </p:spTree>
    <p:extLst>
      <p:ext uri="{BB962C8B-B14F-4D97-AF65-F5344CB8AC3E}">
        <p14:creationId xmlns:p14="http://schemas.microsoft.com/office/powerpoint/2010/main" val="1485567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43A00-1F1E-AEEB-84D8-FBEC79F2D4DB}"/>
              </a:ext>
            </a:extLst>
          </p:cNvPr>
          <p:cNvSpPr>
            <a:spLocks noGrp="1"/>
          </p:cNvSpPr>
          <p:nvPr>
            <p:ph type="title"/>
          </p:nvPr>
        </p:nvSpPr>
        <p:spPr/>
        <p:txBody>
          <a:bodyPr/>
          <a:lstStyle/>
          <a:p>
            <a:r>
              <a:rPr lang="en-US" dirty="0"/>
              <a:t>Uses of Coloring</a:t>
            </a:r>
          </a:p>
        </p:txBody>
      </p:sp>
      <p:sp>
        <p:nvSpPr>
          <p:cNvPr id="3" name="Content Placeholder 2">
            <a:extLst>
              <a:ext uri="{FF2B5EF4-FFF2-40B4-BE49-F238E27FC236}">
                <a16:creationId xmlns:a16="http://schemas.microsoft.com/office/drawing/2014/main" id="{E96E9FD3-8F5E-8A3B-E36F-8E2ECC8CA6B5}"/>
              </a:ext>
            </a:extLst>
          </p:cNvPr>
          <p:cNvSpPr>
            <a:spLocks noGrp="1"/>
          </p:cNvSpPr>
          <p:nvPr>
            <p:ph idx="1"/>
          </p:nvPr>
        </p:nvSpPr>
        <p:spPr/>
        <p:txBody>
          <a:bodyPr/>
          <a:lstStyle/>
          <a:p>
            <a:r>
              <a:rPr lang="en-US" dirty="0"/>
              <a:t>If only 2 colors are needed, the graph is </a:t>
            </a:r>
            <a:r>
              <a:rPr lang="en-US" b="1" dirty="0"/>
              <a:t>bipartite</a:t>
            </a:r>
            <a:endParaRPr lang="en-US" dirty="0"/>
          </a:p>
          <a:p>
            <a:r>
              <a:rPr lang="en-US" dirty="0"/>
              <a:t>Can be separated into 2 (bi) parts (partite)</a:t>
            </a:r>
          </a:p>
          <a:p>
            <a:endParaRPr lang="en-US" dirty="0"/>
          </a:p>
        </p:txBody>
      </p:sp>
      <p:pic>
        <p:nvPicPr>
          <p:cNvPr id="5" name="Picture 4">
            <a:extLst>
              <a:ext uri="{FF2B5EF4-FFF2-40B4-BE49-F238E27FC236}">
                <a16:creationId xmlns:a16="http://schemas.microsoft.com/office/drawing/2014/main" id="{DE57A15F-EAE0-32AE-CB85-13510BDD0CC2}"/>
              </a:ext>
            </a:extLst>
          </p:cNvPr>
          <p:cNvPicPr>
            <a:picLocks noChangeAspect="1"/>
          </p:cNvPicPr>
          <p:nvPr/>
        </p:nvPicPr>
        <p:blipFill>
          <a:blip r:embed="rId2"/>
          <a:stretch>
            <a:fillRect/>
          </a:stretch>
        </p:blipFill>
        <p:spPr>
          <a:xfrm>
            <a:off x="1948543" y="2848078"/>
            <a:ext cx="7772400" cy="3832473"/>
          </a:xfrm>
          <a:prstGeom prst="rect">
            <a:avLst/>
          </a:prstGeom>
        </p:spPr>
      </p:pic>
    </p:spTree>
    <p:extLst>
      <p:ext uri="{BB962C8B-B14F-4D97-AF65-F5344CB8AC3E}">
        <p14:creationId xmlns:p14="http://schemas.microsoft.com/office/powerpoint/2010/main" val="3554870100"/>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1116</TotalTime>
  <Words>340</Words>
  <Application>Microsoft Macintosh PowerPoint</Application>
  <PresentationFormat>Widescreen</PresentationFormat>
  <Paragraphs>49</Paragraphs>
  <Slides>6</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Neue Haas Grotesk Text Pro</vt:lpstr>
      <vt:lpstr>VanillaVTI</vt:lpstr>
      <vt:lpstr>Coloring</vt:lpstr>
      <vt:lpstr>Why color?</vt:lpstr>
      <vt:lpstr>How to color?</vt:lpstr>
      <vt:lpstr>Warm-up: Coloring</vt:lpstr>
      <vt:lpstr>Tasks</vt:lpstr>
      <vt:lpstr>Uses of Coloring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R Roscoe</dc:creator>
  <cp:lastModifiedBy>Sarah R Roscoe</cp:lastModifiedBy>
  <cp:revision>3</cp:revision>
  <dcterms:created xsi:type="dcterms:W3CDTF">2026-03-11T23:25:22Z</dcterms:created>
  <dcterms:modified xsi:type="dcterms:W3CDTF">2026-03-12T18:02:21Z</dcterms:modified>
</cp:coreProperties>
</file>