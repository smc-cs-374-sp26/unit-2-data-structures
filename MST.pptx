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70" r:id="rId11"/>
    <p:sldId id="269" r:id="rId12"/>
    <p:sldId id="264" r:id="rId13"/>
    <p:sldId id="266" r:id="rId14"/>
    <p:sldId id="267" r:id="rId15"/>
    <p:sldId id="271" r:id="rId16"/>
    <p:sldId id="272" r:id="rId17"/>
    <p:sldId id="27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72"/>
    <p:restoredTop sz="94699"/>
  </p:normalViewPr>
  <p:slideViewPr>
    <p:cSldViewPr snapToGrid="0">
      <p:cViewPr varScale="1">
        <p:scale>
          <a:sx n="93" d="100"/>
          <a:sy n="93" d="100"/>
        </p:scale>
        <p:origin x="224" y="4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640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5322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8227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0386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3/11/26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655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51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3/11/26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8752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3356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61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185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450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833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72" r:id="rId6"/>
    <p:sldLayoutId id="2147483667" r:id="rId7"/>
    <p:sldLayoutId id="2147483668" r:id="rId8"/>
    <p:sldLayoutId id="2147483669" r:id="rId9"/>
    <p:sldLayoutId id="2147483671" r:id="rId10"/>
    <p:sldLayoutId id="2147483670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BEC44CD-E290-4D60-A056-5BA05B182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Black and white image of the trunk of standing trees">
            <a:extLst>
              <a:ext uri="{FF2B5EF4-FFF2-40B4-BE49-F238E27FC236}">
                <a16:creationId xmlns:a16="http://schemas.microsoft.com/office/drawing/2014/main" id="{92F18C81-7655-A476-FBF2-3259B5E2041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1584" b="9131"/>
          <a:stretch>
            <a:fillRect/>
          </a:stretch>
        </p:blipFill>
        <p:spPr>
          <a:xfrm>
            <a:off x="-2" y="-4"/>
            <a:ext cx="12192001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4B09589-02D1-9F6C-E1AA-8A51B74776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8"/>
            <a:ext cx="5021182" cy="2450592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600" dirty="0">
                <a:solidFill>
                  <a:srgbClr val="FFFFFF"/>
                </a:solidFill>
              </a:rPr>
              <a:t>Minimum Spanning Trees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1EB50B-6524-07B6-9CCF-844C20EDA7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52366" y="4017818"/>
            <a:ext cx="5040785" cy="1828799"/>
          </a:xfrm>
        </p:spPr>
        <p:txBody>
          <a:bodyPr anchor="b">
            <a:normAutofit/>
          </a:bodyPr>
          <a:lstStyle/>
          <a:p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1189494-2B67-46D2-93D6-A122A09BF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168" y="6209925"/>
            <a:ext cx="5021183" cy="45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6092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54BA7-5E4B-1FD3-5B2E-B1B791D80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Review: What's a tree?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47D9C9-3ECD-300D-FBD0-90A7CB8994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acyclic graph.</a:t>
            </a:r>
          </a:p>
        </p:txBody>
      </p:sp>
    </p:spTree>
    <p:extLst>
      <p:ext uri="{BB962C8B-B14F-4D97-AF65-F5344CB8AC3E}">
        <p14:creationId xmlns:p14="http://schemas.microsoft.com/office/powerpoint/2010/main" val="19070761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81B85-D09A-0B62-8FF5-BA1759C5C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Review: What's a spanning tree?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DE555B-29F9-899A-1A06-0BDF8026FA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tree which includes every vertex in the graph.</a:t>
            </a:r>
          </a:p>
        </p:txBody>
      </p:sp>
    </p:spTree>
    <p:extLst>
      <p:ext uri="{BB962C8B-B14F-4D97-AF65-F5344CB8AC3E}">
        <p14:creationId xmlns:p14="http://schemas.microsoft.com/office/powerpoint/2010/main" val="18723679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49F5C-1D41-0B8A-A470-781EBB4D0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Review: What's a weighted graph?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A7A705-2D92-B6D1-6955-31F8D5E24F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Graph with numbers on the edges</a:t>
            </a:r>
          </a:p>
          <a:p>
            <a:endParaRPr lang="en-US" dirty="0"/>
          </a:p>
        </p:txBody>
      </p:sp>
      <p:pic>
        <p:nvPicPr>
          <p:cNvPr id="1026" name="Picture 2" descr="Weighted graph · Hyperskill">
            <a:extLst>
              <a:ext uri="{FF2B5EF4-FFF2-40B4-BE49-F238E27FC236}">
                <a16:creationId xmlns:a16="http://schemas.microsoft.com/office/drawing/2014/main" id="{D5BFB396-0FF1-340A-155F-C73D04FD42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8569" y="1709928"/>
            <a:ext cx="5093431" cy="3588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66738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F3FA3-61C8-4977-6E73-528F9E9B6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CD28DA-6C02-59CA-1EF4-3B79D686BA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 descr=" ">
            <a:extLst>
              <a:ext uri="{FF2B5EF4-FFF2-40B4-BE49-F238E27FC236}">
                <a16:creationId xmlns:a16="http://schemas.microsoft.com/office/drawing/2014/main" id="{5F07D3FA-511F-7AC7-E1E2-C1EDD85E84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568" y="567760"/>
            <a:ext cx="11724864" cy="5722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82459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9E649-3606-B0CF-91BD-355D20A6F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What's a minimum spanning tree?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005355-4A99-458F-030A-23E539D510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spanning tree with minimum weight</a:t>
            </a:r>
          </a:p>
          <a:p>
            <a:r>
              <a:rPr lang="en-US" dirty="0"/>
              <a:t>We could not find a smaller-weight spanning tree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E33829-29A3-013A-DB3D-4300531621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1759" y="2578608"/>
            <a:ext cx="4670241" cy="3767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8257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87C68-07D7-F29E-D20E-C44345955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get MST?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862830-A38B-0301-E82C-7E05941B64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Two main algorithms (though there are more)</a:t>
            </a:r>
          </a:p>
          <a:p>
            <a:pPr lvl="1"/>
            <a:r>
              <a:rPr lang="en-US" dirty="0"/>
              <a:t>Prim's</a:t>
            </a:r>
          </a:p>
          <a:p>
            <a:pPr lvl="1"/>
            <a:r>
              <a:rPr lang="en-US" dirty="0"/>
              <a:t>Kruskal's</a:t>
            </a:r>
          </a:p>
        </p:txBody>
      </p:sp>
      <p:pic>
        <p:nvPicPr>
          <p:cNvPr id="4098" name="Picture 2" descr="Dr. Robert Clay Prim | IT History Society">
            <a:extLst>
              <a:ext uri="{FF2B5EF4-FFF2-40B4-BE49-F238E27FC236}">
                <a16:creationId xmlns:a16="http://schemas.microsoft.com/office/drawing/2014/main" id="{0A95C90E-4B36-A090-B702-493DA89D56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5465" y="726948"/>
            <a:ext cx="2183521" cy="27678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E8B136C-CD1A-5975-F8FD-5E2050B85877}"/>
              </a:ext>
            </a:extLst>
          </p:cNvPr>
          <p:cNvSpPr txBox="1"/>
          <p:nvPr/>
        </p:nvSpPr>
        <p:spPr>
          <a:xfrm>
            <a:off x="9952610" y="3576195"/>
            <a:ext cx="18692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Robert Clay Prim</a:t>
            </a:r>
          </a:p>
        </p:txBody>
      </p:sp>
      <p:pic>
        <p:nvPicPr>
          <p:cNvPr id="4100" name="Picture 4" descr="Joseph Kruskal (1928 - 2010) - Biography - MacTutor History of Mathematics">
            <a:extLst>
              <a:ext uri="{FF2B5EF4-FFF2-40B4-BE49-F238E27FC236}">
                <a16:creationId xmlns:a16="http://schemas.microsoft.com/office/drawing/2014/main" id="{09ECAA1A-EE78-DEAF-FA4C-3A8D17AD9B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73737" y="4193186"/>
            <a:ext cx="1854200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FC097DE-616A-DB3D-C0E7-15C6FD920E87}"/>
              </a:ext>
            </a:extLst>
          </p:cNvPr>
          <p:cNvSpPr txBox="1"/>
          <p:nvPr/>
        </p:nvSpPr>
        <p:spPr>
          <a:xfrm>
            <a:off x="10065865" y="6475736"/>
            <a:ext cx="16699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Joseph Kruskal</a:t>
            </a:r>
          </a:p>
        </p:txBody>
      </p:sp>
    </p:spTree>
    <p:extLst>
      <p:ext uri="{BB962C8B-B14F-4D97-AF65-F5344CB8AC3E}">
        <p14:creationId xmlns:p14="http://schemas.microsoft.com/office/powerpoint/2010/main" val="39223624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9BFF4-D212-3760-8914-F8F9F6815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Ideas – Prim's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FFA6FF-C628-D748-FBB9-59A137F9D9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Choose any vertex.</a:t>
            </a:r>
          </a:p>
          <a:p>
            <a:r>
              <a:rPr lang="en-US" dirty="0"/>
              <a:t>Add next vertex, choose smallest weighted edge among options available, as long as choosing next vertex won't introduce a cycle</a:t>
            </a:r>
          </a:p>
          <a:p>
            <a:pPr lvl="1"/>
            <a:endParaRPr lang="en-US" dirty="0"/>
          </a:p>
        </p:txBody>
      </p:sp>
      <p:pic>
        <p:nvPicPr>
          <p:cNvPr id="4" name="Picture 3" descr="A table with math equations&#10;&#10;AI-generated content may be incorrect.">
            <a:extLst>
              <a:ext uri="{FF2B5EF4-FFF2-40B4-BE49-F238E27FC236}">
                <a16:creationId xmlns:a16="http://schemas.microsoft.com/office/drawing/2014/main" id="{7AF5EC44-1936-B607-5D64-062F9BAA94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6675" y="0"/>
            <a:ext cx="5815325" cy="3102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6703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computer code with black text&#10;&#10;AI-generated content may be incorrect.">
            <a:extLst>
              <a:ext uri="{FF2B5EF4-FFF2-40B4-BE49-F238E27FC236}">
                <a16:creationId xmlns:a16="http://schemas.microsoft.com/office/drawing/2014/main" id="{4EDDCC15-9E36-17E9-023D-B5A66D5C021D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8613775" cy="6858000"/>
          </a:xfrm>
          <a:prstGeom prst="rect">
            <a:avLst/>
          </a:prstGeom>
        </p:spPr>
      </p:pic>
      <p:pic>
        <p:nvPicPr>
          <p:cNvPr id="5122" name="Picture 2">
            <a:extLst>
              <a:ext uri="{FF2B5EF4-FFF2-40B4-BE49-F238E27FC236}">
                <a16:creationId xmlns:a16="http://schemas.microsoft.com/office/drawing/2014/main" id="{A0E8DB1A-7489-7F7C-78F9-888D16B516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56619" y="0"/>
            <a:ext cx="1704109" cy="6688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313244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D1869-5B09-5BF0-6373-16A0AAD67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 an example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C2A9D3-739E-BDAB-5364-5A7F2BBB2D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959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C8619-C62C-8B7A-E397-D028296E4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 try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FF701B-B51B-4290-1CEB-46AC60218E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With your neighbors:</a:t>
            </a:r>
          </a:p>
          <a:p>
            <a:r>
              <a:rPr lang="en-US" dirty="0"/>
              <a:t>Choose 2-3 graphs from the sheet you've been given</a:t>
            </a:r>
          </a:p>
          <a:p>
            <a:r>
              <a:rPr lang="en-US" dirty="0"/>
              <a:t>Draw on the board</a:t>
            </a:r>
          </a:p>
          <a:p>
            <a:r>
              <a:rPr lang="en-US" dirty="0"/>
              <a:t>Run Prim's algorithm on the graphs</a:t>
            </a:r>
          </a:p>
        </p:txBody>
      </p:sp>
    </p:spTree>
    <p:extLst>
      <p:ext uri="{BB962C8B-B14F-4D97-AF65-F5344CB8AC3E}">
        <p14:creationId xmlns:p14="http://schemas.microsoft.com/office/powerpoint/2010/main" val="41725290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27F39-DF0B-09AC-62AB-9E2285F09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Ideas - Kruskal's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340679-98BF-6BB6-E63B-85331E6499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Sort edges by weight</a:t>
            </a:r>
          </a:p>
          <a:p>
            <a:r>
              <a:rPr lang="en-US" dirty="0"/>
              <a:t>Instead of choosing vertices, choose smallest weighted </a:t>
            </a:r>
            <a:r>
              <a:rPr lang="en-US" i="1" dirty="0"/>
              <a:t>edge</a:t>
            </a:r>
            <a:r>
              <a:rPr lang="en-US" dirty="0"/>
              <a:t> in the entire graph. [Choose cheapest edge and ask: are these two vertices already in the subgraph?]</a:t>
            </a:r>
          </a:p>
          <a:p>
            <a:pPr lvl="1"/>
            <a:r>
              <a:rPr lang="en-US" dirty="0"/>
              <a:t>Include if not, as long as the edge won't introduce a cycle</a:t>
            </a:r>
          </a:p>
          <a:p>
            <a:r>
              <a:rPr lang="en-US" dirty="0"/>
              <a:t>Build entire tree using Union-Find data structure</a:t>
            </a:r>
          </a:p>
          <a:p>
            <a:r>
              <a:rPr lang="en-US" dirty="0"/>
              <a:t>Complexity: O(|E| log |E|)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84907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190C3-235F-60FF-8ADD-D59FF9CF5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close-up of a computer code&#10;&#10;AI-generated content may be incorrect.">
            <a:extLst>
              <a:ext uri="{FF2B5EF4-FFF2-40B4-BE49-F238E27FC236}">
                <a16:creationId xmlns:a16="http://schemas.microsoft.com/office/drawing/2014/main" id="{86E0511A-26E4-EF13-E47F-F229AC2E49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58296" cy="3851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376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diagram of a triangle with lines and dots&#10;&#10;AI-generated content may be incorrect.">
            <a:extLst>
              <a:ext uri="{FF2B5EF4-FFF2-40B4-BE49-F238E27FC236}">
                <a16:creationId xmlns:a16="http://schemas.microsoft.com/office/drawing/2014/main" id="{C71D0875-97D1-3EB3-86C5-A5C3D28102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431" y="357332"/>
            <a:ext cx="3263900" cy="2679700"/>
          </a:xfrm>
          <a:prstGeom prst="rect">
            <a:avLst/>
          </a:prstGeom>
        </p:spPr>
      </p:pic>
      <p:pic>
        <p:nvPicPr>
          <p:cNvPr id="6" name="Picture 5" descr="A diagram of a triangle with black lines and dots&#10;&#10;AI-generated content may be incorrect.">
            <a:extLst>
              <a:ext uri="{FF2B5EF4-FFF2-40B4-BE49-F238E27FC236}">
                <a16:creationId xmlns:a16="http://schemas.microsoft.com/office/drawing/2014/main" id="{5DC70493-499D-B5A8-0570-CA3D5AEF37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6482" y="420832"/>
            <a:ext cx="3124200" cy="2552700"/>
          </a:xfrm>
          <a:prstGeom prst="rect">
            <a:avLst/>
          </a:prstGeom>
        </p:spPr>
      </p:pic>
      <p:pic>
        <p:nvPicPr>
          <p:cNvPr id="8" name="Picture 7" descr="A diagram of a triangle with black lines and dots&#10;&#10;AI-generated content may be incorrect.">
            <a:extLst>
              <a:ext uri="{FF2B5EF4-FFF2-40B4-BE49-F238E27FC236}">
                <a16:creationId xmlns:a16="http://schemas.microsoft.com/office/drawing/2014/main" id="{60479B1E-025B-0F7E-11B7-CD5B1CF1F1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3621" y="509732"/>
            <a:ext cx="3086100" cy="2463800"/>
          </a:xfrm>
          <a:prstGeom prst="rect">
            <a:avLst/>
          </a:prstGeom>
        </p:spPr>
      </p:pic>
      <p:pic>
        <p:nvPicPr>
          <p:cNvPr id="10" name="Picture 9" descr="A diagram of a triangle with lines and dots&#10;&#10;AI-generated content may be incorrect.">
            <a:extLst>
              <a:ext uri="{FF2B5EF4-FFF2-40B4-BE49-F238E27FC236}">
                <a16:creationId xmlns:a16="http://schemas.microsoft.com/office/drawing/2014/main" id="{4C8F20EC-4F30-63C1-F7AC-85AA842A63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1131" y="3573318"/>
            <a:ext cx="3124200" cy="2565400"/>
          </a:xfrm>
          <a:prstGeom prst="rect">
            <a:avLst/>
          </a:prstGeom>
        </p:spPr>
      </p:pic>
      <p:pic>
        <p:nvPicPr>
          <p:cNvPr id="12" name="Picture 11" descr="A diagram of a triangle with lines and dots&#10;&#10;AI-generated content may be incorrect.">
            <a:extLst>
              <a:ext uri="{FF2B5EF4-FFF2-40B4-BE49-F238E27FC236}">
                <a16:creationId xmlns:a16="http://schemas.microsoft.com/office/drawing/2014/main" id="{6A6A87F2-4088-45EA-7EF5-F4DD441C924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25455" y="3573318"/>
            <a:ext cx="3149600" cy="2501900"/>
          </a:xfrm>
          <a:prstGeom prst="rect">
            <a:avLst/>
          </a:prstGeom>
        </p:spPr>
      </p:pic>
      <p:pic>
        <p:nvPicPr>
          <p:cNvPr id="14" name="Picture 13" descr="A diagram of a triangle with lines and dots&#10;&#10;AI-generated content may be incorrect.">
            <a:extLst>
              <a:ext uri="{FF2B5EF4-FFF2-40B4-BE49-F238E27FC236}">
                <a16:creationId xmlns:a16="http://schemas.microsoft.com/office/drawing/2014/main" id="{29393B7E-3721-3BF6-E63A-A716263779C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95179" y="3605068"/>
            <a:ext cx="3175000" cy="25019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563EEC1-B605-3B8E-3E6C-9ED1FB7D8D37}"/>
              </a:ext>
            </a:extLst>
          </p:cNvPr>
          <p:cNvSpPr txBox="1"/>
          <p:nvPr/>
        </p:nvSpPr>
        <p:spPr>
          <a:xfrm>
            <a:off x="1619332" y="305966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0189230-ED94-F8E1-5154-7BEDF244ED38}"/>
              </a:ext>
            </a:extLst>
          </p:cNvPr>
          <p:cNvSpPr txBox="1"/>
          <p:nvPr/>
        </p:nvSpPr>
        <p:spPr>
          <a:xfrm>
            <a:off x="5278582" y="3037032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DC392DD-575A-D5CD-22FC-1255C2C69583}"/>
              </a:ext>
            </a:extLst>
          </p:cNvPr>
          <p:cNvSpPr txBox="1"/>
          <p:nvPr/>
        </p:nvSpPr>
        <p:spPr>
          <a:xfrm>
            <a:off x="8786671" y="2993282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898C959-7064-F2B2-9DF9-8125DDDDFD63}"/>
              </a:ext>
            </a:extLst>
          </p:cNvPr>
          <p:cNvSpPr txBox="1"/>
          <p:nvPr/>
        </p:nvSpPr>
        <p:spPr>
          <a:xfrm>
            <a:off x="1685976" y="6283036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F20D5AB-3E15-55C2-39CA-26723F1E53DF}"/>
              </a:ext>
            </a:extLst>
          </p:cNvPr>
          <p:cNvSpPr txBox="1"/>
          <p:nvPr/>
        </p:nvSpPr>
        <p:spPr>
          <a:xfrm>
            <a:off x="5500255" y="613871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4D96AF4-1605-46DB-F870-CE1527068160}"/>
              </a:ext>
            </a:extLst>
          </p:cNvPr>
          <p:cNvSpPr txBox="1"/>
          <p:nvPr/>
        </p:nvSpPr>
        <p:spPr>
          <a:xfrm>
            <a:off x="9179720" y="6075218"/>
            <a:ext cx="253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</a:t>
            </a:r>
          </a:p>
        </p:txBody>
      </p:sp>
    </p:spTree>
    <p:extLst>
      <p:ext uri="{BB962C8B-B14F-4D97-AF65-F5344CB8AC3E}">
        <p14:creationId xmlns:p14="http://schemas.microsoft.com/office/powerpoint/2010/main" val="3744773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D1869-5B09-5BF0-6373-16A0AAD67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 an example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C2A9D3-739E-BDAB-5364-5A7F2BBB2D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6503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C8619-C62C-8B7A-E397-D028296E4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 try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FF701B-B51B-4290-1CEB-46AC60218E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With your neighbors:</a:t>
            </a:r>
          </a:p>
          <a:p>
            <a:r>
              <a:rPr lang="en-US" dirty="0"/>
              <a:t>Choose 2-3 graphs from the sheet you've been given</a:t>
            </a:r>
          </a:p>
          <a:p>
            <a:r>
              <a:rPr lang="en-US" dirty="0"/>
              <a:t>Draw on the board</a:t>
            </a:r>
          </a:p>
          <a:p>
            <a:r>
              <a:rPr lang="en-US" dirty="0"/>
              <a:t>Run Kruskal's algorithm on the graphs</a:t>
            </a:r>
          </a:p>
        </p:txBody>
      </p:sp>
    </p:spTree>
    <p:extLst>
      <p:ext uri="{BB962C8B-B14F-4D97-AF65-F5344CB8AC3E}">
        <p14:creationId xmlns:p14="http://schemas.microsoft.com/office/powerpoint/2010/main" val="17640362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BD18E-03C1-AFA8-A150-0E664DE5C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Cool-down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D266ED-0156-D863-4FED-7F4DF08C1A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" y="1709928"/>
            <a:ext cx="11155680" cy="3767328"/>
          </a:xfrm>
        </p:spPr>
        <p:txBody>
          <a:bodyPr/>
          <a:lstStyle/>
          <a:p>
            <a:r>
              <a:rPr lang="en-US" dirty="0"/>
              <a:t>I am constructing a unified water pipeline and need to connect every major city to my system. The weights of my graph represent distance. How can I set up my pipeline using the fewest miles of material possible?</a:t>
            </a:r>
          </a:p>
        </p:txBody>
      </p:sp>
      <p:pic>
        <p:nvPicPr>
          <p:cNvPr id="4" name="Picture 2" descr=" ">
            <a:extLst>
              <a:ext uri="{FF2B5EF4-FFF2-40B4-BE49-F238E27FC236}">
                <a16:creationId xmlns:a16="http://schemas.microsoft.com/office/drawing/2014/main" id="{CF829F26-5E12-BF37-B7E2-DA0B1BAD25A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70" t="13125" r="11114"/>
          <a:stretch>
            <a:fillRect/>
          </a:stretch>
        </p:blipFill>
        <p:spPr bwMode="auto">
          <a:xfrm>
            <a:off x="4017817" y="3160616"/>
            <a:ext cx="6733311" cy="3697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338345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1099</TotalTime>
  <Words>286</Words>
  <Application>Microsoft Macintosh PowerPoint</Application>
  <PresentationFormat>Widescreen</PresentationFormat>
  <Paragraphs>45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Bierstadt</vt:lpstr>
      <vt:lpstr>GestaltVTI</vt:lpstr>
      <vt:lpstr>Minimum Spanning Trees</vt:lpstr>
      <vt:lpstr>Review: What's a tree?</vt:lpstr>
      <vt:lpstr>Review: What's a spanning tree?</vt:lpstr>
      <vt:lpstr>Review: What's a weighted graph?</vt:lpstr>
      <vt:lpstr>PowerPoint Presentation</vt:lpstr>
      <vt:lpstr>What's a minimum spanning tree?</vt:lpstr>
      <vt:lpstr>How to get MST?</vt:lpstr>
      <vt:lpstr>Main Ideas – Prim's</vt:lpstr>
      <vt:lpstr>PowerPoint Presentation</vt:lpstr>
      <vt:lpstr>Do an example</vt:lpstr>
      <vt:lpstr>You try</vt:lpstr>
      <vt:lpstr>Main Ideas - Kruskal's </vt:lpstr>
      <vt:lpstr>PowerPoint Presentation</vt:lpstr>
      <vt:lpstr>PowerPoint Presentation</vt:lpstr>
      <vt:lpstr>Do an example</vt:lpstr>
      <vt:lpstr>You try</vt:lpstr>
      <vt:lpstr>Cool-down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Sarah R Roscoe</dc:creator>
  <cp:lastModifiedBy>Sarah R Roscoe</cp:lastModifiedBy>
  <cp:revision>3</cp:revision>
  <dcterms:created xsi:type="dcterms:W3CDTF">2026-03-11T23:40:59Z</dcterms:created>
  <dcterms:modified xsi:type="dcterms:W3CDTF">2026-03-12T18:00:39Z</dcterms:modified>
</cp:coreProperties>
</file>