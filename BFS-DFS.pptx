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4"/>
  </p:notesMasterIdLst>
  <p:sldIdLst>
    <p:sldId id="256" r:id="rId2"/>
    <p:sldId id="261" r:id="rId3"/>
    <p:sldId id="257" r:id="rId4"/>
    <p:sldId id="258" r:id="rId5"/>
    <p:sldId id="260" r:id="rId6"/>
    <p:sldId id="259" r:id="rId7"/>
    <p:sldId id="263" r:id="rId8"/>
    <p:sldId id="262" r:id="rId9"/>
    <p:sldId id="264" r:id="rId10"/>
    <p:sldId id="265" r:id="rId11"/>
    <p:sldId id="266" r:id="rId12"/>
    <p:sldId id="269" r:id="rId13"/>
    <p:sldId id="270" r:id="rId14"/>
    <p:sldId id="271" r:id="rId15"/>
    <p:sldId id="267" r:id="rId16"/>
    <p:sldId id="268" r:id="rId17"/>
    <p:sldId id="272" r:id="rId18"/>
    <p:sldId id="273" r:id="rId19"/>
    <p:sldId id="275" r:id="rId20"/>
    <p:sldId id="274" r:id="rId21"/>
    <p:sldId id="276" r:id="rId22"/>
    <p:sldId id="277" r:id="rId23"/>
    <p:sldId id="278" r:id="rId24"/>
    <p:sldId id="304" r:id="rId25"/>
    <p:sldId id="279" r:id="rId26"/>
    <p:sldId id="280" r:id="rId27"/>
    <p:sldId id="281" r:id="rId28"/>
    <p:sldId id="282" r:id="rId29"/>
    <p:sldId id="283" r:id="rId30"/>
    <p:sldId id="284" r:id="rId31"/>
    <p:sldId id="300" r:id="rId32"/>
    <p:sldId id="296" r:id="rId33"/>
    <p:sldId id="285" r:id="rId34"/>
    <p:sldId id="286" r:id="rId35"/>
    <p:sldId id="287" r:id="rId36"/>
    <p:sldId id="288" r:id="rId37"/>
    <p:sldId id="289" r:id="rId38"/>
    <p:sldId id="290" r:id="rId39"/>
    <p:sldId id="298" r:id="rId40"/>
    <p:sldId id="291" r:id="rId41"/>
    <p:sldId id="292" r:id="rId42"/>
    <p:sldId id="293" r:id="rId43"/>
    <p:sldId id="294" r:id="rId44"/>
    <p:sldId id="295" r:id="rId45"/>
    <p:sldId id="301" r:id="rId46"/>
    <p:sldId id="302" r:id="rId47"/>
    <p:sldId id="297" r:id="rId48"/>
    <p:sldId id="306" r:id="rId49"/>
    <p:sldId id="307" r:id="rId50"/>
    <p:sldId id="308" r:id="rId51"/>
    <p:sldId id="305" r:id="rId52"/>
    <p:sldId id="30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55"/>
    <p:restoredTop sz="94654"/>
  </p:normalViewPr>
  <p:slideViewPr>
    <p:cSldViewPr snapToGrid="0">
      <p:cViewPr>
        <p:scale>
          <a:sx n="73" d="100"/>
          <a:sy n="73" d="100"/>
        </p:scale>
        <p:origin x="1984" y="8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FCE6C-E549-DB4A-9E3F-DC12E27368AF}" type="datetimeFigureOut">
              <a:rPr lang="en-US" smtClean="0"/>
              <a:t>3/10/26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717121-22D3-184D-BEA1-DDB544BD2D30}" type="slidenum">
              <a:rPr lang="en-US" smtClean="0"/>
              <a:t>‹#›</a:t>
            </a:fld>
            <a:endParaRPr lang="en-US"/>
          </a:p>
        </p:txBody>
      </p:sp>
    </p:spTree>
    <p:extLst>
      <p:ext uri="{BB962C8B-B14F-4D97-AF65-F5344CB8AC3E}">
        <p14:creationId xmlns:p14="http://schemas.microsoft.com/office/powerpoint/2010/main" val="29707027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17121-22D3-184D-BEA1-DDB544BD2D30}" type="slidenum">
              <a:rPr lang="en-US" smtClean="0"/>
              <a:t>5</a:t>
            </a:fld>
            <a:endParaRPr lang="en-US"/>
          </a:p>
        </p:txBody>
      </p:sp>
    </p:spTree>
    <p:extLst>
      <p:ext uri="{BB962C8B-B14F-4D97-AF65-F5344CB8AC3E}">
        <p14:creationId xmlns:p14="http://schemas.microsoft.com/office/powerpoint/2010/main" val="2694872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39C8-B9D4-735E-FB63-E329EF85F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4FE48F-356F-5095-5596-9CB315BE0C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A41B67-8FF5-5B0B-A8BC-1C90696460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5D1780-3C34-3A68-AF02-EE7AC7F42455}"/>
              </a:ext>
            </a:extLst>
          </p:cNvPr>
          <p:cNvSpPr>
            <a:spLocks noGrp="1"/>
          </p:cNvSpPr>
          <p:nvPr>
            <p:ph type="sldNum" sz="quarter" idx="5"/>
          </p:nvPr>
        </p:nvSpPr>
        <p:spPr/>
        <p:txBody>
          <a:bodyPr/>
          <a:lstStyle/>
          <a:p>
            <a:fld id="{81717121-22D3-184D-BEA1-DDB544BD2D30}" type="slidenum">
              <a:rPr lang="en-US" smtClean="0"/>
              <a:t>8</a:t>
            </a:fld>
            <a:endParaRPr lang="en-US"/>
          </a:p>
        </p:txBody>
      </p:sp>
    </p:spTree>
    <p:extLst>
      <p:ext uri="{BB962C8B-B14F-4D97-AF65-F5344CB8AC3E}">
        <p14:creationId xmlns:p14="http://schemas.microsoft.com/office/powerpoint/2010/main" val="2418167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17121-22D3-184D-BEA1-DDB544BD2D30}" type="slidenum">
              <a:rPr lang="en-US" smtClean="0"/>
              <a:t>31</a:t>
            </a:fld>
            <a:endParaRPr lang="en-US"/>
          </a:p>
        </p:txBody>
      </p:sp>
    </p:spTree>
    <p:extLst>
      <p:ext uri="{BB962C8B-B14F-4D97-AF65-F5344CB8AC3E}">
        <p14:creationId xmlns:p14="http://schemas.microsoft.com/office/powerpoint/2010/main" val="26597548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17121-22D3-184D-BEA1-DDB544BD2D30}" type="slidenum">
              <a:rPr lang="en-US" smtClean="0"/>
              <a:t>37</a:t>
            </a:fld>
            <a:endParaRPr lang="en-US"/>
          </a:p>
        </p:txBody>
      </p:sp>
    </p:spTree>
    <p:extLst>
      <p:ext uri="{BB962C8B-B14F-4D97-AF65-F5344CB8AC3E}">
        <p14:creationId xmlns:p14="http://schemas.microsoft.com/office/powerpoint/2010/main" val="29661665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17121-22D3-184D-BEA1-DDB544BD2D30}" type="slidenum">
              <a:rPr lang="en-US" smtClean="0"/>
              <a:t>38</a:t>
            </a:fld>
            <a:endParaRPr lang="en-US"/>
          </a:p>
        </p:txBody>
      </p:sp>
    </p:spTree>
    <p:extLst>
      <p:ext uri="{BB962C8B-B14F-4D97-AF65-F5344CB8AC3E}">
        <p14:creationId xmlns:p14="http://schemas.microsoft.com/office/powerpoint/2010/main" val="16802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17121-22D3-184D-BEA1-DDB544BD2D30}" type="slidenum">
              <a:rPr lang="en-US" smtClean="0"/>
              <a:t>39</a:t>
            </a:fld>
            <a:endParaRPr lang="en-US"/>
          </a:p>
        </p:txBody>
      </p:sp>
    </p:spTree>
    <p:extLst>
      <p:ext uri="{BB962C8B-B14F-4D97-AF65-F5344CB8AC3E}">
        <p14:creationId xmlns:p14="http://schemas.microsoft.com/office/powerpoint/2010/main" val="2146293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FB9BB-03A5-73A6-F30B-02F605DD6AC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CFE90D-6781-B498-5DF1-93338547AB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BDA3EEF-4572-8F26-77E7-174E90175FCD}"/>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5" name="Footer Placeholder 4">
            <a:extLst>
              <a:ext uri="{FF2B5EF4-FFF2-40B4-BE49-F238E27FC236}">
                <a16:creationId xmlns:a16="http://schemas.microsoft.com/office/drawing/2014/main" id="{2FFA8844-6D04-0B83-9ABB-9E2C55F4BF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359F7-1D93-8ACC-210F-2DF6A925E31E}"/>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4026363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FD9701-90EF-C234-7B8D-3B3308CD1D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1B42DF-C1C5-00C5-40E2-DF87B04206C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32EDFF-DF75-0533-EEED-A7EE73BEFE29}"/>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5" name="Footer Placeholder 4">
            <a:extLst>
              <a:ext uri="{FF2B5EF4-FFF2-40B4-BE49-F238E27FC236}">
                <a16:creationId xmlns:a16="http://schemas.microsoft.com/office/drawing/2014/main" id="{371AFF30-106B-AEB6-B39C-1B79B6A3F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4CE808-5415-10D1-F7A8-A2B123671A42}"/>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22113624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0BBD78-C5D6-1E87-CFB0-0A773E5C6B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FD9ADF4-7FE6-1A84-8826-50329E62F37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6D6FFFA-2216-0586-6FEB-DAFE7F36DEB9}"/>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5" name="Footer Placeholder 4">
            <a:extLst>
              <a:ext uri="{FF2B5EF4-FFF2-40B4-BE49-F238E27FC236}">
                <a16:creationId xmlns:a16="http://schemas.microsoft.com/office/drawing/2014/main" id="{85760CD9-5902-3528-D3CE-6BCACF850C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E37FD9-2E89-B7D5-8013-FB3F085FD7AF}"/>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3534955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9E455-C446-C11B-10D3-2764B81011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FBBBEB-7F86-432A-70A5-E4ABD2017A4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D4EC524-8B61-DC72-5A3F-481481E35BA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2D61EB-1268-3594-7C16-E0C61A9C0F82}"/>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6" name="Footer Placeholder 5">
            <a:extLst>
              <a:ext uri="{FF2B5EF4-FFF2-40B4-BE49-F238E27FC236}">
                <a16:creationId xmlns:a16="http://schemas.microsoft.com/office/drawing/2014/main" id="{BB17AD52-A2C5-E681-D4C7-CC16EDE5CF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6C6F6-F1D6-DC9B-EB12-FCEC51928CCC}"/>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3680209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FA9F09-17AF-E22B-3FEC-E7AFB7E178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4F93991-DBAB-F0B8-9E52-9EEE5C2B79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A6DA6E-83E1-84EC-D1E0-AB7EB14BB0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BDC5BE-D0AB-A736-2A63-5A7A146E64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E8DD98-5DC9-2C4D-AF02-586F649F3DE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86ACB-C384-242B-BE1D-E2AD1CC9B48C}"/>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8" name="Footer Placeholder 7">
            <a:extLst>
              <a:ext uri="{FF2B5EF4-FFF2-40B4-BE49-F238E27FC236}">
                <a16:creationId xmlns:a16="http://schemas.microsoft.com/office/drawing/2014/main" id="{2C69D4C2-952C-5D91-19D5-A465CA1123B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759AE71-B694-2173-BD90-2FF1DBED5318}"/>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1194158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E0441-BEBA-EC68-F98D-11E244D144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72BCF90-F4E0-1FA7-B256-21626D3F2D73}"/>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4" name="Footer Placeholder 3">
            <a:extLst>
              <a:ext uri="{FF2B5EF4-FFF2-40B4-BE49-F238E27FC236}">
                <a16:creationId xmlns:a16="http://schemas.microsoft.com/office/drawing/2014/main" id="{0992C3AA-2F90-5D6E-101D-458F53F5675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F92B8EF-ACB9-866F-83F1-5013068CAFF2}"/>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3679324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FFDDC9-B86B-8F7E-920A-AD2DD52D69D3}"/>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3" name="Footer Placeholder 2">
            <a:extLst>
              <a:ext uri="{FF2B5EF4-FFF2-40B4-BE49-F238E27FC236}">
                <a16:creationId xmlns:a16="http://schemas.microsoft.com/office/drawing/2014/main" id="{91B03794-B871-6DF8-A3D8-19D1ADF145E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DBF0B01-0963-B558-1E6E-746C4010B573}"/>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3797439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FBA3C-D0F8-9D46-C73D-76F80E5D991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9D11359-7CCB-570B-2A90-0D2B089DFC8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F2EDCA2-59B9-BE3B-1BAB-8D8B3FBF62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0BA1E1-7919-E9BA-487D-197203E09D54}"/>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6" name="Footer Placeholder 5">
            <a:extLst>
              <a:ext uri="{FF2B5EF4-FFF2-40B4-BE49-F238E27FC236}">
                <a16:creationId xmlns:a16="http://schemas.microsoft.com/office/drawing/2014/main" id="{4DC3ADC6-A459-CCDB-3CB7-F35C66961A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3C3DEEC-2F65-FA0D-4952-DB43A3A359CF}"/>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711111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9E3D2-7C39-00F1-94E7-4CCCE4E1A4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3A2706-E461-11CB-3813-64079CB05C7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F87B45-E128-7A0C-8ED3-F8C60F72C5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D60CA8-B9CA-EB52-7DC3-0A8750B17141}"/>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6" name="Footer Placeholder 5">
            <a:extLst>
              <a:ext uri="{FF2B5EF4-FFF2-40B4-BE49-F238E27FC236}">
                <a16:creationId xmlns:a16="http://schemas.microsoft.com/office/drawing/2014/main" id="{EB74DE79-5500-614F-18AA-B21B2F03A6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8B35EF-65CB-7EE9-684D-FB0C580E01E9}"/>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2390511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D6891-5E41-A78F-FDFE-A709AA59A20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FA33496-9A2A-4FB9-F33B-E298F5D682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394C02-7637-DEA1-A632-0AC389B47A24}"/>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5" name="Footer Placeholder 4">
            <a:extLst>
              <a:ext uri="{FF2B5EF4-FFF2-40B4-BE49-F238E27FC236}">
                <a16:creationId xmlns:a16="http://schemas.microsoft.com/office/drawing/2014/main" id="{074638D0-FD0C-A362-9BC6-9CA8B6661D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B4615A-E50D-C86A-75E6-6FF91CEC53D5}"/>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3284371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E177CE-277F-A0A2-FFB6-13C7C29F30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C95F56C-173D-42EB-0071-EABA725FC2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EC1A3A-A863-3164-8BB4-750B0FB7D472}"/>
              </a:ext>
            </a:extLst>
          </p:cNvPr>
          <p:cNvSpPr>
            <a:spLocks noGrp="1"/>
          </p:cNvSpPr>
          <p:nvPr>
            <p:ph type="dt" sz="half" idx="10"/>
          </p:nvPr>
        </p:nvSpPr>
        <p:spPr/>
        <p:txBody>
          <a:bodyPr/>
          <a:lstStyle/>
          <a:p>
            <a:fld id="{DD6BE1F3-AF81-A049-A911-DE59790707C7}" type="datetimeFigureOut">
              <a:rPr lang="en-US" smtClean="0"/>
              <a:t>3/10/26</a:t>
            </a:fld>
            <a:endParaRPr lang="en-US"/>
          </a:p>
        </p:txBody>
      </p:sp>
      <p:sp>
        <p:nvSpPr>
          <p:cNvPr id="5" name="Footer Placeholder 4">
            <a:extLst>
              <a:ext uri="{FF2B5EF4-FFF2-40B4-BE49-F238E27FC236}">
                <a16:creationId xmlns:a16="http://schemas.microsoft.com/office/drawing/2014/main" id="{2220ABD3-34AD-1D96-0E62-111789DC0B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555AE7-6FE0-CEE2-99BA-BC2EC6D558ED}"/>
              </a:ext>
            </a:extLst>
          </p:cNvPr>
          <p:cNvSpPr>
            <a:spLocks noGrp="1"/>
          </p:cNvSpPr>
          <p:nvPr>
            <p:ph type="sldNum" sz="quarter" idx="12"/>
          </p:nvPr>
        </p:nvSpPr>
        <p:spPr/>
        <p:txBody>
          <a:bodyPr/>
          <a:lstStyle/>
          <a:p>
            <a:fld id="{92AE5B6D-D079-1D4F-8D98-D6DB77D08499}" type="slidenum">
              <a:rPr lang="en-US" smtClean="0"/>
              <a:t>‹#›</a:t>
            </a:fld>
            <a:endParaRPr lang="en-US"/>
          </a:p>
        </p:txBody>
      </p:sp>
    </p:spTree>
    <p:extLst>
      <p:ext uri="{BB962C8B-B14F-4D97-AF65-F5344CB8AC3E}">
        <p14:creationId xmlns:p14="http://schemas.microsoft.com/office/powerpoint/2010/main" val="744738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2537D0-6D11-3C35-8016-4F02E1F507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01FE62D-7C97-22B1-3735-5D4E3DAB61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98C7DB6-812E-8993-D8CE-590C20C1D1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6BE1F3-AF81-A049-A911-DE59790707C7}" type="datetimeFigureOut">
              <a:rPr lang="en-US" smtClean="0"/>
              <a:t>3/10/26</a:t>
            </a:fld>
            <a:endParaRPr lang="en-US"/>
          </a:p>
        </p:txBody>
      </p:sp>
      <p:sp>
        <p:nvSpPr>
          <p:cNvPr id="5" name="Footer Placeholder 4">
            <a:extLst>
              <a:ext uri="{FF2B5EF4-FFF2-40B4-BE49-F238E27FC236}">
                <a16:creationId xmlns:a16="http://schemas.microsoft.com/office/drawing/2014/main" id="{C9B29A71-0172-2565-F882-C35F3AB906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6BF206-CC1B-E03F-F286-5E7BBD132D5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2AE5B6D-D079-1D4F-8D98-D6DB77D08499}" type="slidenum">
              <a:rPr lang="en-US" smtClean="0"/>
              <a:t>‹#›</a:t>
            </a:fld>
            <a:endParaRPr lang="en-US"/>
          </a:p>
        </p:txBody>
      </p:sp>
    </p:spTree>
    <p:extLst>
      <p:ext uri="{BB962C8B-B14F-4D97-AF65-F5344CB8AC3E}">
        <p14:creationId xmlns:p14="http://schemas.microsoft.com/office/powerpoint/2010/main" val="3858684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0.png"/><Relationship Id="rId4" Type="http://schemas.microsoft.com/office/2007/relationships/hdphoto" Target="../media/hdphoto1.wdp"/></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13.jpeg"/></Relationships>
</file>

<file path=ppt/slides/_rels/slide4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4F694-A64D-D81F-C2E2-8F1CD386C101}"/>
              </a:ext>
            </a:extLst>
          </p:cNvPr>
          <p:cNvSpPr>
            <a:spLocks noGrp="1"/>
          </p:cNvSpPr>
          <p:nvPr>
            <p:ph type="ctrTitle"/>
          </p:nvPr>
        </p:nvSpPr>
        <p:spPr/>
        <p:txBody>
          <a:bodyPr/>
          <a:lstStyle/>
          <a:p>
            <a:r>
              <a:rPr lang="en-US" dirty="0"/>
              <a:t>Graph Traversals</a:t>
            </a:r>
          </a:p>
        </p:txBody>
      </p:sp>
      <p:sp>
        <p:nvSpPr>
          <p:cNvPr id="3" name="Subtitle 2">
            <a:extLst>
              <a:ext uri="{FF2B5EF4-FFF2-40B4-BE49-F238E27FC236}">
                <a16:creationId xmlns:a16="http://schemas.microsoft.com/office/drawing/2014/main" id="{D7B60AB8-3734-AA9F-6773-1BA207D0A111}"/>
              </a:ext>
            </a:extLst>
          </p:cNvPr>
          <p:cNvSpPr>
            <a:spLocks noGrp="1"/>
          </p:cNvSpPr>
          <p:nvPr>
            <p:ph type="subTitle" idx="1"/>
          </p:nvPr>
        </p:nvSpPr>
        <p:spPr/>
        <p:txBody>
          <a:bodyPr/>
          <a:lstStyle/>
          <a:p>
            <a:r>
              <a:rPr lang="en-US" dirty="0"/>
              <a:t>CS 374</a:t>
            </a:r>
          </a:p>
        </p:txBody>
      </p:sp>
    </p:spTree>
    <p:extLst>
      <p:ext uri="{BB962C8B-B14F-4D97-AF65-F5344CB8AC3E}">
        <p14:creationId xmlns:p14="http://schemas.microsoft.com/office/powerpoint/2010/main" val="19011300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4A703-CBD4-255C-3FBB-26445F4BA39C}"/>
              </a:ext>
            </a:extLst>
          </p:cNvPr>
          <p:cNvSpPr>
            <a:spLocks noGrp="1"/>
          </p:cNvSpPr>
          <p:nvPr>
            <p:ph type="title"/>
          </p:nvPr>
        </p:nvSpPr>
        <p:spPr/>
        <p:txBody>
          <a:bodyPr/>
          <a:lstStyle/>
          <a:p>
            <a:r>
              <a:rPr lang="en-US" dirty="0"/>
              <a:t>Terminology Before Warm-up</a:t>
            </a:r>
          </a:p>
        </p:txBody>
      </p:sp>
      <p:sp>
        <p:nvSpPr>
          <p:cNvPr id="3" name="Content Placeholder 2">
            <a:extLst>
              <a:ext uri="{FF2B5EF4-FFF2-40B4-BE49-F238E27FC236}">
                <a16:creationId xmlns:a16="http://schemas.microsoft.com/office/drawing/2014/main" id="{B32AB380-6166-D773-F516-5DF8EB92171D}"/>
              </a:ext>
            </a:extLst>
          </p:cNvPr>
          <p:cNvSpPr>
            <a:spLocks noGrp="1"/>
          </p:cNvSpPr>
          <p:nvPr>
            <p:ph idx="1"/>
          </p:nvPr>
        </p:nvSpPr>
        <p:spPr/>
        <p:txBody>
          <a:bodyPr>
            <a:normAutofit lnSpcReduction="10000"/>
          </a:bodyPr>
          <a:lstStyle/>
          <a:p>
            <a:r>
              <a:rPr lang="en-US" dirty="0"/>
              <a:t>Vertex = an entity</a:t>
            </a:r>
          </a:p>
          <a:p>
            <a:pPr lvl="1"/>
            <a:r>
              <a:rPr lang="en-US" dirty="0"/>
              <a:t>Node</a:t>
            </a:r>
          </a:p>
          <a:p>
            <a:pPr lvl="1"/>
            <a:r>
              <a:rPr lang="en-US" dirty="0"/>
              <a:t>Plural: vertices</a:t>
            </a:r>
          </a:p>
          <a:p>
            <a:pPr lvl="1"/>
            <a:r>
              <a:rPr lang="en-US" dirty="0"/>
              <a:t>All vertices are collected in the set V.</a:t>
            </a:r>
          </a:p>
          <a:p>
            <a:r>
              <a:rPr lang="en-US" dirty="0"/>
              <a:t>Edge = an edge (</a:t>
            </a:r>
            <a:r>
              <a:rPr lang="en-US" dirty="0" err="1"/>
              <a:t>u,v</a:t>
            </a:r>
            <a:r>
              <a:rPr lang="en-US" dirty="0"/>
              <a:t>) is present if there is a relationship between the two vertices u and v.</a:t>
            </a:r>
          </a:p>
          <a:p>
            <a:pPr lvl="1"/>
            <a:r>
              <a:rPr lang="en-US" dirty="0"/>
              <a:t>All edges are collected in the set E.</a:t>
            </a:r>
          </a:p>
          <a:p>
            <a:endParaRPr lang="en-US" dirty="0"/>
          </a:p>
          <a:p>
            <a:endParaRPr lang="en-US" dirty="0"/>
          </a:p>
          <a:p>
            <a:r>
              <a:rPr lang="en-US" dirty="0"/>
              <a:t>A graph is represented as a pair, G=(V,E).</a:t>
            </a:r>
          </a:p>
          <a:p>
            <a:endParaRPr lang="en-US" dirty="0"/>
          </a:p>
        </p:txBody>
      </p:sp>
    </p:spTree>
    <p:extLst>
      <p:ext uri="{BB962C8B-B14F-4D97-AF65-F5344CB8AC3E}">
        <p14:creationId xmlns:p14="http://schemas.microsoft.com/office/powerpoint/2010/main" val="4117897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54992-395B-9779-EB9F-5F79EB25C0D2}"/>
              </a:ext>
            </a:extLst>
          </p:cNvPr>
          <p:cNvSpPr>
            <a:spLocks noGrp="1"/>
          </p:cNvSpPr>
          <p:nvPr>
            <p:ph type="title"/>
          </p:nvPr>
        </p:nvSpPr>
        <p:spPr/>
        <p:txBody>
          <a:bodyPr/>
          <a:lstStyle/>
          <a:p>
            <a:r>
              <a:rPr lang="en-US" dirty="0"/>
              <a:t>Warm-Up</a:t>
            </a:r>
          </a:p>
        </p:txBody>
      </p:sp>
      <p:sp>
        <p:nvSpPr>
          <p:cNvPr id="3" name="Content Placeholder 2">
            <a:extLst>
              <a:ext uri="{FF2B5EF4-FFF2-40B4-BE49-F238E27FC236}">
                <a16:creationId xmlns:a16="http://schemas.microsoft.com/office/drawing/2014/main" id="{C36708D5-030B-76A4-3828-C2DAF165B293}"/>
              </a:ext>
            </a:extLst>
          </p:cNvPr>
          <p:cNvSpPr>
            <a:spLocks noGrp="1"/>
          </p:cNvSpPr>
          <p:nvPr>
            <p:ph idx="1"/>
          </p:nvPr>
        </p:nvSpPr>
        <p:spPr/>
        <p:txBody>
          <a:bodyPr/>
          <a:lstStyle/>
          <a:p>
            <a:r>
              <a:rPr lang="en-US" dirty="0"/>
              <a:t>This graph describes direct routes possible between cities.</a:t>
            </a:r>
          </a:p>
          <a:p>
            <a:r>
              <a:rPr lang="en-US" dirty="0"/>
              <a:t>With your team, on the board, write a verbal algorithm describing how to visit every vertex of of a graph like this.</a:t>
            </a:r>
          </a:p>
        </p:txBody>
      </p:sp>
      <p:pic>
        <p:nvPicPr>
          <p:cNvPr id="1026" name="Picture 2">
            <a:extLst>
              <a:ext uri="{FF2B5EF4-FFF2-40B4-BE49-F238E27FC236}">
                <a16:creationId xmlns:a16="http://schemas.microsoft.com/office/drawing/2014/main" id="{AA6C1719-FBBB-55B9-E6C9-E72260D4D7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8354" y="3298216"/>
            <a:ext cx="8095292" cy="3559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28525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3ABDF-2CDC-6E46-6240-DF5E84E8A956}"/>
              </a:ext>
            </a:extLst>
          </p:cNvPr>
          <p:cNvSpPr>
            <a:spLocks noGrp="1"/>
          </p:cNvSpPr>
          <p:nvPr>
            <p:ph type="title"/>
          </p:nvPr>
        </p:nvSpPr>
        <p:spPr/>
        <p:txBody>
          <a:bodyPr/>
          <a:lstStyle/>
          <a:p>
            <a:r>
              <a:rPr lang="en-US" dirty="0"/>
              <a:t>Evaluate your own work</a:t>
            </a:r>
          </a:p>
        </p:txBody>
      </p:sp>
      <p:sp>
        <p:nvSpPr>
          <p:cNvPr id="3" name="Content Placeholder 2">
            <a:extLst>
              <a:ext uri="{FF2B5EF4-FFF2-40B4-BE49-F238E27FC236}">
                <a16:creationId xmlns:a16="http://schemas.microsoft.com/office/drawing/2014/main" id="{79F13CA9-FDEF-EA5A-3D9A-3FECA03A2662}"/>
              </a:ext>
            </a:extLst>
          </p:cNvPr>
          <p:cNvSpPr>
            <a:spLocks noGrp="1"/>
          </p:cNvSpPr>
          <p:nvPr>
            <p:ph idx="1"/>
          </p:nvPr>
        </p:nvSpPr>
        <p:spPr/>
        <p:txBody>
          <a:bodyPr>
            <a:noAutofit/>
          </a:bodyPr>
          <a:lstStyle/>
          <a:p>
            <a:pPr marL="514350" indent="-514350">
              <a:buFont typeface="+mj-lt"/>
              <a:buAutoNum type="arabicPeriod"/>
            </a:pPr>
            <a:r>
              <a:rPr lang="en-US" dirty="0"/>
              <a:t>Does the algorithm describe…</a:t>
            </a:r>
          </a:p>
          <a:p>
            <a:pPr marL="914400" lvl="1" indent="-457200">
              <a:buFont typeface="+mj-lt"/>
              <a:buAutoNum type="arabicPeriod"/>
            </a:pPr>
            <a:r>
              <a:rPr lang="en-US" sz="2800" dirty="0"/>
              <a:t>The input &amp; its format?</a:t>
            </a:r>
          </a:p>
          <a:p>
            <a:pPr marL="914400" lvl="1" indent="-457200">
              <a:buFont typeface="+mj-lt"/>
              <a:buAutoNum type="arabicPeriod"/>
            </a:pPr>
            <a:r>
              <a:rPr lang="en-US" sz="2800" dirty="0"/>
              <a:t>Where to start?</a:t>
            </a:r>
          </a:p>
          <a:p>
            <a:pPr marL="914400" lvl="1" indent="-457200">
              <a:buFont typeface="+mj-lt"/>
              <a:buAutoNum type="arabicPeriod"/>
            </a:pPr>
            <a:r>
              <a:rPr lang="en-US" sz="2800" dirty="0"/>
              <a:t>How to proceed from the starting point, in a way that reasonably covers the whole graph?</a:t>
            </a:r>
          </a:p>
          <a:p>
            <a:pPr marL="514350" indent="-514350">
              <a:buFont typeface="+mj-lt"/>
              <a:buAutoNum type="arabicPeriod"/>
            </a:pPr>
            <a:r>
              <a:rPr lang="en-US" dirty="0"/>
              <a:t>Is the algorithm </a:t>
            </a:r>
            <a:r>
              <a:rPr lang="en-US" b="1" dirty="0"/>
              <a:t>s</a:t>
            </a:r>
            <a:r>
              <a:rPr lang="en-US" sz="2800" b="1" dirty="0"/>
              <a:t>pecific </a:t>
            </a:r>
            <a:r>
              <a:rPr lang="en-US" sz="2800" dirty="0"/>
              <a:t>enough? Is there any ambiguity?</a:t>
            </a:r>
          </a:p>
          <a:p>
            <a:pPr marL="457200" indent="-457200">
              <a:buFont typeface="+mj-lt"/>
              <a:buAutoNum type="arabicPeriod"/>
            </a:pPr>
            <a:r>
              <a:rPr lang="en-US" dirty="0"/>
              <a:t>Are there </a:t>
            </a:r>
            <a:r>
              <a:rPr lang="en-US" b="1" dirty="0"/>
              <a:t>errors</a:t>
            </a:r>
            <a:r>
              <a:rPr lang="en-US" dirty="0"/>
              <a:t>? Can you p</a:t>
            </a:r>
            <a:r>
              <a:rPr lang="en-US" sz="2800" dirty="0"/>
              <a:t>oke holes in the solution?</a:t>
            </a:r>
          </a:p>
        </p:txBody>
      </p:sp>
    </p:spTree>
    <p:extLst>
      <p:ext uri="{BB962C8B-B14F-4D97-AF65-F5344CB8AC3E}">
        <p14:creationId xmlns:p14="http://schemas.microsoft.com/office/powerpoint/2010/main" val="16719779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73B0C96-A9E4-214B-4875-CE0C28544C61}"/>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A11C4F3B-F4C9-EE6B-111B-2A2037F4588E}"/>
              </a:ext>
            </a:extLst>
          </p:cNvPr>
          <p:cNvSpPr>
            <a:spLocks noGrp="1"/>
          </p:cNvSpPr>
          <p:nvPr>
            <p:ph idx="1"/>
          </p:nvPr>
        </p:nvSpPr>
        <p:spPr/>
        <p:txBody>
          <a:bodyPr/>
          <a:lstStyle/>
          <a:p>
            <a:endParaRPr lang="en-US"/>
          </a:p>
        </p:txBody>
      </p:sp>
      <p:graphicFrame>
        <p:nvGraphicFramePr>
          <p:cNvPr id="7" name="Content Placeholder 5">
            <a:extLst>
              <a:ext uri="{FF2B5EF4-FFF2-40B4-BE49-F238E27FC236}">
                <a16:creationId xmlns:a16="http://schemas.microsoft.com/office/drawing/2014/main" id="{4F4E6C08-5A9D-0873-EC63-9888FCC2FC4A}"/>
              </a:ext>
            </a:extLst>
          </p:cNvPr>
          <p:cNvGraphicFramePr>
            <a:graphicFrameLocks/>
          </p:cNvGraphicFramePr>
          <p:nvPr>
            <p:extLst>
              <p:ext uri="{D42A27DB-BD31-4B8C-83A1-F6EECF244321}">
                <p14:modId xmlns:p14="http://schemas.microsoft.com/office/powerpoint/2010/main" val="2944942125"/>
              </p:ext>
            </p:extLst>
          </p:nvPr>
        </p:nvGraphicFramePr>
        <p:xfrm>
          <a:off x="0" y="0"/>
          <a:ext cx="12192000" cy="6858000"/>
        </p:xfrm>
        <a:graphic>
          <a:graphicData uri="http://schemas.openxmlformats.org/drawingml/2006/table">
            <a:tbl>
              <a:tblPr firstRow="1" bandRow="1">
                <a:tableStyleId>{5C22544A-7EE6-4342-B048-85BDC9FD1C3A}</a:tableStyleId>
              </a:tblPr>
              <a:tblGrid>
                <a:gridCol w="2804917">
                  <a:extLst>
                    <a:ext uri="{9D8B030D-6E8A-4147-A177-3AD203B41FA5}">
                      <a16:colId xmlns:a16="http://schemas.microsoft.com/office/drawing/2014/main" val="1990939166"/>
                    </a:ext>
                  </a:extLst>
                </a:gridCol>
                <a:gridCol w="9387083">
                  <a:extLst>
                    <a:ext uri="{9D8B030D-6E8A-4147-A177-3AD203B41FA5}">
                      <a16:colId xmlns:a16="http://schemas.microsoft.com/office/drawing/2014/main" val="2500312782"/>
                    </a:ext>
                  </a:extLst>
                </a:gridCol>
              </a:tblGrid>
              <a:tr h="661875">
                <a:tc>
                  <a:txBody>
                    <a:bodyPr/>
                    <a:lstStyle/>
                    <a:p>
                      <a:r>
                        <a:rPr lang="en-US" sz="2000" dirty="0"/>
                        <a:t>Category</a:t>
                      </a:r>
                    </a:p>
                  </a:txBody>
                  <a:tcPr/>
                </a:tc>
                <a:tc>
                  <a:txBody>
                    <a:bodyPr/>
                    <a:lstStyle/>
                    <a:p>
                      <a:r>
                        <a:rPr lang="en-US" sz="2000" dirty="0"/>
                        <a:t>Points</a:t>
                      </a:r>
                    </a:p>
                  </a:txBody>
                  <a:tcPr/>
                </a:tc>
                <a:extLst>
                  <a:ext uri="{0D108BD9-81ED-4DB2-BD59-A6C34878D82A}">
                    <a16:rowId xmlns:a16="http://schemas.microsoft.com/office/drawing/2014/main" val="801902284"/>
                  </a:ext>
                </a:extLst>
              </a:tr>
              <a:tr h="790741">
                <a:tc>
                  <a:txBody>
                    <a:bodyPr/>
                    <a:lstStyle/>
                    <a:p>
                      <a:r>
                        <a:rPr lang="en-US" sz="2000" b="1" dirty="0"/>
                        <a:t>E</a:t>
                      </a:r>
                      <a:r>
                        <a:rPr lang="en-US" sz="2000" dirty="0"/>
                        <a:t>fficiency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proposed solution is completely efficient. There is no possibility of a better implementation. </a:t>
                      </a:r>
                    </a:p>
                  </a:txBody>
                  <a:tcPr/>
                </a:tc>
                <a:extLst>
                  <a:ext uri="{0D108BD9-81ED-4DB2-BD59-A6C34878D82A}">
                    <a16:rowId xmlns:a16="http://schemas.microsoft.com/office/drawing/2014/main" val="937704108"/>
                  </a:ext>
                </a:extLst>
              </a:tr>
              <a:tr h="1129631">
                <a:tc>
                  <a:txBody>
                    <a:bodyPr/>
                    <a:lstStyle/>
                    <a:p>
                      <a:r>
                        <a:rPr lang="en-US" sz="2000" b="1" dirty="0"/>
                        <a:t>Comp</a:t>
                      </a:r>
                      <a:r>
                        <a:rPr lang="en-US" sz="2000" dirty="0"/>
                        <a:t>leteness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proposed solution is complete. Every edge case is considered. There are no cases the writer forgot to consider. Given any possible correct input, the output will be produced as described.</a:t>
                      </a:r>
                    </a:p>
                  </a:txBody>
                  <a:tcPr/>
                </a:tc>
                <a:extLst>
                  <a:ext uri="{0D108BD9-81ED-4DB2-BD59-A6C34878D82A}">
                    <a16:rowId xmlns:a16="http://schemas.microsoft.com/office/drawing/2014/main" val="1402986518"/>
                  </a:ext>
                </a:extLst>
              </a:tr>
              <a:tr h="1117961">
                <a:tc>
                  <a:txBody>
                    <a:bodyPr/>
                    <a:lstStyle/>
                    <a:p>
                      <a:r>
                        <a:rPr lang="en-US" sz="2000" b="1" dirty="0"/>
                        <a:t>G</a:t>
                      </a:r>
                      <a:r>
                        <a:rPr lang="en-US" sz="2000" dirty="0"/>
                        <a:t>enerality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proposed solution is specified with what counts as valid arguments. It will correctly apply to any given arguments, so long as they are valid.</a:t>
                      </a:r>
                    </a:p>
                  </a:txBody>
                  <a:tcPr/>
                </a:tc>
                <a:extLst>
                  <a:ext uri="{0D108BD9-81ED-4DB2-BD59-A6C34878D82A}">
                    <a16:rowId xmlns:a16="http://schemas.microsoft.com/office/drawing/2014/main" val="419932767"/>
                  </a:ext>
                </a:extLst>
              </a:tr>
              <a:tr h="1237420">
                <a:tc>
                  <a:txBody>
                    <a:bodyPr/>
                    <a:lstStyle/>
                    <a:p>
                      <a:r>
                        <a:rPr lang="en-US" sz="2000" b="1" dirty="0"/>
                        <a:t>S</a:t>
                      </a:r>
                      <a:r>
                        <a:rPr lang="en-US" sz="2000" dirty="0"/>
                        <a:t>pecificity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Solution is perfectly specific; there are no questions that should be additionally answered. Transitions are clear. If there are any skipped steps, they are clearly understood to be trivially inferred by the reader. </a:t>
                      </a:r>
                    </a:p>
                  </a:txBody>
                  <a:tcPr/>
                </a:tc>
                <a:extLst>
                  <a:ext uri="{0D108BD9-81ED-4DB2-BD59-A6C34878D82A}">
                    <a16:rowId xmlns:a16="http://schemas.microsoft.com/office/drawing/2014/main" val="2088430246"/>
                  </a:ext>
                </a:extLst>
              </a:tr>
              <a:tr h="790741">
                <a:tc>
                  <a:txBody>
                    <a:bodyPr/>
                    <a:lstStyle/>
                    <a:p>
                      <a:r>
                        <a:rPr lang="en-US" sz="2000" b="1" dirty="0"/>
                        <a:t>Conc</a:t>
                      </a:r>
                      <a:r>
                        <a:rPr lang="en-US" sz="2000" dirty="0"/>
                        <a:t>iseness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Writing is perfectly concise. There are no superfluous words and nothing is over-explained. </a:t>
                      </a:r>
                    </a:p>
                  </a:txBody>
                  <a:tcPr/>
                </a:tc>
                <a:extLst>
                  <a:ext uri="{0D108BD9-81ED-4DB2-BD59-A6C34878D82A}">
                    <a16:rowId xmlns:a16="http://schemas.microsoft.com/office/drawing/2014/main" val="2979452813"/>
                  </a:ext>
                </a:extLst>
              </a:tr>
              <a:tr h="1129631">
                <a:tc>
                  <a:txBody>
                    <a:bodyPr/>
                    <a:lstStyle/>
                    <a:p>
                      <a:r>
                        <a:rPr lang="en-US" sz="2000" b="1" dirty="0"/>
                        <a:t>P</a:t>
                      </a:r>
                      <a:r>
                        <a:rPr lang="en-US" sz="2000" dirty="0"/>
                        <a:t>resentation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There are no typos in the proposed solution. The layout is not messy. All sentences are complete. Any math or code descriptions present flows cleanly with explanations.</a:t>
                      </a:r>
                    </a:p>
                  </a:txBody>
                  <a:tcPr/>
                </a:tc>
                <a:extLst>
                  <a:ext uri="{0D108BD9-81ED-4DB2-BD59-A6C34878D82A}">
                    <a16:rowId xmlns:a16="http://schemas.microsoft.com/office/drawing/2014/main" val="234120830"/>
                  </a:ext>
                </a:extLst>
              </a:tr>
            </a:tbl>
          </a:graphicData>
        </a:graphic>
      </p:graphicFrame>
    </p:spTree>
    <p:extLst>
      <p:ext uri="{BB962C8B-B14F-4D97-AF65-F5344CB8AC3E}">
        <p14:creationId xmlns:p14="http://schemas.microsoft.com/office/powerpoint/2010/main" val="20658534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197198-E8AF-CE42-6105-36CDF2F9B578}"/>
              </a:ext>
            </a:extLst>
          </p:cNvPr>
          <p:cNvSpPr>
            <a:spLocks noGrp="1"/>
          </p:cNvSpPr>
          <p:nvPr>
            <p:ph type="title"/>
          </p:nvPr>
        </p:nvSpPr>
        <p:spPr/>
        <p:txBody>
          <a:bodyPr/>
          <a:lstStyle/>
          <a:p>
            <a:r>
              <a:rPr lang="en-US" dirty="0"/>
              <a:t>Rotate and evaluate:</a:t>
            </a:r>
          </a:p>
        </p:txBody>
      </p:sp>
      <p:sp>
        <p:nvSpPr>
          <p:cNvPr id="4" name="Content Placeholder 3">
            <a:extLst>
              <a:ext uri="{FF2B5EF4-FFF2-40B4-BE49-F238E27FC236}">
                <a16:creationId xmlns:a16="http://schemas.microsoft.com/office/drawing/2014/main" id="{498B39AA-02D9-0C51-5DB3-632B05E37149}"/>
              </a:ext>
            </a:extLst>
          </p:cNvPr>
          <p:cNvSpPr>
            <a:spLocks noGrp="1"/>
          </p:cNvSpPr>
          <p:nvPr>
            <p:ph idx="1"/>
          </p:nvPr>
        </p:nvSpPr>
        <p:spPr/>
        <p:txBody>
          <a:bodyPr>
            <a:normAutofit/>
          </a:bodyPr>
          <a:lstStyle/>
          <a:p>
            <a:r>
              <a:rPr lang="en-US" dirty="0"/>
              <a:t>Give each group a score out of 10 for:</a:t>
            </a:r>
          </a:p>
          <a:p>
            <a:pPr fontAlgn="t"/>
            <a:r>
              <a:rPr lang="en-US" b="1" dirty="0"/>
              <a:t>E</a:t>
            </a:r>
            <a:r>
              <a:rPr lang="en-US" dirty="0"/>
              <a:t>fficiency: __/10</a:t>
            </a:r>
          </a:p>
          <a:p>
            <a:pPr fontAlgn="t"/>
            <a:r>
              <a:rPr lang="en-US" b="1" dirty="0"/>
              <a:t>Comp</a:t>
            </a:r>
            <a:r>
              <a:rPr lang="en-US" dirty="0"/>
              <a:t>leteness: __/10</a:t>
            </a:r>
          </a:p>
          <a:p>
            <a:pPr fontAlgn="t"/>
            <a:r>
              <a:rPr lang="en-US" b="1" dirty="0"/>
              <a:t>G</a:t>
            </a:r>
            <a:r>
              <a:rPr lang="en-US" dirty="0"/>
              <a:t>enerality: __/10</a:t>
            </a:r>
          </a:p>
          <a:p>
            <a:pPr fontAlgn="t"/>
            <a:r>
              <a:rPr lang="en-US" b="1" dirty="0"/>
              <a:t>S</a:t>
            </a:r>
            <a:r>
              <a:rPr lang="en-US" dirty="0"/>
              <a:t>pecificity: __/10</a:t>
            </a:r>
          </a:p>
          <a:p>
            <a:pPr fontAlgn="t"/>
            <a:r>
              <a:rPr lang="en-US" b="1" dirty="0"/>
              <a:t>Conc</a:t>
            </a:r>
            <a:r>
              <a:rPr lang="en-US" dirty="0"/>
              <a:t>iseness: __/10</a:t>
            </a:r>
          </a:p>
          <a:p>
            <a:pPr fontAlgn="t"/>
            <a:r>
              <a:rPr lang="en-US" b="1" dirty="0"/>
              <a:t>P</a:t>
            </a:r>
            <a:r>
              <a:rPr lang="en-US" dirty="0"/>
              <a:t>resentation: __/10</a:t>
            </a:r>
          </a:p>
          <a:p>
            <a:pPr fontAlgn="t"/>
            <a:endParaRPr lang="en-US" dirty="0"/>
          </a:p>
          <a:p>
            <a:endParaRPr lang="en-US" dirty="0"/>
          </a:p>
        </p:txBody>
      </p:sp>
    </p:spTree>
    <p:extLst>
      <p:ext uri="{BB962C8B-B14F-4D97-AF65-F5344CB8AC3E}">
        <p14:creationId xmlns:p14="http://schemas.microsoft.com/office/powerpoint/2010/main" val="3213701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60141-E7FB-A564-2FEE-78592D29701A}"/>
              </a:ext>
            </a:extLst>
          </p:cNvPr>
          <p:cNvSpPr>
            <a:spLocks noGrp="1"/>
          </p:cNvSpPr>
          <p:nvPr>
            <p:ph type="title"/>
          </p:nvPr>
        </p:nvSpPr>
        <p:spPr/>
        <p:txBody>
          <a:bodyPr/>
          <a:lstStyle/>
          <a:p>
            <a:r>
              <a:rPr lang="en-US" dirty="0"/>
              <a:t>Your homework questions will be evaluated on this scale.</a:t>
            </a:r>
          </a:p>
        </p:txBody>
      </p:sp>
      <p:sp>
        <p:nvSpPr>
          <p:cNvPr id="3" name="Content Placeholder 2">
            <a:extLst>
              <a:ext uri="{FF2B5EF4-FFF2-40B4-BE49-F238E27FC236}">
                <a16:creationId xmlns:a16="http://schemas.microsoft.com/office/drawing/2014/main" id="{6E43BF3C-A7D3-8955-27C0-7E08687840C8}"/>
              </a:ext>
            </a:extLst>
          </p:cNvPr>
          <p:cNvSpPr>
            <a:spLocks noGrp="1"/>
          </p:cNvSpPr>
          <p:nvPr>
            <p:ph idx="1"/>
          </p:nvPr>
        </p:nvSpPr>
        <p:spPr/>
        <p:txBody>
          <a:bodyPr/>
          <a:lstStyle/>
          <a:p>
            <a:r>
              <a:rPr lang="en-US" dirty="0"/>
              <a:t>See table next slide.</a:t>
            </a:r>
          </a:p>
          <a:p>
            <a:r>
              <a:rPr lang="en-US" dirty="0"/>
              <a:t>Efficiency, completeness, generality, specificity are emphasized.</a:t>
            </a:r>
          </a:p>
          <a:p>
            <a:r>
              <a:rPr lang="en-US" dirty="0"/>
              <a:t>Conciseness and presentation also considered.</a:t>
            </a:r>
          </a:p>
          <a:p>
            <a:endParaRPr lang="en-US" dirty="0"/>
          </a:p>
          <a:p>
            <a:r>
              <a:rPr lang="en-US" dirty="0"/>
              <a:t>This hinges on your solution being </a:t>
            </a:r>
            <a:r>
              <a:rPr lang="en-US" i="1" dirty="0"/>
              <a:t>correct</a:t>
            </a:r>
            <a:r>
              <a:rPr lang="en-US" dirty="0"/>
              <a:t>.</a:t>
            </a:r>
          </a:p>
          <a:p>
            <a:endParaRPr lang="en-US" dirty="0"/>
          </a:p>
        </p:txBody>
      </p:sp>
    </p:spTree>
    <p:extLst>
      <p:ext uri="{BB962C8B-B14F-4D97-AF65-F5344CB8AC3E}">
        <p14:creationId xmlns:p14="http://schemas.microsoft.com/office/powerpoint/2010/main" val="17973933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8543C-7B45-C42E-17CB-753E4607994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CECCDAB-515A-3935-DBF8-6914324BD6B1}"/>
              </a:ext>
            </a:extLst>
          </p:cNvPr>
          <p:cNvSpPr>
            <a:spLocks noGrp="1"/>
          </p:cNvSpPr>
          <p:nvPr>
            <p:ph type="title"/>
          </p:nvPr>
        </p:nvSpPr>
        <p:spPr/>
        <p:txBody>
          <a:bodyPr/>
          <a:lstStyle/>
          <a:p>
            <a:endParaRPr lang="en-US"/>
          </a:p>
        </p:txBody>
      </p:sp>
      <p:sp>
        <p:nvSpPr>
          <p:cNvPr id="6" name="Content Placeholder 5">
            <a:extLst>
              <a:ext uri="{FF2B5EF4-FFF2-40B4-BE49-F238E27FC236}">
                <a16:creationId xmlns:a16="http://schemas.microsoft.com/office/drawing/2014/main" id="{C6A7EB6A-9E57-9591-2F14-E95D19F91EE9}"/>
              </a:ext>
            </a:extLst>
          </p:cNvPr>
          <p:cNvSpPr>
            <a:spLocks noGrp="1"/>
          </p:cNvSpPr>
          <p:nvPr>
            <p:ph idx="1"/>
          </p:nvPr>
        </p:nvSpPr>
        <p:spPr/>
        <p:txBody>
          <a:bodyPr/>
          <a:lstStyle/>
          <a:p>
            <a:endParaRPr lang="en-US"/>
          </a:p>
        </p:txBody>
      </p:sp>
      <p:graphicFrame>
        <p:nvGraphicFramePr>
          <p:cNvPr id="7" name="Content Placeholder 5">
            <a:extLst>
              <a:ext uri="{FF2B5EF4-FFF2-40B4-BE49-F238E27FC236}">
                <a16:creationId xmlns:a16="http://schemas.microsoft.com/office/drawing/2014/main" id="{FC8204FC-F403-4633-F6AC-4070D5B09466}"/>
              </a:ext>
            </a:extLst>
          </p:cNvPr>
          <p:cNvGraphicFramePr>
            <a:graphicFrameLocks/>
          </p:cNvGraphicFramePr>
          <p:nvPr/>
        </p:nvGraphicFramePr>
        <p:xfrm>
          <a:off x="0" y="0"/>
          <a:ext cx="12191999" cy="6858000"/>
        </p:xfrm>
        <a:graphic>
          <a:graphicData uri="http://schemas.openxmlformats.org/drawingml/2006/table">
            <a:tbl>
              <a:tblPr firstRow="1" bandRow="1">
                <a:tableStyleId>{5C22544A-7EE6-4342-B048-85BDC9FD1C3A}</a:tableStyleId>
              </a:tblPr>
              <a:tblGrid>
                <a:gridCol w="2355504">
                  <a:extLst>
                    <a:ext uri="{9D8B030D-6E8A-4147-A177-3AD203B41FA5}">
                      <a16:colId xmlns:a16="http://schemas.microsoft.com/office/drawing/2014/main" val="1990939166"/>
                    </a:ext>
                  </a:extLst>
                </a:gridCol>
                <a:gridCol w="7883054">
                  <a:extLst>
                    <a:ext uri="{9D8B030D-6E8A-4147-A177-3AD203B41FA5}">
                      <a16:colId xmlns:a16="http://schemas.microsoft.com/office/drawing/2014/main" val="2500312782"/>
                    </a:ext>
                  </a:extLst>
                </a:gridCol>
                <a:gridCol w="1953441">
                  <a:extLst>
                    <a:ext uri="{9D8B030D-6E8A-4147-A177-3AD203B41FA5}">
                      <a16:colId xmlns:a16="http://schemas.microsoft.com/office/drawing/2014/main" val="1876493466"/>
                    </a:ext>
                  </a:extLst>
                </a:gridCol>
              </a:tblGrid>
              <a:tr h="661875">
                <a:tc>
                  <a:txBody>
                    <a:bodyPr/>
                    <a:lstStyle/>
                    <a:p>
                      <a:r>
                        <a:rPr lang="en-US" sz="2000" dirty="0"/>
                        <a:t>Category</a:t>
                      </a:r>
                    </a:p>
                  </a:txBody>
                  <a:tcPr/>
                </a:tc>
                <a:tc>
                  <a:txBody>
                    <a:bodyPr/>
                    <a:lstStyle/>
                    <a:p>
                      <a:r>
                        <a:rPr lang="en-US" sz="2000" dirty="0"/>
                        <a:t>Points</a:t>
                      </a:r>
                    </a:p>
                  </a:txBody>
                  <a:tcPr/>
                </a:tc>
                <a:tc>
                  <a:txBody>
                    <a:bodyPr/>
                    <a:lstStyle/>
                    <a:p>
                      <a:r>
                        <a:rPr lang="en-US" sz="2000" dirty="0"/>
                        <a:t>Share of points</a:t>
                      </a:r>
                    </a:p>
                  </a:txBody>
                  <a:tcPr/>
                </a:tc>
                <a:extLst>
                  <a:ext uri="{0D108BD9-81ED-4DB2-BD59-A6C34878D82A}">
                    <a16:rowId xmlns:a16="http://schemas.microsoft.com/office/drawing/2014/main" val="801902284"/>
                  </a:ext>
                </a:extLst>
              </a:tr>
              <a:tr h="790741">
                <a:tc>
                  <a:txBody>
                    <a:bodyPr/>
                    <a:lstStyle/>
                    <a:p>
                      <a:r>
                        <a:rPr lang="en-US" sz="2000" b="1" dirty="0"/>
                        <a:t>E</a:t>
                      </a:r>
                      <a:r>
                        <a:rPr lang="en-US" sz="2000" dirty="0"/>
                        <a:t>fficiency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proposed solution is completely efficient. There is no possibility of a better implementation. </a:t>
                      </a:r>
                    </a:p>
                  </a:txBody>
                  <a:tcPr/>
                </a:tc>
                <a:tc>
                  <a:txBody>
                    <a:bodyPr/>
                    <a:lstStyle/>
                    <a:p>
                      <a:r>
                        <a:rPr lang="en-US" sz="2000" dirty="0"/>
                        <a:t>20%</a:t>
                      </a:r>
                    </a:p>
                  </a:txBody>
                  <a:tcPr/>
                </a:tc>
                <a:extLst>
                  <a:ext uri="{0D108BD9-81ED-4DB2-BD59-A6C34878D82A}">
                    <a16:rowId xmlns:a16="http://schemas.microsoft.com/office/drawing/2014/main" val="937704108"/>
                  </a:ext>
                </a:extLst>
              </a:tr>
              <a:tr h="1129631">
                <a:tc>
                  <a:txBody>
                    <a:bodyPr/>
                    <a:lstStyle/>
                    <a:p>
                      <a:r>
                        <a:rPr lang="en-US" sz="2000" b="1" dirty="0"/>
                        <a:t>Comp</a:t>
                      </a:r>
                      <a:r>
                        <a:rPr lang="en-US" sz="2000" dirty="0"/>
                        <a:t>leteness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proposed solution is complete. Every edge case is considered. There are no cases the writer forgot to consider. Given any possible correct input, the output will be produced as described.</a:t>
                      </a:r>
                    </a:p>
                  </a:txBody>
                  <a:tcPr/>
                </a:tc>
                <a:tc>
                  <a:txBody>
                    <a:bodyPr/>
                    <a:lstStyle/>
                    <a:p>
                      <a:r>
                        <a:rPr lang="en-US" sz="2000" dirty="0"/>
                        <a:t>20%</a:t>
                      </a:r>
                    </a:p>
                  </a:txBody>
                  <a:tcPr/>
                </a:tc>
                <a:extLst>
                  <a:ext uri="{0D108BD9-81ED-4DB2-BD59-A6C34878D82A}">
                    <a16:rowId xmlns:a16="http://schemas.microsoft.com/office/drawing/2014/main" val="1402986518"/>
                  </a:ext>
                </a:extLst>
              </a:tr>
              <a:tr h="1117961">
                <a:tc>
                  <a:txBody>
                    <a:bodyPr/>
                    <a:lstStyle/>
                    <a:p>
                      <a:r>
                        <a:rPr lang="en-US" sz="2000" b="1" dirty="0"/>
                        <a:t>G</a:t>
                      </a:r>
                      <a:r>
                        <a:rPr lang="en-US" sz="2000" dirty="0"/>
                        <a:t>enerality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 proposed solution is specified with what counts as valid arguments. It will correctly apply to any given arguments, so long as they are valid.</a:t>
                      </a:r>
                    </a:p>
                  </a:txBody>
                  <a:tcPr/>
                </a:tc>
                <a:tc>
                  <a:txBody>
                    <a:bodyPr/>
                    <a:lstStyle/>
                    <a:p>
                      <a:r>
                        <a:rPr lang="en-US" sz="2000" dirty="0"/>
                        <a:t>20%</a:t>
                      </a:r>
                    </a:p>
                  </a:txBody>
                  <a:tcPr/>
                </a:tc>
                <a:extLst>
                  <a:ext uri="{0D108BD9-81ED-4DB2-BD59-A6C34878D82A}">
                    <a16:rowId xmlns:a16="http://schemas.microsoft.com/office/drawing/2014/main" val="419932767"/>
                  </a:ext>
                </a:extLst>
              </a:tr>
              <a:tr h="1237420">
                <a:tc>
                  <a:txBody>
                    <a:bodyPr/>
                    <a:lstStyle/>
                    <a:p>
                      <a:r>
                        <a:rPr lang="en-US" sz="2000" b="1" dirty="0"/>
                        <a:t>S</a:t>
                      </a:r>
                      <a:r>
                        <a:rPr lang="en-US" sz="2000" dirty="0"/>
                        <a:t>pecificity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Solution is perfectly specific; there are no questions that should be additionally answered. Transitions are clear. If there are any skipped steps, they are clearly understood to be trivially inferred by the reader. </a:t>
                      </a:r>
                    </a:p>
                  </a:txBody>
                  <a:tcPr/>
                </a:tc>
                <a:tc>
                  <a:txBody>
                    <a:bodyPr/>
                    <a:lstStyle/>
                    <a:p>
                      <a:r>
                        <a:rPr lang="en-US" sz="2000" dirty="0"/>
                        <a:t>20%</a:t>
                      </a:r>
                    </a:p>
                  </a:txBody>
                  <a:tcPr/>
                </a:tc>
                <a:extLst>
                  <a:ext uri="{0D108BD9-81ED-4DB2-BD59-A6C34878D82A}">
                    <a16:rowId xmlns:a16="http://schemas.microsoft.com/office/drawing/2014/main" val="2088430246"/>
                  </a:ext>
                </a:extLst>
              </a:tr>
              <a:tr h="790741">
                <a:tc>
                  <a:txBody>
                    <a:bodyPr/>
                    <a:lstStyle/>
                    <a:p>
                      <a:r>
                        <a:rPr lang="en-US" sz="2000" b="1" dirty="0"/>
                        <a:t>Conc</a:t>
                      </a:r>
                      <a:r>
                        <a:rPr lang="en-US" sz="2000" dirty="0"/>
                        <a:t>iseness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Writing is perfectly concise. There are no superfluous words and nothing is over-explained. </a:t>
                      </a:r>
                    </a:p>
                  </a:txBody>
                  <a:tcPr/>
                </a:tc>
                <a:tc>
                  <a:txBody>
                    <a:bodyPr/>
                    <a:lstStyle/>
                    <a:p>
                      <a:r>
                        <a:rPr lang="en-US" sz="2000" dirty="0"/>
                        <a:t>10%</a:t>
                      </a:r>
                    </a:p>
                  </a:txBody>
                  <a:tcPr/>
                </a:tc>
                <a:extLst>
                  <a:ext uri="{0D108BD9-81ED-4DB2-BD59-A6C34878D82A}">
                    <a16:rowId xmlns:a16="http://schemas.microsoft.com/office/drawing/2014/main" val="2979452813"/>
                  </a:ext>
                </a:extLst>
              </a:tr>
              <a:tr h="1129631">
                <a:tc>
                  <a:txBody>
                    <a:bodyPr/>
                    <a:lstStyle/>
                    <a:p>
                      <a:r>
                        <a:rPr lang="en-US" sz="2000" b="1" dirty="0"/>
                        <a:t>P</a:t>
                      </a:r>
                      <a:r>
                        <a:rPr lang="en-US" sz="2000" dirty="0"/>
                        <a:t>resentation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000" dirty="0"/>
                        <a:t>There are no typos in the proposed solution. The layout is not messy. All sentences are complete. Any math or code descriptions present flows cleanly with explanations.</a:t>
                      </a:r>
                    </a:p>
                  </a:txBody>
                  <a:tcPr/>
                </a:tc>
                <a:tc>
                  <a:txBody>
                    <a:bodyPr/>
                    <a:lstStyle/>
                    <a:p>
                      <a:r>
                        <a:rPr lang="en-US" sz="2000" dirty="0"/>
                        <a:t>10%</a:t>
                      </a:r>
                    </a:p>
                  </a:txBody>
                  <a:tcPr/>
                </a:tc>
                <a:extLst>
                  <a:ext uri="{0D108BD9-81ED-4DB2-BD59-A6C34878D82A}">
                    <a16:rowId xmlns:a16="http://schemas.microsoft.com/office/drawing/2014/main" val="234120830"/>
                  </a:ext>
                </a:extLst>
              </a:tr>
            </a:tbl>
          </a:graphicData>
        </a:graphic>
      </p:graphicFrame>
    </p:spTree>
    <p:extLst>
      <p:ext uri="{BB962C8B-B14F-4D97-AF65-F5344CB8AC3E}">
        <p14:creationId xmlns:p14="http://schemas.microsoft.com/office/powerpoint/2010/main" val="3933858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BBB0E-4558-5F7F-A9CF-CD7EF74AEAE2}"/>
              </a:ext>
            </a:extLst>
          </p:cNvPr>
          <p:cNvSpPr>
            <a:spLocks noGrp="1"/>
          </p:cNvSpPr>
          <p:nvPr>
            <p:ph type="title"/>
          </p:nvPr>
        </p:nvSpPr>
        <p:spPr/>
        <p:txBody>
          <a:bodyPr/>
          <a:lstStyle/>
          <a:p>
            <a:r>
              <a:rPr lang="en-US" dirty="0"/>
              <a:t>Do an example HW question</a:t>
            </a:r>
          </a:p>
        </p:txBody>
      </p:sp>
      <p:sp>
        <p:nvSpPr>
          <p:cNvPr id="3" name="Content Placeholder 2">
            <a:extLst>
              <a:ext uri="{FF2B5EF4-FFF2-40B4-BE49-F238E27FC236}">
                <a16:creationId xmlns:a16="http://schemas.microsoft.com/office/drawing/2014/main" id="{1A9C5B61-474D-E013-5E68-B7C294EBAF5C}"/>
              </a:ext>
            </a:extLst>
          </p:cNvPr>
          <p:cNvSpPr>
            <a:spLocks noGrp="1"/>
          </p:cNvSpPr>
          <p:nvPr>
            <p:ph idx="1"/>
          </p:nvPr>
        </p:nvSpPr>
        <p:spPr/>
        <p:txBody>
          <a:bodyPr/>
          <a:lstStyle/>
          <a:p>
            <a:r>
              <a:rPr lang="en-US" dirty="0"/>
              <a:t>Imagine you have a closet full of shirts. What can you do to organize your shirts for easy retrieval?</a:t>
            </a:r>
          </a:p>
          <a:p>
            <a:endParaRPr lang="en-US" dirty="0"/>
          </a:p>
        </p:txBody>
      </p:sp>
    </p:spTree>
    <p:extLst>
      <p:ext uri="{BB962C8B-B14F-4D97-AF65-F5344CB8AC3E}">
        <p14:creationId xmlns:p14="http://schemas.microsoft.com/office/powerpoint/2010/main" val="10908746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2" descr="data:image/jpeg;base64,/9j/4AAQSkZJRgABAQAAAQABAAD/2wCEAAkGBxIQEBUPEBIVEBUVDw8PEA8PEg8PFQ8PFRUWFhUVFRUYHSggGBolGxUVITEhJSkrLi4uFx8zODMtNygtLisBCgoKDg0OGhAQGy0lHSUuLS0rLS0tLS0tLS0tLS0tLS0tLS0tLS0tLS0tLS0tLS0tLS0tLS0tLS0tLS0tLS0tLf/AABEIAKgBLAMBIgACEQEDEQH/xAAcAAABBQEBAQAAAAAAAAAAAAADAQIEBQYABwj/xAA/EAACAQIEAwUECAMHBQAAAAABAgADEQQSITEFQVEGEyJhcTKBkaEHFEJSU7HB0UNy8BUjM2KiwuEWgoOjsv/EABoBAAMBAQEBAAAAAAAAAAAAAAABAgMEBQb/xAArEQACAgEDBAECBgMAAAAAAAAAAQIRAwQSIRMxQVEFIiMUM3GhsdFhgfD/2gAMAwEAAhEDEQA/APT4onARbSbNaOEcJwEUCFhRwEeBOAjwIWFCARwEUCPCxWFDQI4COAjgIWFDQI4COCxbQsKG2i2jrRbQsBtp1o+060LAbadaOtOtCwGWiGPMaYWFDGgmhGgnMVlJAajSJVeGrNK+u8TZaiNqVIPvJFrVIBK+shstIt6ZkukZV0asnUqkEwaJymPgKbQwMtMyaHGNMWIZVk0MMY0IYNoBQJoNoVoNoWOgLQRhmgjFY6LQCLaKBFAk2KhAI4CcI8CFhRwEeBOAjwIWFHAR4E4CPAhYCARwEUCKBCxCWi2i2igQsViWnWjwJ1oybG2nWj7TrQCxloloS0QiILBGMaFZYJ5LkWgTtAO0LUkSq0hzOiEbA12lRjMRaTcVVma4piSLzN5UbrExa+K1i0qgMoTiSTC0azX0kvKi1iZoqNexljh6t5n8OxlthWMpZES8TLqk0kq0raTGS6ZmsZ2YyxkoGLGLHy0zJxEMY0eY0x2TQJhBMIdhBsIWOgDCCIh3gTFZSRaCLG3i3kWTQ8RwjAY4GLcPaEEIIIGPBhuE0FEeBBqYRTGmQxwEdaII4SrM2cBFnToxHRQIkw/HO27rUajh6dsrFTUcZiSOarsPfeXCLk6QJNm6nTxPjvbDFIVtiHDXuQrWHkCo0nofAe0TVwtRWFRGyh0OlTDsdwbbi/Ubc5csbQ5RaSZqYkWdM2iRpEFUWFMg8V4nSw65qpte+VQLliBc2/5nPkLjbfADGV1QAuwS5CgsQt2OwF+ci1jMXX4keI4umtsoFT2R+EpLG/nYflNhiGnLllsq3yzvxxohYkyi4hRBlti3lZVM4cuX0erghxyUxwkl4bCSQqSTRW0UcjZtKEUFw+HAk6koEjpDqZ0RZzTJlMSQsiU2khGnVCRyTiSFMIIBWhFabKRzuISNM7NEJl7iNo0wbR5MG5hYbQTwBMJUMjs0VlKJahouaRhUi95IchqBIzRc8imrE72Q5F9Mmh4RXletaGSpFuJljLBWhFaQkqQyvKUjCUCYrR4Miq8ItSWpmLiHvFgg0pO2fF2wuFLobOzCmrfdvck+tgZSlbolRbdFlxLitGip7yqiGxsGYA/DeePcd4gvjq03zXqEHKTfX5bTJ8V4wzM1zfUm7eInrqZIxeBqDAvWJ3qU0ygWykpm/VfjOnDOp7V3/o2njUI3ZHqYwHW2t9yYXA8WNE5kqFT1BMza0W5kn4yZhsAzbLfrtN5SZkuXyb7B9v8AE1KiB67sAy3ChEuARcaAXnq/Bu0tPEt3YSpSYglRVUANbexB3ngfDeFODfwi3U7T1f6P8FUd+/e+VAVUn7TkW09Bf4ickksfPs6J1KHK7G+MxX0ikgUzyy1B6Hw3/rymzJmN+kU+Cl/5fyWcmSf1Iz06+tf7/gz30dYbNVrVj9hMo/mc7/BD8Zq8S+soPo5JCYhbc6Rv19uW+LfWeJ8jmazV+h6WONzaIOLqSCWjsU9zAAzBTbZ6+OFIOkkJISVJIR51Y2KcWS0aGQyKjQqvOlHPKJNRodGkJHh0abxZzSiSlaEDyH3sUVZqpGTgTQ8XNIqvH55qmZuIVmgXaNepAvUlWTtEqvIjVNYtWrIFStrIbNFEtxWiNXlUcYICrxEDnK6cn4DfFFs+KtAPjpnsTxxBuwlbW48t9DeXHSTl4M56zFHybOnxAdZPo4sHnPOk40DLPh/GQDYmaS0M0rRnHXYpOrN7TryQlWZ/B44MN5ZUq05njlHubtRlyi0WrHirK9akeKslpmTxFgKsq+0+A+t4dqQ9rR0v94QwqweJxRRbjcmwjxwlKaUe5nOKgtzPn/tNwWrRdro3O621H7jznofAqC1cKKNVLo2Hw9e50tUIC29fCPhJfHsY9R+7qEFb/dUH47yu7QVzSRKakgqiJppqBr87z1MGFvKpdmrv9jk1GddP9aoiY7hGEw4zsrOTfJTuTnYctOXnMfw/h+JLlyxp3JNgFtqb2AubCaHvajrc3qEGw52vv+Qk7AI7Mqmmy3YC9iLX8yLTzvkdTqIZHDHHj2dGjx45QUpPkuOw/YxKxNepUZtcr5muTex6aT1PD0VpoEQBVAsAOUquzuBGHpWBDEm5IIIHQS0Lzznq/M3bFldyqPYeWmH+kirpSHlVP/xNizzz76R6pNRAOVO49Sxv+QmOHUdXPGK/7gvTqpWS+w7AYWo3Wrb4Kv7wuLramU/ZjE5cKVv/ABWP+lY7EYyedrLlq5L1/R7OmwN/ULVa5jLyP9YEBXxoHOawg3wj0HUVySXq2haWIEzWK40gNsw+MDh+MAHfSenh0k6ujhy63GnSZuKdS8OszOF4up5ywp8UXqJs8El4IWog/Jdho8VZS/2ovWIeJDrKjhl6Illh7LzvY9asoVx3nDpipqsTRHUiy7Faca0qBjIjY0dZrHGzCU0Wj1pGqYiVdXiIHOV+I4uo5zVYJPwZSzwXkt6+JlZVxespMXxwdZTVeP6zRaOfowlrsa8lnU4q/WQMRj2O7GQGxMjVa09vpxXg+alqZy8hq2J13gRiJCq1INakzcuSeWi9w9eWuGqTN4arLjB1ppFWhxyU6NJgsWV2Mv8AB8U85kqLyZSeZzwRn3O7Dq5Q7G2pY4HnJK4oTG0cUwklMeZyS0K8How+QXk1gxIjMVUVlve1j8ZmTjzJeCrZ0N+Tr84oaTZJSFm1kZwcULicMjVBVPsqM79NNh7zaZLjuIz1Pff3zU8ar5KYXkdb+nL5zH1mDGdUYqLbPOyStKJ1JWyeE67j1+X5yPT41XU2dspDEG6MQABfSzknrsNNdLEAfE0qBqRU2y1LFQwUo5tZmuPZylgdD7Q0PIGCoWo/3hAtUakVdgxZLWYNfdTUuRrqp5A2nC8n1Nvsd0YPaku5sOzXarEKpuEZS1wSrLdRoDa/r8Jv8LxUVKa1BpmF7dDzE8vR0AsrLy5jW+0fS409BlCtcEG63uDY8x754+r+PWpdx4l/J1qcYr6kelVuJATEdtMVnZD0Vh87yanE6VQKQ92Nr0kVmIPPXTlI/aSijUTUsFKAWy6A3Yb3nFoPidTDN1JqlH9+H2OiefTxilF23+36lXw3EhaBsdM5N/cJS8R46FJAuZKxtRRgqxtZkKMrAn7TqpBF7EamYSvXvPQXx0OrLLLmx5fk5QxrHj49st8V2jqbL4ZU4jidV/acyC9SNzTtx4IR7I8jLqcmTvJhhVPWGpVD1Mhgw6NOzGkcWSTJ1PEsNiYZeIVB9oyEhjwZ0bYvwc/UmvJOXiVTmxk/DcXI0NzKS8cryljj6GtRkj2ZqKfGwIdeP9JkjVj1rQWDG/Bp+PzLya3+3TGtxVjzmZXExzYozVYYLsiJa3K+7LmvxAnnK+vix1lbVrmRK2IMb2xM985knE4qVdXF6wGJxMgs5M5Mubng6cWn8s9hbs6jbj4XEi43skLXUkeW82NNec7Nc2mu5ldLG/B5XjeztddVXMPKVpwVVTqhHunttPDJbWRsXwZX2AkCeH0zyGiGG4I9ZaYR5tsR2fHNflIFTgYGwtN8eRI5p6ad2iDQaTaRMVMARDJRI5TVNBtku4qmGUxFWGVYy0Mk7heIynuyPbZbHoZHCQlFbMp6MD85MlaKTdltxTDrUpFW6ixG4MosBwQJUDsc/wB0WtbzPnNFj/Zt/mH6yIDrPNzzd14O/FBVZi+0qM4/u21WrmKAqCW+w1ztlYh/+2R8DTZFqq7C31hGUZlOY5w7uCPvXvbqDJ2Jx4V8igu51yjQAG+rHkND1iVGqGjU7zLmyOVyXGmW4BHUHznLfFHRSuyWldco8S7LzHMSs4mQ2UqQbNqAQTlOn52kuo7lF7vLe+ucH2BfYC2u0DQxl3COuR9SBuCBa5U9NRvaEXTTKkrTQXhDPTqB8hI1DWB0U6XHpLPjvFadWn3VI3FwXbUDTULr52kbFUS25J9SZWYqll8PXWd2dOMDiwNPIkVnEcWRhq1IjxNVRQeWQNnv6+ED3zKVKbTZVsDmA5/1aRG4XIhp90UzLU52sjSMkaTRRQaag8L8oo4bblNVpTkepl6M0MMY8YczTjhsevDJosCIeab8GaSk0KKZmiHDLR68NlrHRO6T8GdFEmEXDmaROHDpDDAAcpSikG2TMyuFPSO+rGaM4QRBhJSoTxv2Z8YY9IjYczRnDeUE+GjsOkzNvSkarh7zTNgx0gXwI6RNJgozRk6mBgTgZqauBkRsLrMngizVZ5rueru9hIpr66Q9VA2hiCmBCjqbOWobAkn0kyhiLbSG4JhqNrecGgTLH6wDuIxKQP7SIBvrCYfEA6cxIcS1NjqmCHSAqcOMslbn0hS17CK2i+H3KF8HblGjDzQ1FG2+kB3K21tKWRkvHEqBRjhSl02CTL5wf1K3nH1RdIi4utcaAnW+gJ+QkelSdtltfS7ECWPdhQW2sCTfoBczMnH1C+cMQeVvsjlpzmLxKbst5XjVCVeEBXOuo8N7ct5x4aCCM24ttM7iuI4su18RY5iDZaQ/2wnDcfXFVe8rs6lspBCAa6X0Ag9Ml4IWqvyXlHhQVQoYm3kJzcNW4JJvtfS4B3/KUnG2r06zL9YqAHxKFa1geWnneB4dxKpRqCo1V6oG6OxYEc9Dzi6Cfgv8Q15Ne+GA08rSi49SylfMN8iP3mtZAdRqCAR6GUHaujZEb/Oy/EX/ANsvUflsWD81Mg8No5qfozCGOFi9kW7yi191qH9R+kt2w8vC/toz1EfuMpjhBGnCS5+rxPq82OfaVAwkeMNLTuI4UYWPYVYwvlHDCS07md3cLHsK76vGmjLBqcGUiKorzRid1JrJGFIyaIbUoJqUmssGyxiohNSg2pSaVg2WAUV9SjIzUJZusjssBUa284QYOsdfmZBqEJiZ9RvvacNd+VoAISwuLknQi5VQP1MAJisBoSB06mEVsp8I5XvAVaSLZi1zmsMw9m+lgeUblRrMCfCx+0y3O1iAbEeskZMrVDYa3G+nL1gK+IdfYXOSQNfDlHWNpVW5jmAAOZ8ugiiob+I77eW2kdBZKGKAW7bje2sealxt5iQKLKGy/e1Ps2J1/QQuICuljsTlupIyka7/AKRUOyWK7EAc+nSOOJNrHl03J6Sm+tCm6UarXd79058AqEakWHO2vnJygqpbVszAnVmN1GlrRUh2SsXib0alhY924IOlhaZWnL/FNlpXJANRHIBa5NgbgAzOFvAf5W/KVBUZ5HbM/iWBqsf8x5+cdhUBqKoGpdQNfOVo/q8bWxLUkapTOVlUlWsDbkd/K8uXCs5YyTaRpe0lVDXta5CKDrz1P6iU+XMQqg6kAAa3J0Ags2bxG5J1JOpJ63kng9W2IpHX/FTbU72mdNI6FJN2en06GRFT7qKvwFpUdrKV8KT910b55f1kl+OKHbvaVWiqqp7yqAQxJtoFJsNRB8UxVOvhK4Q3KoSykFSMpvsf5TMpS3QZ1RW2aKPsIAGrJfez295/ealqcx3YitbEsv3qbD3izfpNu0NO/toepX3GRjTid3DmJNzAD3cTJD2jTEOgRSMZYZjBMYACZYNhCs0EzxoTBMIJxH1KkjvUlIhnNBtGtUgmqRkj2gnMa1SCZ4xWK5gTOZ4EvALNYtv+YhU9N9R5xFHlCGpcm+nLT00mZodUp2O+2lzfc7xtSmvhuSxHO55jcgaH9I87fO39e+Ra9PMLA2JIve58I3A6QGSCo6fG0U0tPAwGt2GXNcc+fzg06Wv63iGnqG10uLbaGAEw2UXF/fa0DRSw9kkg6MxLEg76n0G86sbhQpI+9fp5RSxGvLygAVXXRjbS+gCgeXLW0Zm0H2rXOtiVOnLbaMtcbbiJQpBRbzJPmfOFBYurgM6gc8pObL09+/xkimCBdbAi5tfYSKjMW8rdNb/tD94bW90QxtfQa6gqBa3M6aH0Mz9ai6koAWuDlNtxbn5zSu91sYJALykyJKzzanw+tewpt7xYfGOXhFWsrLlKg+BiQQQDpcDnPR3sYMLrL3f4MVhSd2UR7MU7WDP9mwuNud9JJwvZumlRWW/hIYFiT4rggn0t85bjSOR+chm0UkSqguLMQTbpuZDFEqKgPi7zKSLbW5xTUF951SqeXSZ7DZZGVmC4KtHEJiEcAXN6diLAgg2PvmlbrKpKd/EeW0WgKjkkNlt02PukpbO3Ypve+e5PMS85Hu2U6efnCVqNtjeXvRGxgS0YXisp6QLGMQ5ngXaNZoNngKxWaCZpxeCZpSExrmAcx7tAO0ZDGu0CzzqjQDNKJY5mgXeczwLNGSK7wfeRjNBFoE2bsaWudL39YlRgNvXraLOmSOlgKtQ5cyne294ZRoAIs6DA4g38ucNp1nTomCGNbb5yMWqB7XuvnEnQAlU3JNoakLXzTp0TKQ21topawnToxDAxnIesWdKJOnCdOgAgvEDcp06AAjR1vH1jpOnQAfRcFdYegwUWESdE0UmdUe2sGuILb6RZ0ii0yVQxHIxtakDqDadOkdnwad1yQqi2gGnTpomZNUBeBczp0pEMLgsGazEA5bLcki/ykhuAk/xP9DfvOnTKc2nSLjBNAW7PN+J/6z+8G3ZxvxOv8M8vfEnSerIOnEYezZ/E6fw2/eMfsy34nO3+G37zp0fVkLpRBt2Xb8Xr/Dbl74z/AKSY/wAYe+mR+s6dDqyF0on/2Q==">
            <a:extLst>
              <a:ext uri="{FF2B5EF4-FFF2-40B4-BE49-F238E27FC236}">
                <a16:creationId xmlns:a16="http://schemas.microsoft.com/office/drawing/2014/main" id="{23DBD563-B82A-9763-0B41-2EE25650E875}"/>
              </a:ext>
            </a:extLst>
          </p:cNvPr>
          <p:cNvPicPr>
            <a:picLocks noChangeAspect="1" noChangeArrowheads="1"/>
          </p:cNvPicPr>
          <p:nvPr/>
        </p:nvPicPr>
        <p:blipFill>
          <a:blip r:embed="rId2">
            <a:alphaModFix/>
            <a:extLst>
              <a:ext uri="{28A0092B-C50C-407E-A947-70E740481C1C}">
                <a14:useLocalDpi xmlns:a14="http://schemas.microsoft.com/office/drawing/2010/main" val="0"/>
              </a:ext>
            </a:extLst>
          </a:blip>
          <a:srcRect t="3600" r="-1" b="10399"/>
          <a:stretch>
            <a:fillRect/>
          </a:stretch>
        </p:blipFill>
        <p:spPr bwMode="auto">
          <a:xfrm>
            <a:off x="4547937" y="-5"/>
            <a:ext cx="7644062" cy="368140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Enigmatic History of the Labyrinth: Myths, Mysteries, and Realities -  Hamradio.my">
            <a:extLst>
              <a:ext uri="{FF2B5EF4-FFF2-40B4-BE49-F238E27FC236}">
                <a16:creationId xmlns:a16="http://schemas.microsoft.com/office/drawing/2014/main" id="{E871C6E5-3DD4-BE9E-0CF5-183061D301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2788" r="-1" b="23333"/>
          <a:stretch>
            <a:fillRect/>
          </a:stretch>
        </p:blipFill>
        <p:spPr bwMode="auto">
          <a:xfrm>
            <a:off x="4547938" y="3681409"/>
            <a:ext cx="7644062" cy="317659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ADD294E-2EE2-2A34-2D03-8ED0473C0CC7}"/>
              </a:ext>
            </a:extLst>
          </p:cNvPr>
          <p:cNvSpPr>
            <a:spLocks noGrp="1"/>
          </p:cNvSpPr>
          <p:nvPr>
            <p:ph type="title"/>
          </p:nvPr>
        </p:nvSpPr>
        <p:spPr>
          <a:xfrm>
            <a:off x="838200" y="1115219"/>
            <a:ext cx="5395912" cy="2387600"/>
          </a:xfrm>
        </p:spPr>
        <p:txBody>
          <a:bodyPr vert="horz" lIns="91440" tIns="45720" rIns="91440" bIns="45720" rtlCol="0" anchor="b">
            <a:normAutofit/>
          </a:bodyPr>
          <a:lstStyle/>
          <a:p>
            <a:r>
              <a:rPr lang="en-US" sz="5000" kern="1200">
                <a:solidFill>
                  <a:schemeClr val="bg1"/>
                </a:solidFill>
                <a:latin typeface="+mj-lt"/>
                <a:ea typeface="+mj-ea"/>
                <a:cs typeface="+mj-cs"/>
              </a:rPr>
              <a:t>Traversals</a:t>
            </a:r>
          </a:p>
        </p:txBody>
      </p:sp>
      <p:sp>
        <p:nvSpPr>
          <p:cNvPr id="3" name="Text Placeholder 2">
            <a:extLst>
              <a:ext uri="{FF2B5EF4-FFF2-40B4-BE49-F238E27FC236}">
                <a16:creationId xmlns:a16="http://schemas.microsoft.com/office/drawing/2014/main" id="{F88AA06E-AD66-2389-8F69-6CFAB036B05F}"/>
              </a:ext>
            </a:extLst>
          </p:cNvPr>
          <p:cNvSpPr>
            <a:spLocks noGrp="1"/>
          </p:cNvSpPr>
          <p:nvPr>
            <p:ph type="body" idx="1"/>
          </p:nvPr>
        </p:nvSpPr>
        <p:spPr>
          <a:xfrm>
            <a:off x="838200" y="3902075"/>
            <a:ext cx="5395912" cy="1655762"/>
          </a:xfrm>
        </p:spPr>
        <p:txBody>
          <a:bodyPr vert="horz" lIns="91440" tIns="45720" rIns="91440" bIns="45720" rtlCol="0">
            <a:normAutofit/>
          </a:bodyPr>
          <a:lstStyle/>
          <a:p>
            <a:endParaRPr lang="en-US" sz="2000" kern="1200">
              <a:solidFill>
                <a:schemeClr val="bg1"/>
              </a:solidFill>
              <a:latin typeface="+mn-lt"/>
              <a:ea typeface="+mn-ea"/>
              <a:cs typeface="+mn-cs"/>
            </a:endParaRPr>
          </a:p>
        </p:txBody>
      </p:sp>
      <p:cxnSp>
        <p:nvCxnSpPr>
          <p:cNvPr id="14" name="Straight Connector 13">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6724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3F84650-2AB5-2CC3-95B4-16AE82B75577}"/>
              </a:ext>
            </a:extLst>
          </p:cNvPr>
          <p:cNvSpPr>
            <a:spLocks noGrp="1"/>
          </p:cNvSpPr>
          <p:nvPr>
            <p:ph type="title"/>
          </p:nvPr>
        </p:nvSpPr>
        <p:spPr/>
        <p:txBody>
          <a:bodyPr/>
          <a:lstStyle/>
          <a:p>
            <a:r>
              <a:rPr lang="en-US" dirty="0"/>
              <a:t>What is traversal?</a:t>
            </a:r>
          </a:p>
        </p:txBody>
      </p:sp>
      <p:sp>
        <p:nvSpPr>
          <p:cNvPr id="5" name="Content Placeholder 4">
            <a:extLst>
              <a:ext uri="{FF2B5EF4-FFF2-40B4-BE49-F238E27FC236}">
                <a16:creationId xmlns:a16="http://schemas.microsoft.com/office/drawing/2014/main" id="{8E661FF2-C46D-2189-0F83-9D7F75444005}"/>
              </a:ext>
            </a:extLst>
          </p:cNvPr>
          <p:cNvSpPr>
            <a:spLocks noGrp="1"/>
          </p:cNvSpPr>
          <p:nvPr>
            <p:ph idx="1"/>
          </p:nvPr>
        </p:nvSpPr>
        <p:spPr/>
        <p:txBody>
          <a:bodyPr>
            <a:normAutofit/>
          </a:bodyPr>
          <a:lstStyle/>
          <a:p>
            <a:r>
              <a:rPr lang="en-US" dirty="0"/>
              <a:t>travel across or through</a:t>
            </a:r>
          </a:p>
          <a:p>
            <a:r>
              <a:rPr lang="en-US" dirty="0"/>
              <a:t>move (something) back and forth or sideways</a:t>
            </a:r>
          </a:p>
          <a:p>
            <a:endParaRPr lang="en-US" dirty="0"/>
          </a:p>
          <a:p>
            <a:r>
              <a:rPr lang="en-US" dirty="0"/>
              <a:t>For graphs: this is equivalent to </a:t>
            </a:r>
          </a:p>
          <a:p>
            <a:pPr lvl="1"/>
            <a:r>
              <a:rPr lang="en-US" sz="2800" dirty="0"/>
              <a:t>"searching"</a:t>
            </a:r>
          </a:p>
          <a:p>
            <a:pPr lvl="1"/>
            <a:r>
              <a:rPr lang="en-US" sz="2800" dirty="0"/>
              <a:t>"querying"</a:t>
            </a:r>
          </a:p>
          <a:p>
            <a:r>
              <a:rPr lang="en-US" dirty="0"/>
              <a:t>We want to record/process/visit every vertex in the graph.</a:t>
            </a:r>
          </a:p>
        </p:txBody>
      </p:sp>
    </p:spTree>
    <p:extLst>
      <p:ext uri="{BB962C8B-B14F-4D97-AF65-F5344CB8AC3E}">
        <p14:creationId xmlns:p14="http://schemas.microsoft.com/office/powerpoint/2010/main" val="6266479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548D98-E2F2-3EA6-8C0B-ACDF985F902A}"/>
              </a:ext>
            </a:extLst>
          </p:cNvPr>
          <p:cNvSpPr>
            <a:spLocks noGrp="1"/>
          </p:cNvSpPr>
          <p:nvPr>
            <p:ph type="title"/>
          </p:nvPr>
        </p:nvSpPr>
        <p:spPr/>
        <p:txBody>
          <a:bodyPr/>
          <a:lstStyle/>
          <a:p>
            <a:r>
              <a:rPr lang="en-US" dirty="0"/>
              <a:t>Easy way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F055E66-3853-891F-F3B7-1BEDC23CF377}"/>
                  </a:ext>
                </a:extLst>
              </p:cNvPr>
              <p:cNvSpPr>
                <a:spLocks noGrp="1"/>
              </p:cNvSpPr>
              <p:nvPr>
                <p:ph idx="1"/>
              </p:nvPr>
            </p:nvSpPr>
            <p:spPr/>
            <p:txBody>
              <a:bodyPr/>
              <a:lstStyle/>
              <a:p>
                <a:r>
                  <a:rPr lang="en-US" dirty="0"/>
                  <a:t>Iterate through the set of vertices</a:t>
                </a:r>
              </a:p>
              <a:p>
                <a:r>
                  <a:rPr lang="en-US" dirty="0"/>
                  <a:t>or</a:t>
                </a:r>
              </a:p>
              <a:p>
                <a:r>
                  <a:rPr lang="en-US" dirty="0"/>
                  <a:t>Iterate through the set of edges </a:t>
                </a:r>
              </a:p>
              <a:p>
                <a:endParaRPr lang="en-US" dirty="0"/>
              </a:p>
              <a:p>
                <a:r>
                  <a:rPr lang="en-US" dirty="0"/>
                  <a:t>Pros:</a:t>
                </a:r>
              </a:p>
              <a:p>
                <a:pPr lvl="1"/>
                <a:r>
                  <a:rPr lang="en-US" dirty="0"/>
                  <a:t>O(V) or O(E)</a:t>
                </a:r>
              </a:p>
              <a:p>
                <a:pPr lvl="2"/>
                <a:r>
                  <a:rPr lang="en-US" dirty="0"/>
                  <a:t>Professionally,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e>
                    </m:d>
                  </m:oMath>
                </a14:m>
                <a:r>
                  <a:rPr lang="en-US" dirty="0"/>
                  <a:t> and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𝐸</m:t>
                            </m:r>
                          </m:e>
                        </m:d>
                      </m:e>
                    </m:d>
                  </m:oMath>
                </a14:m>
                <a:r>
                  <a:rPr lang="en-US" dirty="0"/>
                  <a:t>. |A| = the cardinality (size) of set A.</a:t>
                </a:r>
              </a:p>
              <a:p>
                <a:r>
                  <a:rPr lang="en-US" dirty="0"/>
                  <a:t>Cons:</a:t>
                </a:r>
              </a:p>
              <a:p>
                <a:pPr lvl="1"/>
                <a:r>
                  <a:rPr lang="en-US" dirty="0"/>
                  <a:t>Does not take edges/connections into account.</a:t>
                </a:r>
              </a:p>
            </p:txBody>
          </p:sp>
        </mc:Choice>
        <mc:Fallback xmlns="">
          <p:sp>
            <p:nvSpPr>
              <p:cNvPr id="3" name="Content Placeholder 2">
                <a:extLst>
                  <a:ext uri="{FF2B5EF4-FFF2-40B4-BE49-F238E27FC236}">
                    <a16:creationId xmlns:a16="http://schemas.microsoft.com/office/drawing/2014/main" id="{FF055E66-3853-891F-F3B7-1BEDC23CF377}"/>
                  </a:ext>
                </a:extLst>
              </p:cNvPr>
              <p:cNvSpPr>
                <a:spLocks noGrp="1" noRot="1" noChangeAspect="1" noMove="1" noResize="1" noEditPoints="1" noAdjustHandles="1" noChangeArrowheads="1" noChangeShapeType="1" noTextEdit="1"/>
              </p:cNvSpPr>
              <p:nvPr>
                <p:ph idx="1"/>
              </p:nvPr>
            </p:nvSpPr>
            <p:spPr>
              <a:blipFill>
                <a:blip r:embed="rId2"/>
                <a:stretch>
                  <a:fillRect l="-1086" t="-2326"/>
                </a:stretch>
              </a:blipFill>
            </p:spPr>
            <p:txBody>
              <a:bodyPr/>
              <a:lstStyle/>
              <a:p>
                <a:r>
                  <a:rPr lang="en-US">
                    <a:noFill/>
                  </a:rPr>
                  <a:t> </a:t>
                </a:r>
              </a:p>
            </p:txBody>
          </p:sp>
        </mc:Fallback>
      </mc:AlternateContent>
    </p:spTree>
    <p:extLst>
      <p:ext uri="{BB962C8B-B14F-4D97-AF65-F5344CB8AC3E}">
        <p14:creationId xmlns:p14="http://schemas.microsoft.com/office/powerpoint/2010/main" val="3081529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24309-E97E-7CE0-7986-C19E5446A310}"/>
              </a:ext>
            </a:extLst>
          </p:cNvPr>
          <p:cNvSpPr>
            <a:spLocks noGrp="1"/>
          </p:cNvSpPr>
          <p:nvPr>
            <p:ph type="title"/>
          </p:nvPr>
        </p:nvSpPr>
        <p:spPr/>
        <p:txBody>
          <a:bodyPr/>
          <a:lstStyle/>
          <a:p>
            <a:r>
              <a:rPr lang="en-US" dirty="0"/>
              <a:t>Less Easy Way</a:t>
            </a:r>
          </a:p>
        </p:txBody>
      </p:sp>
      <p:sp>
        <p:nvSpPr>
          <p:cNvPr id="3" name="Content Placeholder 2">
            <a:extLst>
              <a:ext uri="{FF2B5EF4-FFF2-40B4-BE49-F238E27FC236}">
                <a16:creationId xmlns:a16="http://schemas.microsoft.com/office/drawing/2014/main" id="{EBDF62CC-D8BA-8C79-82A5-AB8F2EDA4381}"/>
              </a:ext>
            </a:extLst>
          </p:cNvPr>
          <p:cNvSpPr>
            <a:spLocks noGrp="1"/>
          </p:cNvSpPr>
          <p:nvPr>
            <p:ph idx="1"/>
          </p:nvPr>
        </p:nvSpPr>
        <p:spPr/>
        <p:txBody>
          <a:bodyPr>
            <a:normAutofit/>
          </a:bodyPr>
          <a:lstStyle/>
          <a:p>
            <a:r>
              <a:rPr lang="en-US" dirty="0"/>
              <a:t>Devise an algorithm to iterate through the entire graph, depending on the edges present.</a:t>
            </a:r>
          </a:p>
          <a:p>
            <a:endParaRPr lang="en-US" dirty="0"/>
          </a:p>
          <a:p>
            <a:r>
              <a:rPr lang="en-US" dirty="0"/>
              <a:t>Two main algorithms:</a:t>
            </a:r>
          </a:p>
          <a:p>
            <a:pPr lvl="1"/>
            <a:r>
              <a:rPr lang="en-US" sz="2800" dirty="0"/>
              <a:t>BFS = Breadth-First-Search</a:t>
            </a:r>
          </a:p>
          <a:p>
            <a:pPr lvl="1"/>
            <a:r>
              <a:rPr lang="en-US" sz="2800" dirty="0"/>
              <a:t>DFS = Depth-First-Search</a:t>
            </a:r>
          </a:p>
          <a:p>
            <a:pPr lvl="1"/>
            <a:endParaRPr lang="en-US" sz="2800" dirty="0"/>
          </a:p>
        </p:txBody>
      </p:sp>
    </p:spTree>
    <p:extLst>
      <p:ext uri="{BB962C8B-B14F-4D97-AF65-F5344CB8AC3E}">
        <p14:creationId xmlns:p14="http://schemas.microsoft.com/office/powerpoint/2010/main" val="12713830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BB06B-9F61-F073-F4AC-773F471E8468}"/>
              </a:ext>
            </a:extLst>
          </p:cNvPr>
          <p:cNvSpPr>
            <a:spLocks noGrp="1"/>
          </p:cNvSpPr>
          <p:nvPr>
            <p:ph type="title"/>
          </p:nvPr>
        </p:nvSpPr>
        <p:spPr/>
        <p:txBody>
          <a:bodyPr/>
          <a:lstStyle/>
          <a:p>
            <a:r>
              <a:rPr lang="en-US" dirty="0"/>
              <a:t>What do you get out of this?</a:t>
            </a:r>
          </a:p>
        </p:txBody>
      </p:sp>
      <p:sp>
        <p:nvSpPr>
          <p:cNvPr id="3" name="Content Placeholder 2">
            <a:extLst>
              <a:ext uri="{FF2B5EF4-FFF2-40B4-BE49-F238E27FC236}">
                <a16:creationId xmlns:a16="http://schemas.microsoft.com/office/drawing/2014/main" id="{244F69C6-0544-2671-CD8D-A5798EC23A3D}"/>
              </a:ext>
            </a:extLst>
          </p:cNvPr>
          <p:cNvSpPr>
            <a:spLocks noGrp="1"/>
          </p:cNvSpPr>
          <p:nvPr>
            <p:ph idx="1"/>
          </p:nvPr>
        </p:nvSpPr>
        <p:spPr/>
        <p:txBody>
          <a:bodyPr/>
          <a:lstStyle/>
          <a:p>
            <a:r>
              <a:rPr lang="en-US" dirty="0"/>
              <a:t>List of nodes in some order, </a:t>
            </a:r>
          </a:p>
          <a:p>
            <a:pPr lvl="1"/>
            <a:r>
              <a:rPr lang="en-US" dirty="0"/>
              <a:t>Like a tree traversal: preorder, </a:t>
            </a:r>
            <a:r>
              <a:rPr lang="en-US" dirty="0" err="1"/>
              <a:t>inorder</a:t>
            </a:r>
            <a:r>
              <a:rPr lang="en-US" dirty="0"/>
              <a:t>, </a:t>
            </a:r>
            <a:r>
              <a:rPr lang="en-US" dirty="0" err="1"/>
              <a:t>postorder</a:t>
            </a:r>
            <a:r>
              <a:rPr lang="en-US" dirty="0"/>
              <a:t>, level order</a:t>
            </a:r>
          </a:p>
          <a:p>
            <a:r>
              <a:rPr lang="en-US" dirty="0"/>
              <a:t>A spanning tree</a:t>
            </a:r>
          </a:p>
          <a:p>
            <a:pPr lvl="1"/>
            <a:r>
              <a:rPr lang="en-US" dirty="0"/>
              <a:t>A </a:t>
            </a:r>
            <a:r>
              <a:rPr lang="en-US" i="1" dirty="0"/>
              <a:t>subgraph </a:t>
            </a:r>
            <a:r>
              <a:rPr lang="en-US" dirty="0"/>
              <a:t>that is a tree, such that every vertex of original graph is included</a:t>
            </a:r>
          </a:p>
          <a:p>
            <a:pPr lvl="1"/>
            <a:r>
              <a:rPr lang="en-US" dirty="0"/>
              <a:t>Which may include </a:t>
            </a:r>
            <a:r>
              <a:rPr lang="en-US" i="1" dirty="0"/>
              <a:t>back edges</a:t>
            </a:r>
            <a:r>
              <a:rPr lang="en-US" dirty="0"/>
              <a:t> as you go through the algorithm</a:t>
            </a:r>
          </a:p>
          <a:p>
            <a:endParaRPr lang="en-US" dirty="0"/>
          </a:p>
          <a:p>
            <a:r>
              <a:rPr lang="en-US" dirty="0"/>
              <a:t>The act of processing each vertex in the graph</a:t>
            </a:r>
          </a:p>
          <a:p>
            <a:pPr lvl="1"/>
            <a:r>
              <a:rPr lang="en-US" dirty="0"/>
              <a:t>You can attach operations to each visiting step as needed.</a:t>
            </a:r>
          </a:p>
        </p:txBody>
      </p:sp>
    </p:spTree>
    <p:extLst>
      <p:ext uri="{BB962C8B-B14F-4D97-AF65-F5344CB8AC3E}">
        <p14:creationId xmlns:p14="http://schemas.microsoft.com/office/powerpoint/2010/main" val="32458084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DBD87F-046F-FA4D-4DBF-E268BDCE5CE0}"/>
              </a:ext>
            </a:extLst>
          </p:cNvPr>
          <p:cNvSpPr>
            <a:spLocks noGrp="1"/>
          </p:cNvSpPr>
          <p:nvPr>
            <p:ph type="title"/>
          </p:nvPr>
        </p:nvSpPr>
        <p:spPr/>
        <p:txBody>
          <a:bodyPr/>
          <a:lstStyle/>
          <a:p>
            <a:r>
              <a:rPr lang="en-US" dirty="0"/>
              <a:t>Vertex Status</a:t>
            </a:r>
          </a:p>
        </p:txBody>
      </p:sp>
      <p:sp>
        <p:nvSpPr>
          <p:cNvPr id="3" name="Content Placeholder 2">
            <a:extLst>
              <a:ext uri="{FF2B5EF4-FFF2-40B4-BE49-F238E27FC236}">
                <a16:creationId xmlns:a16="http://schemas.microsoft.com/office/drawing/2014/main" id="{6FFCAA0E-5392-6276-7AEE-E79A67BA9A8E}"/>
              </a:ext>
            </a:extLst>
          </p:cNvPr>
          <p:cNvSpPr>
            <a:spLocks noGrp="1"/>
          </p:cNvSpPr>
          <p:nvPr>
            <p:ph idx="1"/>
          </p:nvPr>
        </p:nvSpPr>
        <p:spPr/>
        <p:txBody>
          <a:bodyPr>
            <a:normAutofit/>
          </a:bodyPr>
          <a:lstStyle/>
          <a:p>
            <a:r>
              <a:rPr lang="en-US" dirty="0"/>
              <a:t>Every vertex has 1 of 3 statuses:</a:t>
            </a:r>
          </a:p>
          <a:p>
            <a:pPr lvl="1"/>
            <a:r>
              <a:rPr lang="en-US" sz="2800" dirty="0"/>
              <a:t>Undiscovered / Unvisited</a:t>
            </a:r>
          </a:p>
          <a:p>
            <a:pPr lvl="1"/>
            <a:r>
              <a:rPr lang="en-US" sz="2800" dirty="0"/>
              <a:t>Discovered / Visited</a:t>
            </a:r>
          </a:p>
          <a:p>
            <a:pPr lvl="1"/>
            <a:r>
              <a:rPr lang="en-US" sz="2800" dirty="0"/>
              <a:t>Processed</a:t>
            </a:r>
          </a:p>
          <a:p>
            <a:pPr lvl="1"/>
            <a:endParaRPr lang="en-US" sz="2800" dirty="0"/>
          </a:p>
          <a:p>
            <a:endParaRPr lang="en-US" dirty="0"/>
          </a:p>
        </p:txBody>
      </p:sp>
    </p:spTree>
    <p:extLst>
      <p:ext uri="{BB962C8B-B14F-4D97-AF65-F5344CB8AC3E}">
        <p14:creationId xmlns:p14="http://schemas.microsoft.com/office/powerpoint/2010/main" val="30462398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59116-CB5B-8B65-B612-B91431D3BB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E02227-5D6C-3EB3-4B96-0502DB4FF214}"/>
              </a:ext>
            </a:extLst>
          </p:cNvPr>
          <p:cNvSpPr>
            <a:spLocks noGrp="1"/>
          </p:cNvSpPr>
          <p:nvPr>
            <p:ph type="title"/>
          </p:nvPr>
        </p:nvSpPr>
        <p:spPr/>
        <p:txBody>
          <a:bodyPr/>
          <a:lstStyle/>
          <a:p>
            <a:r>
              <a:rPr lang="en-US" dirty="0"/>
              <a:t>Vertex Status</a:t>
            </a:r>
          </a:p>
        </p:txBody>
      </p:sp>
      <p:sp>
        <p:nvSpPr>
          <p:cNvPr id="3" name="Content Placeholder 2">
            <a:extLst>
              <a:ext uri="{FF2B5EF4-FFF2-40B4-BE49-F238E27FC236}">
                <a16:creationId xmlns:a16="http://schemas.microsoft.com/office/drawing/2014/main" id="{1280AB8E-5D6A-C318-CEF7-F538EB8ED5DB}"/>
              </a:ext>
            </a:extLst>
          </p:cNvPr>
          <p:cNvSpPr>
            <a:spLocks noGrp="1"/>
          </p:cNvSpPr>
          <p:nvPr>
            <p:ph idx="1"/>
          </p:nvPr>
        </p:nvSpPr>
        <p:spPr/>
        <p:txBody>
          <a:bodyPr>
            <a:noAutofit/>
          </a:bodyPr>
          <a:lstStyle/>
          <a:p>
            <a:r>
              <a:rPr lang="en-US" dirty="0"/>
              <a:t>Every vertex has 1 of 3 statuses:</a:t>
            </a:r>
          </a:p>
          <a:p>
            <a:pPr lvl="1"/>
            <a:r>
              <a:rPr lang="en-US" sz="2800" dirty="0"/>
              <a:t>Undiscovered / Unvisited</a:t>
            </a:r>
          </a:p>
          <a:p>
            <a:pPr lvl="1"/>
            <a:r>
              <a:rPr lang="en-US" sz="2800" dirty="0"/>
              <a:t>Discovered / Visited</a:t>
            </a:r>
          </a:p>
          <a:p>
            <a:pPr lvl="1"/>
            <a:r>
              <a:rPr lang="en-US" sz="2800" dirty="0"/>
              <a:t>Processed</a:t>
            </a:r>
          </a:p>
          <a:p>
            <a:pPr lvl="1"/>
            <a:endParaRPr lang="en-US" sz="2800" dirty="0"/>
          </a:p>
          <a:p>
            <a:r>
              <a:rPr lang="en-US" dirty="0"/>
              <a:t>Undiscovered / Unvisited: we have not yet arrived at that vertex</a:t>
            </a:r>
          </a:p>
          <a:p>
            <a:r>
              <a:rPr lang="en-US" dirty="0"/>
              <a:t>Discovered / Visited: We have arrived at that vertex, but it has not yet been fully processed.</a:t>
            </a:r>
          </a:p>
          <a:p>
            <a:r>
              <a:rPr lang="en-US" dirty="0"/>
              <a:t>Processed: We have accomplished all we need to do at this vertex.</a:t>
            </a:r>
          </a:p>
        </p:txBody>
      </p:sp>
    </p:spTree>
    <p:extLst>
      <p:ext uri="{BB962C8B-B14F-4D97-AF65-F5344CB8AC3E}">
        <p14:creationId xmlns:p14="http://schemas.microsoft.com/office/powerpoint/2010/main" val="1038112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595C3-5D0F-B916-A8E4-564A8CCDFF6B}"/>
              </a:ext>
            </a:extLst>
          </p:cNvPr>
          <p:cNvSpPr>
            <a:spLocks noGrp="1"/>
          </p:cNvSpPr>
          <p:nvPr>
            <p:ph type="title"/>
          </p:nvPr>
        </p:nvSpPr>
        <p:spPr/>
        <p:txBody>
          <a:bodyPr/>
          <a:lstStyle/>
          <a:p>
            <a:r>
              <a:rPr lang="en-US" dirty="0"/>
              <a:t>BFS</a:t>
            </a:r>
          </a:p>
        </p:txBody>
      </p:sp>
      <p:sp>
        <p:nvSpPr>
          <p:cNvPr id="3" name="Text Placeholder 2">
            <a:extLst>
              <a:ext uri="{FF2B5EF4-FFF2-40B4-BE49-F238E27FC236}">
                <a16:creationId xmlns:a16="http://schemas.microsoft.com/office/drawing/2014/main" id="{2B98CE82-E57F-35A1-2C62-DC5EFC488398}"/>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663818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9BFC64-7943-D047-61C1-1813D5DBAAD2}"/>
              </a:ext>
            </a:extLst>
          </p:cNvPr>
          <p:cNvSpPr>
            <a:spLocks noGrp="1"/>
          </p:cNvSpPr>
          <p:nvPr>
            <p:ph type="title"/>
          </p:nvPr>
        </p:nvSpPr>
        <p:spPr/>
        <p:txBody>
          <a:bodyPr/>
          <a:lstStyle/>
          <a:p>
            <a:r>
              <a:rPr lang="en-US" dirty="0"/>
              <a:t>Main Idea</a:t>
            </a:r>
          </a:p>
        </p:txBody>
      </p:sp>
      <p:sp>
        <p:nvSpPr>
          <p:cNvPr id="5" name="Content Placeholder 4">
            <a:extLst>
              <a:ext uri="{FF2B5EF4-FFF2-40B4-BE49-F238E27FC236}">
                <a16:creationId xmlns:a16="http://schemas.microsoft.com/office/drawing/2014/main" id="{58F937FD-9B2B-7C61-D92D-4002C4F40FBA}"/>
              </a:ext>
            </a:extLst>
          </p:cNvPr>
          <p:cNvSpPr>
            <a:spLocks noGrp="1"/>
          </p:cNvSpPr>
          <p:nvPr>
            <p:ph idx="1"/>
          </p:nvPr>
        </p:nvSpPr>
        <p:spPr/>
        <p:txBody>
          <a:bodyPr/>
          <a:lstStyle/>
          <a:p>
            <a:r>
              <a:rPr lang="en-US" dirty="0"/>
              <a:t>Start somewhere, add that vertex to a queue</a:t>
            </a:r>
          </a:p>
          <a:p>
            <a:r>
              <a:rPr lang="en-US" dirty="0"/>
              <a:t>Until the graph is entirely visited:</a:t>
            </a:r>
          </a:p>
          <a:p>
            <a:pPr lvl="1"/>
            <a:r>
              <a:rPr lang="en-US" dirty="0"/>
              <a:t>Dequeue it (mark processed), then enqueue all its neighbors</a:t>
            </a:r>
          </a:p>
          <a:p>
            <a:pPr lvl="1"/>
            <a:endParaRPr lang="en-US" dirty="0"/>
          </a:p>
          <a:p>
            <a:r>
              <a:rPr lang="en-US" dirty="0"/>
              <a:t>Complexity: O( |V| + |E| )</a:t>
            </a:r>
          </a:p>
        </p:txBody>
      </p:sp>
    </p:spTree>
    <p:extLst>
      <p:ext uri="{BB962C8B-B14F-4D97-AF65-F5344CB8AC3E}">
        <p14:creationId xmlns:p14="http://schemas.microsoft.com/office/powerpoint/2010/main" val="39331509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DA71-007D-85B7-6B69-2553A2CFBD5C}"/>
              </a:ext>
            </a:extLst>
          </p:cNvPr>
          <p:cNvSpPr>
            <a:spLocks noGrp="1"/>
          </p:cNvSpPr>
          <p:nvPr>
            <p:ph type="title"/>
          </p:nvPr>
        </p:nvSpPr>
        <p:spPr/>
        <p:txBody>
          <a:bodyPr/>
          <a:lstStyle/>
          <a:p>
            <a:r>
              <a:rPr lang="en-US" dirty="0"/>
              <a:t>BFS Algorithm v.1</a:t>
            </a:r>
          </a:p>
        </p:txBody>
      </p:sp>
      <p:sp>
        <p:nvSpPr>
          <p:cNvPr id="3" name="Text Placeholder 2">
            <a:extLst>
              <a:ext uri="{FF2B5EF4-FFF2-40B4-BE49-F238E27FC236}">
                <a16:creationId xmlns:a16="http://schemas.microsoft.com/office/drawing/2014/main" id="{D8993349-662F-015F-4F3E-2AF11FFDC41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75282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E3F5F25-CCEC-04CE-984E-21F4DD44D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620000" cy="45593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808AEBD-038E-9701-7FE3-1C432AF48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2900" y="127000"/>
            <a:ext cx="8039100" cy="6604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0477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1116E-537D-9751-7E21-C7A02A26D54C}"/>
              </a:ext>
            </a:extLst>
          </p:cNvPr>
          <p:cNvSpPr>
            <a:spLocks noGrp="1"/>
          </p:cNvSpPr>
          <p:nvPr>
            <p:ph type="title"/>
          </p:nvPr>
        </p:nvSpPr>
        <p:spPr/>
        <p:txBody>
          <a:bodyPr/>
          <a:lstStyle/>
          <a:p>
            <a:r>
              <a:rPr lang="en-US" dirty="0"/>
              <a:t>Insights</a:t>
            </a:r>
          </a:p>
        </p:txBody>
      </p:sp>
      <p:sp>
        <p:nvSpPr>
          <p:cNvPr id="3" name="Content Placeholder 2">
            <a:extLst>
              <a:ext uri="{FF2B5EF4-FFF2-40B4-BE49-F238E27FC236}">
                <a16:creationId xmlns:a16="http://schemas.microsoft.com/office/drawing/2014/main" id="{D8C5A100-6479-A836-2EC2-109E66C3A6F1}"/>
              </a:ext>
            </a:extLst>
          </p:cNvPr>
          <p:cNvSpPr>
            <a:spLocks noGrp="1"/>
          </p:cNvSpPr>
          <p:nvPr>
            <p:ph idx="1"/>
          </p:nvPr>
        </p:nvSpPr>
        <p:spPr/>
        <p:txBody>
          <a:bodyPr/>
          <a:lstStyle/>
          <a:p>
            <a:r>
              <a:rPr lang="en-US" dirty="0"/>
              <a:t>This is </a:t>
            </a:r>
            <a:r>
              <a:rPr lang="en-US" i="1" dirty="0"/>
              <a:t>pseudocode</a:t>
            </a:r>
            <a:r>
              <a:rPr lang="en-US" dirty="0"/>
              <a:t> – a sketch of code that won't actually run</a:t>
            </a:r>
          </a:p>
          <a:p>
            <a:pPr lvl="1"/>
            <a:r>
              <a:rPr lang="en-US" dirty="0"/>
              <a:t>But it describes pretty much everything we'd need.</a:t>
            </a:r>
          </a:p>
          <a:p>
            <a:pPr lvl="1"/>
            <a:endParaRPr lang="en-US" dirty="0"/>
          </a:p>
          <a:p>
            <a:r>
              <a:rPr lang="en-US" dirty="0"/>
              <a:t>Input is a graph G and a start vertex, </a:t>
            </a:r>
            <a:r>
              <a:rPr lang="en-US" i="1" dirty="0"/>
              <a:t>s</a:t>
            </a:r>
            <a:r>
              <a:rPr lang="en-US" dirty="0"/>
              <a:t>.</a:t>
            </a:r>
          </a:p>
          <a:p>
            <a:r>
              <a:rPr lang="en-US" dirty="0"/>
              <a:t>Lots of symbols, ???</a:t>
            </a:r>
          </a:p>
          <a:p>
            <a:r>
              <a:rPr lang="en-US" dirty="0"/>
              <a:t>There's a while loop and a queue in there??</a:t>
            </a:r>
          </a:p>
          <a:p>
            <a:endParaRPr lang="en-US" dirty="0"/>
          </a:p>
          <a:p>
            <a:r>
              <a:rPr lang="en-US" dirty="0"/>
              <a:t>Let's go through it step by step.</a:t>
            </a:r>
          </a:p>
          <a:p>
            <a:endParaRPr lang="en-US" dirty="0"/>
          </a:p>
        </p:txBody>
      </p:sp>
    </p:spTree>
    <p:extLst>
      <p:ext uri="{BB962C8B-B14F-4D97-AF65-F5344CB8AC3E}">
        <p14:creationId xmlns:p14="http://schemas.microsoft.com/office/powerpoint/2010/main" val="3297238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1D331-144C-33F2-8457-A43905DE5660}"/>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5EDBD500-45A7-FB2B-8CD6-52E39BBEA6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620000" cy="45593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0639A29A-C7D4-C5AB-92F8-DB141D80602A}"/>
              </a:ext>
            </a:extLst>
          </p:cNvPr>
          <p:cNvSpPr txBox="1"/>
          <p:nvPr/>
        </p:nvSpPr>
        <p:spPr>
          <a:xfrm>
            <a:off x="4399471" y="10490"/>
            <a:ext cx="3608804" cy="369332"/>
          </a:xfrm>
          <a:prstGeom prst="rect">
            <a:avLst/>
          </a:prstGeom>
          <a:solidFill>
            <a:schemeClr val="bg1"/>
          </a:solidFill>
          <a:ln w="38100">
            <a:solidFill>
              <a:srgbClr val="FF0000"/>
            </a:solidFill>
          </a:ln>
        </p:spPr>
        <p:txBody>
          <a:bodyPr wrap="square" rtlCol="0">
            <a:spAutoFit/>
          </a:bodyPr>
          <a:lstStyle/>
          <a:p>
            <a:r>
              <a:rPr lang="en-US" dirty="0"/>
              <a:t>Input: G and starting point s.</a:t>
            </a:r>
          </a:p>
        </p:txBody>
      </p:sp>
      <p:cxnSp>
        <p:nvCxnSpPr>
          <p:cNvPr id="3" name="Straight Arrow Connector 2">
            <a:extLst>
              <a:ext uri="{FF2B5EF4-FFF2-40B4-BE49-F238E27FC236}">
                <a16:creationId xmlns:a16="http://schemas.microsoft.com/office/drawing/2014/main" id="{A39305CB-6B8A-D5C1-C0D4-15EDF0418D5F}"/>
              </a:ext>
            </a:extLst>
          </p:cNvPr>
          <p:cNvCxnSpPr>
            <a:cxnSpLocks/>
            <a:stCxn id="4" idx="1"/>
          </p:cNvCxnSpPr>
          <p:nvPr/>
        </p:nvCxnSpPr>
        <p:spPr>
          <a:xfrm flipH="1">
            <a:off x="1535588" y="195156"/>
            <a:ext cx="2863883" cy="0"/>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E9E2C8B-BCD6-060D-0962-EBF1A5D45E38}"/>
                  </a:ext>
                </a:extLst>
              </p:cNvPr>
              <p:cNvSpPr txBox="1"/>
              <p:nvPr/>
            </p:nvSpPr>
            <p:spPr>
              <a:xfrm>
                <a:off x="8091575" y="156543"/>
                <a:ext cx="4045789" cy="1200329"/>
              </a:xfrm>
              <a:prstGeom prst="rect">
                <a:avLst/>
              </a:prstGeom>
              <a:solidFill>
                <a:schemeClr val="bg1"/>
              </a:solidFill>
              <a:ln w="38100">
                <a:solidFill>
                  <a:srgbClr val="FF0000"/>
                </a:solidFill>
              </a:ln>
            </p:spPr>
            <p:txBody>
              <a:bodyPr wrap="square" rtlCol="0">
                <a:spAutoFit/>
              </a:bodyPr>
              <a:lstStyle/>
              <a:p>
                <a:r>
                  <a:rPr lang="en-US" dirty="0"/>
                  <a:t>Properties for each vertex other than s:</a:t>
                </a:r>
              </a:p>
              <a:p>
                <a:pPr marL="285750" indent="-285750">
                  <a:buFont typeface="Arial" panose="020B0604020202020204" pitchFamily="34" charset="0"/>
                  <a:buChar char="•"/>
                </a:pPr>
                <a:r>
                  <a:rPr lang="en-US" dirty="0"/>
                  <a:t>color: white = unvisited</a:t>
                </a:r>
              </a:p>
              <a:p>
                <a:pPr marL="285750" indent="-285750">
                  <a:buFont typeface="Arial" panose="020B0604020202020204" pitchFamily="34" charset="0"/>
                  <a:buChar char="•"/>
                </a:pPr>
                <a:r>
                  <a:rPr lang="en-US" dirty="0"/>
                  <a:t>d: distance</a:t>
                </a:r>
              </a:p>
              <a:p>
                <a:pPr marL="2857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𝜋</m:t>
                    </m:r>
                  </m:oMath>
                </a14:m>
                <a:r>
                  <a:rPr lang="en-US" dirty="0"/>
                  <a:t>: predecessor</a:t>
                </a:r>
              </a:p>
            </p:txBody>
          </p:sp>
        </mc:Choice>
        <mc:Fallback xmlns="">
          <p:sp>
            <p:nvSpPr>
              <p:cNvPr id="5" name="TextBox 4">
                <a:extLst>
                  <a:ext uri="{FF2B5EF4-FFF2-40B4-BE49-F238E27FC236}">
                    <a16:creationId xmlns:a16="http://schemas.microsoft.com/office/drawing/2014/main" id="{7E9E2C8B-BCD6-060D-0962-EBF1A5D45E38}"/>
                  </a:ext>
                </a:extLst>
              </p:cNvPr>
              <p:cNvSpPr txBox="1">
                <a:spLocks noRot="1" noChangeAspect="1" noMove="1" noResize="1" noEditPoints="1" noAdjustHandles="1" noChangeArrowheads="1" noChangeShapeType="1" noTextEdit="1"/>
              </p:cNvSpPr>
              <p:nvPr/>
            </p:nvSpPr>
            <p:spPr>
              <a:xfrm>
                <a:off x="8091575" y="156543"/>
                <a:ext cx="4045789" cy="1200329"/>
              </a:xfrm>
              <a:prstGeom prst="rect">
                <a:avLst/>
              </a:prstGeom>
              <a:blipFill>
                <a:blip r:embed="rId3"/>
                <a:stretch>
                  <a:fillRect l="-619" t="-1020" b="-6122"/>
                </a:stretch>
              </a:blipFill>
              <a:ln w="38100">
                <a:solidFill>
                  <a:srgbClr val="FF0000"/>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B155F337-49F4-1DD8-E9EA-9961B59D3357}"/>
              </a:ext>
            </a:extLst>
          </p:cNvPr>
          <p:cNvCxnSpPr>
            <a:cxnSpLocks/>
            <a:stCxn id="5" idx="1"/>
            <a:endCxn id="21" idx="1"/>
          </p:cNvCxnSpPr>
          <p:nvPr/>
        </p:nvCxnSpPr>
        <p:spPr>
          <a:xfrm flipH="1">
            <a:off x="2967573" y="756708"/>
            <a:ext cx="5124002" cy="13883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DF17BE4A-005C-03C4-75A2-F8B76CCD8A82}"/>
              </a:ext>
            </a:extLst>
          </p:cNvPr>
          <p:cNvSpPr txBox="1"/>
          <p:nvPr/>
        </p:nvSpPr>
        <p:spPr>
          <a:xfrm>
            <a:off x="5175849" y="1466427"/>
            <a:ext cx="5883215" cy="646331"/>
          </a:xfrm>
          <a:prstGeom prst="rect">
            <a:avLst/>
          </a:prstGeom>
          <a:solidFill>
            <a:schemeClr val="bg1"/>
          </a:solidFill>
          <a:ln w="38100">
            <a:solidFill>
              <a:srgbClr val="FF0000"/>
            </a:solidFill>
          </a:ln>
        </p:spPr>
        <p:txBody>
          <a:bodyPr wrap="square" rtlCol="0">
            <a:spAutoFit/>
          </a:bodyPr>
          <a:lstStyle/>
          <a:p>
            <a:r>
              <a:rPr lang="en-US" dirty="0"/>
              <a:t>Let's get started. s gets gray color = visited. Distance from s is 0 (we're there). Predecessor is nothing (we start at s).</a:t>
            </a:r>
          </a:p>
        </p:txBody>
      </p:sp>
      <p:cxnSp>
        <p:nvCxnSpPr>
          <p:cNvPr id="11" name="Straight Arrow Connector 10">
            <a:extLst>
              <a:ext uri="{FF2B5EF4-FFF2-40B4-BE49-F238E27FC236}">
                <a16:creationId xmlns:a16="http://schemas.microsoft.com/office/drawing/2014/main" id="{4CFA3EAB-0BF3-6692-0F6B-2CF0940AEA25}"/>
              </a:ext>
            </a:extLst>
          </p:cNvPr>
          <p:cNvCxnSpPr>
            <a:cxnSpLocks/>
            <a:stCxn id="10" idx="1"/>
            <a:endCxn id="23" idx="1"/>
          </p:cNvCxnSpPr>
          <p:nvPr/>
        </p:nvCxnSpPr>
        <p:spPr>
          <a:xfrm flipH="1" flipV="1">
            <a:off x="2547840" y="1580955"/>
            <a:ext cx="2628009" cy="20863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146DAC91-2A12-6237-71AB-8F56C1FB8332}"/>
              </a:ext>
            </a:extLst>
          </p:cNvPr>
          <p:cNvSpPr txBox="1"/>
          <p:nvPr/>
        </p:nvSpPr>
        <p:spPr>
          <a:xfrm>
            <a:off x="5883214" y="2241200"/>
            <a:ext cx="5883215" cy="646331"/>
          </a:xfrm>
          <a:prstGeom prst="rect">
            <a:avLst/>
          </a:prstGeom>
          <a:solidFill>
            <a:schemeClr val="bg1"/>
          </a:solidFill>
          <a:ln w="38100">
            <a:solidFill>
              <a:srgbClr val="FF0000"/>
            </a:solidFill>
          </a:ln>
        </p:spPr>
        <p:txBody>
          <a:bodyPr wrap="square" rtlCol="0">
            <a:spAutoFit/>
          </a:bodyPr>
          <a:lstStyle/>
          <a:p>
            <a:r>
              <a:rPr lang="en-US" dirty="0"/>
              <a:t>Q is a (regular) queue, which starts empty. Add s to the queue.</a:t>
            </a:r>
          </a:p>
        </p:txBody>
      </p:sp>
      <p:cxnSp>
        <p:nvCxnSpPr>
          <p:cNvPr id="15" name="Straight Arrow Connector 14">
            <a:extLst>
              <a:ext uri="{FF2B5EF4-FFF2-40B4-BE49-F238E27FC236}">
                <a16:creationId xmlns:a16="http://schemas.microsoft.com/office/drawing/2014/main" id="{EEBF9D9B-719F-60FF-4D6B-23F0FBCD54A6}"/>
              </a:ext>
            </a:extLst>
          </p:cNvPr>
          <p:cNvCxnSpPr>
            <a:cxnSpLocks/>
            <a:stCxn id="14" idx="1"/>
            <a:endCxn id="29" idx="1"/>
          </p:cNvCxnSpPr>
          <p:nvPr/>
        </p:nvCxnSpPr>
        <p:spPr>
          <a:xfrm flipH="1" flipV="1">
            <a:off x="2573720" y="2236562"/>
            <a:ext cx="3309494" cy="327804"/>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2079E498-7AB4-37B1-ECA2-97FA4E745B11}"/>
              </a:ext>
            </a:extLst>
          </p:cNvPr>
          <p:cNvSpPr txBox="1"/>
          <p:nvPr/>
        </p:nvSpPr>
        <p:spPr>
          <a:xfrm>
            <a:off x="5883214" y="3106640"/>
            <a:ext cx="5883215" cy="2031325"/>
          </a:xfrm>
          <a:prstGeom prst="rect">
            <a:avLst/>
          </a:prstGeom>
          <a:solidFill>
            <a:schemeClr val="bg1"/>
          </a:solidFill>
          <a:ln w="38100">
            <a:solidFill>
              <a:srgbClr val="FF0000"/>
            </a:solidFill>
          </a:ln>
        </p:spPr>
        <p:txBody>
          <a:bodyPr wrap="square" rtlCol="0">
            <a:spAutoFit/>
          </a:bodyPr>
          <a:lstStyle/>
          <a:p>
            <a:r>
              <a:rPr lang="en-US" dirty="0"/>
              <a:t>While our queue is not empty, dequeue the latest vertex, u. Look at its adjacent vertices. For each adjacent vertex v: </a:t>
            </a:r>
          </a:p>
          <a:p>
            <a:pPr marL="285750" indent="-285750">
              <a:buFont typeface="Arial" panose="020B0604020202020204" pitchFamily="34" charset="0"/>
              <a:buChar char="•"/>
            </a:pPr>
            <a:r>
              <a:rPr lang="en-US" dirty="0"/>
              <a:t>If the color is white (unvisited), set it to gray (visited). </a:t>
            </a:r>
          </a:p>
          <a:p>
            <a:pPr marL="285750" indent="-285750">
              <a:buFont typeface="Arial" panose="020B0604020202020204" pitchFamily="34" charset="0"/>
              <a:buChar char="•"/>
            </a:pPr>
            <a:r>
              <a:rPr lang="en-US" dirty="0"/>
              <a:t>Update its distance +1</a:t>
            </a:r>
          </a:p>
          <a:p>
            <a:pPr marL="285750" indent="-285750">
              <a:buFont typeface="Arial" panose="020B0604020202020204" pitchFamily="34" charset="0"/>
              <a:buChar char="•"/>
            </a:pPr>
            <a:r>
              <a:rPr lang="en-US" dirty="0"/>
              <a:t>Set its predecessor as u.</a:t>
            </a:r>
          </a:p>
          <a:p>
            <a:pPr marL="285750" indent="-285750">
              <a:buFont typeface="Arial" panose="020B0604020202020204" pitchFamily="34" charset="0"/>
              <a:buChar char="•"/>
            </a:pPr>
            <a:r>
              <a:rPr lang="en-US" dirty="0"/>
              <a:t>Add v to the queue to be processed.</a:t>
            </a:r>
          </a:p>
        </p:txBody>
      </p:sp>
      <p:cxnSp>
        <p:nvCxnSpPr>
          <p:cNvPr id="18" name="Straight Arrow Connector 17">
            <a:extLst>
              <a:ext uri="{FF2B5EF4-FFF2-40B4-BE49-F238E27FC236}">
                <a16:creationId xmlns:a16="http://schemas.microsoft.com/office/drawing/2014/main" id="{33C7B042-5135-678D-EAC1-2CD27B1C5879}"/>
              </a:ext>
            </a:extLst>
          </p:cNvPr>
          <p:cNvCxnSpPr>
            <a:cxnSpLocks/>
            <a:stCxn id="17" idx="1"/>
            <a:endCxn id="35" idx="1"/>
          </p:cNvCxnSpPr>
          <p:nvPr/>
        </p:nvCxnSpPr>
        <p:spPr>
          <a:xfrm flipH="1" flipV="1">
            <a:off x="3815836" y="3388130"/>
            <a:ext cx="2067378" cy="73417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Right Brace 20">
            <a:extLst>
              <a:ext uri="{FF2B5EF4-FFF2-40B4-BE49-F238E27FC236}">
                <a16:creationId xmlns:a16="http://schemas.microsoft.com/office/drawing/2014/main" id="{14B637E7-3B29-9029-799F-FD37701ED41D}"/>
              </a:ext>
            </a:extLst>
          </p:cNvPr>
          <p:cNvSpPr/>
          <p:nvPr/>
        </p:nvSpPr>
        <p:spPr>
          <a:xfrm>
            <a:off x="2579298" y="567740"/>
            <a:ext cx="388275" cy="655608"/>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9076F619-3404-2CA1-666E-84E02AB91C9E}"/>
              </a:ext>
            </a:extLst>
          </p:cNvPr>
          <p:cNvSpPr/>
          <p:nvPr/>
        </p:nvSpPr>
        <p:spPr>
          <a:xfrm>
            <a:off x="2159565" y="1253151"/>
            <a:ext cx="388275" cy="655608"/>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9" name="Right Brace 28">
            <a:extLst>
              <a:ext uri="{FF2B5EF4-FFF2-40B4-BE49-F238E27FC236}">
                <a16:creationId xmlns:a16="http://schemas.microsoft.com/office/drawing/2014/main" id="{7351C330-A089-22BB-5006-E02F1B1CED34}"/>
              </a:ext>
            </a:extLst>
          </p:cNvPr>
          <p:cNvSpPr/>
          <p:nvPr/>
        </p:nvSpPr>
        <p:spPr>
          <a:xfrm>
            <a:off x="1932318" y="1908758"/>
            <a:ext cx="641402" cy="655608"/>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Right Brace 34">
            <a:extLst>
              <a:ext uri="{FF2B5EF4-FFF2-40B4-BE49-F238E27FC236}">
                <a16:creationId xmlns:a16="http://schemas.microsoft.com/office/drawing/2014/main" id="{08278468-FD7C-1BE4-F63C-75E13678E381}"/>
              </a:ext>
            </a:extLst>
          </p:cNvPr>
          <p:cNvSpPr/>
          <p:nvPr/>
        </p:nvSpPr>
        <p:spPr>
          <a:xfrm>
            <a:off x="3174434" y="2564366"/>
            <a:ext cx="641402" cy="1647527"/>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26BB2101-4DA4-C7F9-1352-880E85F983EC}"/>
              </a:ext>
            </a:extLst>
          </p:cNvPr>
          <p:cNvSpPr txBox="1"/>
          <p:nvPr/>
        </p:nvSpPr>
        <p:spPr>
          <a:xfrm>
            <a:off x="5175848" y="5621792"/>
            <a:ext cx="5883215" cy="646331"/>
          </a:xfrm>
          <a:prstGeom prst="rect">
            <a:avLst/>
          </a:prstGeom>
          <a:solidFill>
            <a:schemeClr val="bg1"/>
          </a:solidFill>
          <a:ln w="38100">
            <a:solidFill>
              <a:srgbClr val="FF0000"/>
            </a:solidFill>
          </a:ln>
        </p:spPr>
        <p:txBody>
          <a:bodyPr wrap="square" rtlCol="0">
            <a:spAutoFit/>
          </a:bodyPr>
          <a:lstStyle/>
          <a:p>
            <a:r>
              <a:rPr lang="en-US" dirty="0"/>
              <a:t>When we have gone through each adjacent vertex, we are done with u. Mark its color as black (processed)</a:t>
            </a:r>
          </a:p>
        </p:txBody>
      </p:sp>
      <p:cxnSp>
        <p:nvCxnSpPr>
          <p:cNvPr id="41" name="Straight Arrow Connector 40">
            <a:extLst>
              <a:ext uri="{FF2B5EF4-FFF2-40B4-BE49-F238E27FC236}">
                <a16:creationId xmlns:a16="http://schemas.microsoft.com/office/drawing/2014/main" id="{B9DAC505-90C4-BA16-263F-A9D2AA8BFD9C}"/>
              </a:ext>
            </a:extLst>
          </p:cNvPr>
          <p:cNvCxnSpPr>
            <a:cxnSpLocks/>
            <a:stCxn id="40" idx="1"/>
            <a:endCxn id="42" idx="1"/>
          </p:cNvCxnSpPr>
          <p:nvPr/>
        </p:nvCxnSpPr>
        <p:spPr>
          <a:xfrm flipH="1" flipV="1">
            <a:off x="2909977" y="4375796"/>
            <a:ext cx="2265871" cy="156916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2" name="Right Brace 41">
            <a:extLst>
              <a:ext uri="{FF2B5EF4-FFF2-40B4-BE49-F238E27FC236}">
                <a16:creationId xmlns:a16="http://schemas.microsoft.com/office/drawing/2014/main" id="{4CD05DB7-F9B5-921D-CF12-CD9F86EB6DDE}"/>
              </a:ext>
            </a:extLst>
          </p:cNvPr>
          <p:cNvSpPr/>
          <p:nvPr/>
        </p:nvSpPr>
        <p:spPr>
          <a:xfrm>
            <a:off x="2702858" y="4211893"/>
            <a:ext cx="207119" cy="32780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774043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4" grpId="0" animBg="1"/>
      <p:bldP spid="17" grpId="0" animBg="1"/>
      <p:bldP spid="21" grpId="0" animBg="1"/>
      <p:bldP spid="23" grpId="0" animBg="1"/>
      <p:bldP spid="29" grpId="0" animBg="1"/>
      <p:bldP spid="35" grpId="0" animBg="1"/>
      <p:bldP spid="40" grpId="0" animBg="1"/>
      <p:bldP spid="4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E3F5F25-CCEC-04CE-984E-21F4DD44D3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7620000" cy="45593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1808AEBD-038E-9701-7FE3-1C432AF48D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2900" y="127000"/>
            <a:ext cx="8039100" cy="6604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3C106EA-FCA2-D54C-061E-E6AF4C2D9A31}"/>
              </a:ext>
            </a:extLst>
          </p:cNvPr>
          <p:cNvSpPr txBox="1"/>
          <p:nvPr/>
        </p:nvSpPr>
        <p:spPr>
          <a:xfrm>
            <a:off x="7296044" y="5676181"/>
            <a:ext cx="4895956" cy="523220"/>
          </a:xfrm>
          <a:prstGeom prst="rect">
            <a:avLst/>
          </a:prstGeom>
          <a:noFill/>
          <a:ln w="38100">
            <a:solidFill>
              <a:srgbClr val="FF0000"/>
            </a:solidFill>
          </a:ln>
        </p:spPr>
        <p:txBody>
          <a:bodyPr wrap="none" rtlCol="0">
            <a:spAutoFit/>
          </a:bodyPr>
          <a:lstStyle/>
          <a:p>
            <a:r>
              <a:rPr lang="en-US" sz="2800" dirty="0"/>
              <a:t>What do the gray edges mean?</a:t>
            </a:r>
          </a:p>
        </p:txBody>
      </p:sp>
    </p:spTree>
    <p:extLst>
      <p:ext uri="{BB962C8B-B14F-4D97-AF65-F5344CB8AC3E}">
        <p14:creationId xmlns:p14="http://schemas.microsoft.com/office/powerpoint/2010/main" val="33722258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E8311-6503-780B-EC49-8FF62FA835D3}"/>
              </a:ext>
            </a:extLst>
          </p:cNvPr>
          <p:cNvSpPr>
            <a:spLocks noGrp="1"/>
          </p:cNvSpPr>
          <p:nvPr>
            <p:ph type="title"/>
          </p:nvPr>
        </p:nvSpPr>
        <p:spPr/>
        <p:txBody>
          <a:bodyPr/>
          <a:lstStyle/>
          <a:p>
            <a:r>
              <a:rPr lang="en-US" dirty="0"/>
              <a:t>Warm Up: 3/10</a:t>
            </a:r>
          </a:p>
        </p:txBody>
      </p:sp>
      <p:sp>
        <p:nvSpPr>
          <p:cNvPr id="3" name="Content Placeholder 2">
            <a:extLst>
              <a:ext uri="{FF2B5EF4-FFF2-40B4-BE49-F238E27FC236}">
                <a16:creationId xmlns:a16="http://schemas.microsoft.com/office/drawing/2014/main" id="{5AE1ACB4-5606-715D-797D-848C4AA65F1E}"/>
              </a:ext>
            </a:extLst>
          </p:cNvPr>
          <p:cNvSpPr>
            <a:spLocks noGrp="1"/>
          </p:cNvSpPr>
          <p:nvPr>
            <p:ph idx="1"/>
          </p:nvPr>
        </p:nvSpPr>
        <p:spPr/>
        <p:txBody>
          <a:bodyPr/>
          <a:lstStyle/>
          <a:p>
            <a:r>
              <a:rPr lang="en-US" dirty="0"/>
              <a:t>Write a description of BFS in words on the board.</a:t>
            </a:r>
          </a:p>
          <a:p>
            <a:pPr lvl="1"/>
            <a:r>
              <a:rPr lang="en-US" dirty="0"/>
              <a:t>Input = </a:t>
            </a:r>
          </a:p>
          <a:p>
            <a:pPr lvl="1"/>
            <a:r>
              <a:rPr lang="en-US" dirty="0"/>
              <a:t>Output =</a:t>
            </a:r>
          </a:p>
          <a:p>
            <a:pPr lvl="1"/>
            <a:r>
              <a:rPr lang="en-US" dirty="0"/>
              <a:t>Describe how to set up the algorithm, and how to proceed through the entire graph.</a:t>
            </a:r>
          </a:p>
        </p:txBody>
      </p:sp>
    </p:spTree>
    <p:extLst>
      <p:ext uri="{BB962C8B-B14F-4D97-AF65-F5344CB8AC3E}">
        <p14:creationId xmlns:p14="http://schemas.microsoft.com/office/powerpoint/2010/main" val="4578969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9D8A2-3ED9-E7C6-13ED-6146DA6958B7}"/>
              </a:ext>
            </a:extLst>
          </p:cNvPr>
          <p:cNvSpPr>
            <a:spLocks noGrp="1"/>
          </p:cNvSpPr>
          <p:nvPr>
            <p:ph type="title"/>
          </p:nvPr>
        </p:nvSpPr>
        <p:spPr/>
        <p:txBody>
          <a:bodyPr/>
          <a:lstStyle/>
          <a:p>
            <a:r>
              <a:rPr lang="en-US" dirty="0"/>
              <a:t>BFS Algorithm v.2</a:t>
            </a:r>
          </a:p>
        </p:txBody>
      </p:sp>
      <p:sp>
        <p:nvSpPr>
          <p:cNvPr id="3" name="Text Placeholder 2">
            <a:extLst>
              <a:ext uri="{FF2B5EF4-FFF2-40B4-BE49-F238E27FC236}">
                <a16:creationId xmlns:a16="http://schemas.microsoft.com/office/drawing/2014/main" id="{240F4689-3D28-898D-3D36-CAE903A9304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8942504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5" descr="A page of a book with text&#10;&#10;AI-generated content may be incorrect.">
            <a:extLst>
              <a:ext uri="{FF2B5EF4-FFF2-40B4-BE49-F238E27FC236}">
                <a16:creationId xmlns:a16="http://schemas.microsoft.com/office/drawing/2014/main" id="{E111C4D7-8513-2CBA-F89E-31271DB13E9F}"/>
              </a:ext>
            </a:extLst>
          </p:cNvPr>
          <p:cNvPicPr>
            <a:picLocks noChangeAspect="1"/>
          </p:cNvPicPr>
          <p:nvPr/>
        </p:nvPicPr>
        <p:blipFill>
          <a:blip r:embed="rId2"/>
          <a:stretch>
            <a:fillRect/>
          </a:stretch>
        </p:blipFill>
        <p:spPr>
          <a:xfrm>
            <a:off x="0" y="319087"/>
            <a:ext cx="7021021" cy="6219825"/>
          </a:xfrm>
          <a:prstGeom prst="rect">
            <a:avLst/>
          </a:prstGeom>
        </p:spPr>
      </p:pic>
      <p:pic>
        <p:nvPicPr>
          <p:cNvPr id="5" name="Picture 4" descr="A book with text and diagram&#10;&#10;AI-generated content may be incorrect.">
            <a:extLst>
              <a:ext uri="{FF2B5EF4-FFF2-40B4-BE49-F238E27FC236}">
                <a16:creationId xmlns:a16="http://schemas.microsoft.com/office/drawing/2014/main" id="{6712A7CB-1241-2C73-26E8-C11B44BFBEA2}"/>
              </a:ext>
            </a:extLst>
          </p:cNvPr>
          <p:cNvPicPr>
            <a:picLocks noChangeAspect="1"/>
          </p:cNvPicPr>
          <p:nvPr/>
        </p:nvPicPr>
        <p:blipFill>
          <a:blip r:embed="rId3"/>
          <a:srcRect l="14795" r="44801" b="29620"/>
          <a:stretch>
            <a:fillRect/>
          </a:stretch>
        </p:blipFill>
        <p:spPr>
          <a:xfrm>
            <a:off x="8231256" y="218621"/>
            <a:ext cx="3140364" cy="2198255"/>
          </a:xfrm>
          <a:prstGeom prst="rect">
            <a:avLst/>
          </a:prstGeom>
        </p:spPr>
      </p:pic>
      <p:pic>
        <p:nvPicPr>
          <p:cNvPr id="6" name="Picture 5" descr="A book with text and diagram&#10;&#10;AI-generated content may be incorrect.">
            <a:extLst>
              <a:ext uri="{FF2B5EF4-FFF2-40B4-BE49-F238E27FC236}">
                <a16:creationId xmlns:a16="http://schemas.microsoft.com/office/drawing/2014/main" id="{D4F36004-61C3-254B-1208-352EB8879FE5}"/>
              </a:ext>
            </a:extLst>
          </p:cNvPr>
          <p:cNvPicPr>
            <a:picLocks noChangeAspect="1"/>
          </p:cNvPicPr>
          <p:nvPr/>
        </p:nvPicPr>
        <p:blipFill>
          <a:blip r:embed="rId3"/>
          <a:srcRect l="56625" r="15567" b="29620"/>
          <a:stretch>
            <a:fillRect/>
          </a:stretch>
        </p:blipFill>
        <p:spPr>
          <a:xfrm>
            <a:off x="8231256" y="3096490"/>
            <a:ext cx="3029528" cy="3081314"/>
          </a:xfrm>
          <a:prstGeom prst="rect">
            <a:avLst/>
          </a:prstGeom>
        </p:spPr>
      </p:pic>
    </p:spTree>
    <p:extLst>
      <p:ext uri="{BB962C8B-B14F-4D97-AF65-F5344CB8AC3E}">
        <p14:creationId xmlns:p14="http://schemas.microsoft.com/office/powerpoint/2010/main" val="2214215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book with text and diagram&#10;&#10;AI-generated content may be incorrect.">
            <a:extLst>
              <a:ext uri="{FF2B5EF4-FFF2-40B4-BE49-F238E27FC236}">
                <a16:creationId xmlns:a16="http://schemas.microsoft.com/office/drawing/2014/main" id="{41D3D260-4218-15DD-3449-124DFC042643}"/>
              </a:ext>
            </a:extLst>
          </p:cNvPr>
          <p:cNvPicPr>
            <a:picLocks noChangeAspect="1"/>
          </p:cNvPicPr>
          <p:nvPr/>
        </p:nvPicPr>
        <p:blipFill>
          <a:blip r:embed="rId2"/>
          <a:stretch>
            <a:fillRect/>
          </a:stretch>
        </p:blipFill>
        <p:spPr>
          <a:xfrm>
            <a:off x="212047" y="1064491"/>
            <a:ext cx="11767906" cy="4729018"/>
          </a:xfrm>
          <a:prstGeom prst="rect">
            <a:avLst/>
          </a:prstGeom>
        </p:spPr>
      </p:pic>
    </p:spTree>
    <p:extLst>
      <p:ext uri="{BB962C8B-B14F-4D97-AF65-F5344CB8AC3E}">
        <p14:creationId xmlns:p14="http://schemas.microsoft.com/office/powerpoint/2010/main" val="2169638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B0B99-C5FF-DBD2-9269-E2958AAD9AB2}"/>
              </a:ext>
            </a:extLst>
          </p:cNvPr>
          <p:cNvSpPr>
            <a:spLocks noGrp="1"/>
          </p:cNvSpPr>
          <p:nvPr>
            <p:ph type="title"/>
          </p:nvPr>
        </p:nvSpPr>
        <p:spPr/>
        <p:txBody>
          <a:bodyPr/>
          <a:lstStyle/>
          <a:p>
            <a:r>
              <a:rPr lang="en-US" dirty="0"/>
              <a:t>Turn and talk</a:t>
            </a:r>
          </a:p>
        </p:txBody>
      </p:sp>
      <p:sp>
        <p:nvSpPr>
          <p:cNvPr id="3" name="Content Placeholder 2">
            <a:extLst>
              <a:ext uri="{FF2B5EF4-FFF2-40B4-BE49-F238E27FC236}">
                <a16:creationId xmlns:a16="http://schemas.microsoft.com/office/drawing/2014/main" id="{F61DEAA9-CCB5-D837-6022-322ACD16DA9A}"/>
              </a:ext>
            </a:extLst>
          </p:cNvPr>
          <p:cNvSpPr>
            <a:spLocks noGrp="1"/>
          </p:cNvSpPr>
          <p:nvPr>
            <p:ph idx="1"/>
          </p:nvPr>
        </p:nvSpPr>
        <p:spPr/>
        <p:txBody>
          <a:bodyPr/>
          <a:lstStyle/>
          <a:p>
            <a:r>
              <a:rPr lang="en-US" dirty="0"/>
              <a:t>What is the difference between the two algorithms?</a:t>
            </a:r>
          </a:p>
          <a:p>
            <a:endParaRPr lang="en-US" dirty="0"/>
          </a:p>
          <a:p>
            <a:r>
              <a:rPr lang="en-US" dirty="0"/>
              <a:t>In terms of…</a:t>
            </a:r>
          </a:p>
          <a:p>
            <a:pPr lvl="1"/>
            <a:r>
              <a:rPr lang="en-US" dirty="0"/>
              <a:t>Notation?</a:t>
            </a:r>
          </a:p>
          <a:p>
            <a:pPr lvl="1"/>
            <a:r>
              <a:rPr lang="en-US" dirty="0"/>
              <a:t>The algorithmic process?</a:t>
            </a:r>
          </a:p>
          <a:p>
            <a:pPr lvl="1"/>
            <a:r>
              <a:rPr lang="en-US" dirty="0"/>
              <a:t>Intermediate data structures/variables?</a:t>
            </a:r>
          </a:p>
          <a:p>
            <a:pPr lvl="1"/>
            <a:r>
              <a:rPr lang="en-US" dirty="0"/>
              <a:t>Result?</a:t>
            </a:r>
          </a:p>
        </p:txBody>
      </p:sp>
    </p:spTree>
    <p:extLst>
      <p:ext uri="{BB962C8B-B14F-4D97-AF65-F5344CB8AC3E}">
        <p14:creationId xmlns:p14="http://schemas.microsoft.com/office/powerpoint/2010/main" val="16243313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FC810DD-D698-AFD0-0CFF-FAF72656E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33616"/>
            <a:ext cx="9678162" cy="5790767"/>
          </a:xfrm>
          <a:prstGeom prst="rect">
            <a:avLst/>
          </a:prstGeom>
          <a:noFill/>
          <a:extLst>
            <a:ext uri="{909E8E84-426E-40DD-AFC4-6F175D3DCCD1}">
              <a14:hiddenFill xmlns:a14="http://schemas.microsoft.com/office/drawing/2010/main">
                <a:solidFill>
                  <a:srgbClr val="FFFFFF"/>
                </a:solidFill>
              </a14:hiddenFill>
            </a:ext>
          </a:extLst>
        </p:spPr>
      </p:pic>
      <p:pic>
        <p:nvPicPr>
          <p:cNvPr id="2" name="Content Placeholder 5" descr="A page of a book with text&#10;&#10;AI-generated content may be incorrect.">
            <a:extLst>
              <a:ext uri="{FF2B5EF4-FFF2-40B4-BE49-F238E27FC236}">
                <a16:creationId xmlns:a16="http://schemas.microsoft.com/office/drawing/2014/main" id="{5FAF7F9E-AE05-203A-CF8E-0D46533CFD81}"/>
              </a:ext>
            </a:extLst>
          </p:cNvPr>
          <p:cNvPicPr>
            <a:picLocks noChangeAspect="1"/>
          </p:cNvPicPr>
          <p:nvPr/>
        </p:nvPicPr>
        <p:blipFill>
          <a:blip r:embed="rId3"/>
          <a:stretch>
            <a:fillRect/>
          </a:stretch>
        </p:blipFill>
        <p:spPr>
          <a:xfrm>
            <a:off x="5170979" y="319086"/>
            <a:ext cx="7021021" cy="6219825"/>
          </a:xfrm>
          <a:prstGeom prst="rect">
            <a:avLst/>
          </a:prstGeom>
        </p:spPr>
      </p:pic>
    </p:spTree>
    <p:extLst>
      <p:ext uri="{BB962C8B-B14F-4D97-AF65-F5344CB8AC3E}">
        <p14:creationId xmlns:p14="http://schemas.microsoft.com/office/powerpoint/2010/main" val="42049586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6A51B-D9C9-62F4-D1DE-E7B3BFFC81A4}"/>
              </a:ext>
            </a:extLst>
          </p:cNvPr>
          <p:cNvSpPr>
            <a:spLocks noGrp="1"/>
          </p:cNvSpPr>
          <p:nvPr>
            <p:ph type="title"/>
          </p:nvPr>
        </p:nvSpPr>
        <p:spPr/>
        <p:txBody>
          <a:bodyPr>
            <a:normAutofit/>
          </a:bodyPr>
          <a:lstStyle/>
          <a:p>
            <a:r>
              <a:rPr lang="en-US" sz="4000" dirty="0"/>
              <a:t>Do Examples</a:t>
            </a:r>
          </a:p>
        </p:txBody>
      </p:sp>
      <p:sp>
        <p:nvSpPr>
          <p:cNvPr id="4" name="Content Placeholder 3">
            <a:extLst>
              <a:ext uri="{FF2B5EF4-FFF2-40B4-BE49-F238E27FC236}">
                <a16:creationId xmlns:a16="http://schemas.microsoft.com/office/drawing/2014/main" id="{F9CD7693-483A-6D53-1CE8-8B9766F3130F}"/>
              </a:ext>
            </a:extLst>
          </p:cNvPr>
          <p:cNvSpPr>
            <a:spLocks noGrp="1"/>
          </p:cNvSpPr>
          <p:nvPr>
            <p:ph idx="1"/>
          </p:nvPr>
        </p:nvSpPr>
        <p:spPr/>
        <p:txBody>
          <a:bodyPr/>
          <a:lstStyle/>
          <a:p>
            <a:r>
              <a:rPr lang="en-US" dirty="0"/>
              <a:t>Choose a starting node</a:t>
            </a:r>
          </a:p>
          <a:p>
            <a:r>
              <a:rPr lang="en-US" dirty="0"/>
              <a:t>Run through the algorithm</a:t>
            </a:r>
          </a:p>
          <a:p>
            <a:r>
              <a:rPr lang="en-US" dirty="0"/>
              <a:t>Draw on the board</a:t>
            </a:r>
          </a:p>
        </p:txBody>
      </p:sp>
      <p:sp>
        <p:nvSpPr>
          <p:cNvPr id="5" name="Text Placeholder 4">
            <a:extLst>
              <a:ext uri="{FF2B5EF4-FFF2-40B4-BE49-F238E27FC236}">
                <a16:creationId xmlns:a16="http://schemas.microsoft.com/office/drawing/2014/main" id="{63558136-DCC2-9BD6-8E4C-AA19A0CCA438}"/>
              </a:ext>
            </a:extLst>
          </p:cNvPr>
          <p:cNvSpPr>
            <a:spLocks noGrp="1"/>
          </p:cNvSpPr>
          <p:nvPr>
            <p:ph type="body" sz="half" idx="2"/>
          </p:nvPr>
        </p:nvSpPr>
        <p:spPr/>
        <p:txBody>
          <a:bodyPr/>
          <a:lstStyle/>
          <a:p>
            <a:r>
              <a:rPr lang="en-US" dirty="0"/>
              <a:t>Pass out papers</a:t>
            </a:r>
          </a:p>
        </p:txBody>
      </p:sp>
    </p:spTree>
    <p:extLst>
      <p:ext uri="{BB962C8B-B14F-4D97-AF65-F5344CB8AC3E}">
        <p14:creationId xmlns:p14="http://schemas.microsoft.com/office/powerpoint/2010/main" val="1408438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41990-3DB6-E8A6-5BC2-C47AF470D307}"/>
              </a:ext>
            </a:extLst>
          </p:cNvPr>
          <p:cNvSpPr>
            <a:spLocks noGrp="1"/>
          </p:cNvSpPr>
          <p:nvPr>
            <p:ph type="title"/>
          </p:nvPr>
        </p:nvSpPr>
        <p:spPr/>
        <p:txBody>
          <a:bodyPr/>
          <a:lstStyle/>
          <a:p>
            <a:r>
              <a:rPr lang="en-US" dirty="0"/>
              <a:t>Benefits of BFS</a:t>
            </a:r>
          </a:p>
        </p:txBody>
      </p:sp>
      <p:sp>
        <p:nvSpPr>
          <p:cNvPr id="3" name="Content Placeholder 2">
            <a:extLst>
              <a:ext uri="{FF2B5EF4-FFF2-40B4-BE49-F238E27FC236}">
                <a16:creationId xmlns:a16="http://schemas.microsoft.com/office/drawing/2014/main" id="{8A21BC93-B3FB-1555-0132-4F1C3CAB1AEF}"/>
              </a:ext>
            </a:extLst>
          </p:cNvPr>
          <p:cNvSpPr>
            <a:spLocks noGrp="1"/>
          </p:cNvSpPr>
          <p:nvPr>
            <p:ph idx="1"/>
          </p:nvPr>
        </p:nvSpPr>
        <p:spPr>
          <a:xfrm>
            <a:off x="838200" y="1825625"/>
            <a:ext cx="6079435" cy="4351338"/>
          </a:xfrm>
        </p:spPr>
        <p:txBody>
          <a:bodyPr/>
          <a:lstStyle/>
          <a:p>
            <a:r>
              <a:rPr lang="en-US" dirty="0"/>
              <a:t>Helps find </a:t>
            </a:r>
            <a:r>
              <a:rPr lang="en-US" i="1" dirty="0"/>
              <a:t>connected components </a:t>
            </a:r>
          </a:p>
          <a:p>
            <a:pPr lvl="1"/>
            <a:r>
              <a:rPr lang="en-US" dirty="0"/>
              <a:t>Connected parts of the graph </a:t>
            </a:r>
          </a:p>
          <a:p>
            <a:endParaRPr lang="en-US" dirty="0"/>
          </a:p>
          <a:p>
            <a:r>
              <a:rPr lang="en-US" dirty="0"/>
              <a:t>Adaptations can help with </a:t>
            </a:r>
            <a:r>
              <a:rPr lang="en-US" i="1" dirty="0"/>
              <a:t>coloring</a:t>
            </a:r>
          </a:p>
          <a:p>
            <a:pPr lvl="1"/>
            <a:r>
              <a:rPr lang="en-US" dirty="0"/>
              <a:t>Used in scheduling, </a:t>
            </a:r>
          </a:p>
          <a:p>
            <a:pPr lvl="1"/>
            <a:r>
              <a:rPr lang="en-US" dirty="0"/>
              <a:t>Register allocation in compilers,</a:t>
            </a:r>
          </a:p>
          <a:p>
            <a:pPr lvl="1"/>
            <a:r>
              <a:rPr lang="en-US" dirty="0"/>
              <a:t>Solving sudoku puzzles</a:t>
            </a:r>
          </a:p>
          <a:p>
            <a:pPr lvl="1"/>
            <a:endParaRPr lang="en-US" dirty="0"/>
          </a:p>
        </p:txBody>
      </p:sp>
      <p:sp>
        <p:nvSpPr>
          <p:cNvPr id="4" name="Slide Number Placeholder 3">
            <a:extLst>
              <a:ext uri="{FF2B5EF4-FFF2-40B4-BE49-F238E27FC236}">
                <a16:creationId xmlns:a16="http://schemas.microsoft.com/office/drawing/2014/main" id="{6F57AF51-A3DA-EC88-6EE2-6B22FACE10C7}"/>
              </a:ext>
            </a:extLst>
          </p:cNvPr>
          <p:cNvSpPr>
            <a:spLocks noGrp="1"/>
          </p:cNvSpPr>
          <p:nvPr>
            <p:ph type="sldNum" sz="quarter" idx="12"/>
          </p:nvPr>
        </p:nvSpPr>
        <p:spPr/>
        <p:txBody>
          <a:bodyPr/>
          <a:lstStyle/>
          <a:p>
            <a:fld id="{BA48107C-C25F-7145-BA2D-441DA2F40CC3}" type="slidenum">
              <a:rPr lang="en-US" smtClean="0"/>
              <a:t>31</a:t>
            </a:fld>
            <a:endParaRPr lang="en-US"/>
          </a:p>
        </p:txBody>
      </p:sp>
      <p:pic>
        <p:nvPicPr>
          <p:cNvPr id="6" name="Picture 5">
            <a:extLst>
              <a:ext uri="{FF2B5EF4-FFF2-40B4-BE49-F238E27FC236}">
                <a16:creationId xmlns:a16="http://schemas.microsoft.com/office/drawing/2014/main" id="{C9095579-C59D-678D-333C-FB51DB40FC01}"/>
              </a:ext>
            </a:extLst>
          </p:cNvPr>
          <p:cNvPicPr>
            <a:picLocks noChangeAspect="1"/>
          </p:cNvPicPr>
          <p:nvPr/>
        </p:nvPicPr>
        <p:blipFill>
          <a:blip r:embed="rId3"/>
          <a:stretch>
            <a:fillRect/>
          </a:stretch>
        </p:blipFill>
        <p:spPr>
          <a:xfrm>
            <a:off x="7607300" y="272257"/>
            <a:ext cx="3429000" cy="2971800"/>
          </a:xfrm>
          <a:prstGeom prst="rect">
            <a:avLst/>
          </a:prstGeom>
        </p:spPr>
      </p:pic>
      <p:pic>
        <p:nvPicPr>
          <p:cNvPr id="1028" name="Picture 4" descr="Graph coloring - Wikipedia">
            <a:extLst>
              <a:ext uri="{FF2B5EF4-FFF2-40B4-BE49-F238E27FC236}">
                <a16:creationId xmlns:a16="http://schemas.microsoft.com/office/drawing/2014/main" id="{50CD6C1E-4F27-A241-F204-8175F0CCBA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8075" y="3608584"/>
            <a:ext cx="3050899" cy="2977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7375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98695E-0F49-08AA-477A-17C84142DE1E}"/>
              </a:ext>
            </a:extLst>
          </p:cNvPr>
          <p:cNvSpPr>
            <a:spLocks noGrp="1"/>
          </p:cNvSpPr>
          <p:nvPr>
            <p:ph type="title"/>
          </p:nvPr>
        </p:nvSpPr>
        <p:spPr/>
        <p:txBody>
          <a:bodyPr/>
          <a:lstStyle/>
          <a:p>
            <a:r>
              <a:rPr lang="en-US" dirty="0"/>
              <a:t>DFS</a:t>
            </a:r>
          </a:p>
        </p:txBody>
      </p:sp>
      <p:sp>
        <p:nvSpPr>
          <p:cNvPr id="3" name="Text Placeholder 2">
            <a:extLst>
              <a:ext uri="{FF2B5EF4-FFF2-40B4-BE49-F238E27FC236}">
                <a16:creationId xmlns:a16="http://schemas.microsoft.com/office/drawing/2014/main" id="{C8C9BC99-339E-3FB1-6F70-BB35AD690451}"/>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2218440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0EF2A-AFBE-A616-00C9-5EBB345CEDE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771FFA9-B67D-A49A-B302-AD81D9337036}"/>
              </a:ext>
            </a:extLst>
          </p:cNvPr>
          <p:cNvSpPr>
            <a:spLocks noGrp="1"/>
          </p:cNvSpPr>
          <p:nvPr>
            <p:ph type="title"/>
          </p:nvPr>
        </p:nvSpPr>
        <p:spPr/>
        <p:txBody>
          <a:bodyPr/>
          <a:lstStyle/>
          <a:p>
            <a:r>
              <a:rPr lang="en-US" dirty="0"/>
              <a:t>Main Idea</a:t>
            </a:r>
          </a:p>
        </p:txBody>
      </p:sp>
      <p:sp>
        <p:nvSpPr>
          <p:cNvPr id="5" name="Content Placeholder 4">
            <a:extLst>
              <a:ext uri="{FF2B5EF4-FFF2-40B4-BE49-F238E27FC236}">
                <a16:creationId xmlns:a16="http://schemas.microsoft.com/office/drawing/2014/main" id="{4B3E30D0-B4FF-1BAF-ABA4-E34C11050E81}"/>
              </a:ext>
            </a:extLst>
          </p:cNvPr>
          <p:cNvSpPr>
            <a:spLocks noGrp="1"/>
          </p:cNvSpPr>
          <p:nvPr>
            <p:ph idx="1"/>
          </p:nvPr>
        </p:nvSpPr>
        <p:spPr/>
        <p:txBody>
          <a:bodyPr/>
          <a:lstStyle/>
          <a:p>
            <a:r>
              <a:rPr lang="en-US" dirty="0"/>
              <a:t>Start somewhere, add vertex to a stack.</a:t>
            </a:r>
          </a:p>
          <a:p>
            <a:r>
              <a:rPr lang="en-US" dirty="0"/>
              <a:t>Until the graph is entirely visited:</a:t>
            </a:r>
          </a:p>
          <a:p>
            <a:pPr lvl="1"/>
            <a:r>
              <a:rPr lang="en-US" dirty="0"/>
              <a:t>Pop from the stack, and push all of that node's children (who have not been visited)</a:t>
            </a:r>
          </a:p>
          <a:p>
            <a:pPr lvl="1"/>
            <a:endParaRPr lang="en-US" dirty="0"/>
          </a:p>
          <a:p>
            <a:r>
              <a:rPr lang="en-US" dirty="0"/>
              <a:t>Focus on children before neighbors: Depth before breadth</a:t>
            </a:r>
          </a:p>
          <a:p>
            <a:endParaRPr lang="en-US" dirty="0"/>
          </a:p>
          <a:p>
            <a:r>
              <a:rPr lang="en-US" dirty="0"/>
              <a:t>Complexity: O( |V| + |E| )</a:t>
            </a:r>
          </a:p>
        </p:txBody>
      </p:sp>
    </p:spTree>
    <p:extLst>
      <p:ext uri="{BB962C8B-B14F-4D97-AF65-F5344CB8AC3E}">
        <p14:creationId xmlns:p14="http://schemas.microsoft.com/office/powerpoint/2010/main" val="39192302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8C5FA2-F4DB-B0C5-54E1-40F2F4FE7E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0AFB30-E087-A6D3-014B-517E12C22741}"/>
              </a:ext>
            </a:extLst>
          </p:cNvPr>
          <p:cNvSpPr>
            <a:spLocks noGrp="1"/>
          </p:cNvSpPr>
          <p:nvPr>
            <p:ph type="title"/>
          </p:nvPr>
        </p:nvSpPr>
        <p:spPr/>
        <p:txBody>
          <a:bodyPr/>
          <a:lstStyle/>
          <a:p>
            <a:r>
              <a:rPr lang="en-US" dirty="0"/>
              <a:t>DFS Algorithm v.1</a:t>
            </a:r>
          </a:p>
        </p:txBody>
      </p:sp>
      <p:sp>
        <p:nvSpPr>
          <p:cNvPr id="3" name="Text Placeholder 2">
            <a:extLst>
              <a:ext uri="{FF2B5EF4-FFF2-40B4-BE49-F238E27FC236}">
                <a16:creationId xmlns:a16="http://schemas.microsoft.com/office/drawing/2014/main" id="{923B6426-7926-D764-D3A0-BA3925CD72E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8916097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55E9E-0347-519C-F55D-5244BE5017E8}"/>
            </a:ext>
          </a:extLst>
        </p:cNvPr>
        <p:cNvGrpSpPr/>
        <p:nvPr/>
      </p:nvGrpSpPr>
      <p:grpSpPr>
        <a:xfrm>
          <a:off x="0" y="0"/>
          <a:ext cx="0" cy="0"/>
          <a:chOff x="0" y="0"/>
          <a:chExt cx="0" cy="0"/>
        </a:xfrm>
      </p:grpSpPr>
      <p:pic>
        <p:nvPicPr>
          <p:cNvPr id="8194" name="Picture 2">
            <a:extLst>
              <a:ext uri="{FF2B5EF4-FFF2-40B4-BE49-F238E27FC236}">
                <a16:creationId xmlns:a16="http://schemas.microsoft.com/office/drawing/2014/main" id="{260698E4-B763-D4B2-2444-3082252447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040923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79455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A324-4433-C722-2DB7-4C0A0E8FC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8AC96B-C2D6-D2A8-04D0-30FE3746A877}"/>
              </a:ext>
            </a:extLst>
          </p:cNvPr>
          <p:cNvSpPr>
            <a:spLocks noGrp="1"/>
          </p:cNvSpPr>
          <p:nvPr>
            <p:ph type="title"/>
          </p:nvPr>
        </p:nvSpPr>
        <p:spPr/>
        <p:txBody>
          <a:bodyPr/>
          <a:lstStyle/>
          <a:p>
            <a:r>
              <a:rPr lang="en-US" dirty="0"/>
              <a:t>Insights</a:t>
            </a:r>
          </a:p>
        </p:txBody>
      </p:sp>
      <p:sp>
        <p:nvSpPr>
          <p:cNvPr id="3" name="Content Placeholder 2">
            <a:extLst>
              <a:ext uri="{FF2B5EF4-FFF2-40B4-BE49-F238E27FC236}">
                <a16:creationId xmlns:a16="http://schemas.microsoft.com/office/drawing/2014/main" id="{3D78FB4C-ADF6-A36E-5E90-BD4DA8435D40}"/>
              </a:ext>
            </a:extLst>
          </p:cNvPr>
          <p:cNvSpPr>
            <a:spLocks noGrp="1"/>
          </p:cNvSpPr>
          <p:nvPr>
            <p:ph idx="1"/>
          </p:nvPr>
        </p:nvSpPr>
        <p:spPr/>
        <p:txBody>
          <a:bodyPr/>
          <a:lstStyle/>
          <a:p>
            <a:r>
              <a:rPr lang="en-US" dirty="0"/>
              <a:t>Two algorithms this time instead of one. </a:t>
            </a:r>
          </a:p>
          <a:p>
            <a:pPr lvl="1"/>
            <a:r>
              <a:rPr lang="en-US" dirty="0"/>
              <a:t>One is recursive.</a:t>
            </a:r>
          </a:p>
          <a:p>
            <a:r>
              <a:rPr lang="en-US" dirty="0"/>
              <a:t>Similar colors/predecessor notation as previously.</a:t>
            </a:r>
          </a:p>
          <a:p>
            <a:r>
              <a:rPr lang="en-US" dirty="0"/>
              <a:t>But there's other information too. f, time. ????</a:t>
            </a:r>
          </a:p>
          <a:p>
            <a:endParaRPr lang="en-US" dirty="0"/>
          </a:p>
          <a:p>
            <a:r>
              <a:rPr lang="en-US" dirty="0"/>
              <a:t>Let's go through it step by step.</a:t>
            </a:r>
          </a:p>
          <a:p>
            <a:endParaRPr lang="en-US" dirty="0"/>
          </a:p>
        </p:txBody>
      </p:sp>
    </p:spTree>
    <p:extLst>
      <p:ext uri="{BB962C8B-B14F-4D97-AF65-F5344CB8AC3E}">
        <p14:creationId xmlns:p14="http://schemas.microsoft.com/office/powerpoint/2010/main" val="1857673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ACB82-79B6-D5B5-0FF2-8EF6109AADCA}"/>
            </a:ext>
          </a:extLst>
        </p:cNvPr>
        <p:cNvGrpSpPr/>
        <p:nvPr/>
      </p:nvGrpSpPr>
      <p:grpSpPr>
        <a:xfrm>
          <a:off x="0" y="0"/>
          <a:ext cx="0" cy="0"/>
          <a:chOff x="0" y="0"/>
          <a:chExt cx="0" cy="0"/>
        </a:xfrm>
      </p:grpSpPr>
      <p:pic>
        <p:nvPicPr>
          <p:cNvPr id="2" name="Picture 2">
            <a:extLst>
              <a:ext uri="{FF2B5EF4-FFF2-40B4-BE49-F238E27FC236}">
                <a16:creationId xmlns:a16="http://schemas.microsoft.com/office/drawing/2014/main" id="{A2CBA557-AC00-9EAB-823A-34ED821449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0409237" cy="6858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FA592FF-BC1E-AD5F-7B88-E7E114D6D449}"/>
              </a:ext>
            </a:extLst>
          </p:cNvPr>
          <p:cNvSpPr txBox="1"/>
          <p:nvPr/>
        </p:nvSpPr>
        <p:spPr>
          <a:xfrm>
            <a:off x="4399471" y="10490"/>
            <a:ext cx="3608804" cy="369332"/>
          </a:xfrm>
          <a:prstGeom prst="rect">
            <a:avLst/>
          </a:prstGeom>
          <a:solidFill>
            <a:schemeClr val="bg1"/>
          </a:solidFill>
          <a:ln w="38100">
            <a:solidFill>
              <a:srgbClr val="FF0000"/>
            </a:solidFill>
          </a:ln>
        </p:spPr>
        <p:txBody>
          <a:bodyPr wrap="square" rtlCol="0">
            <a:spAutoFit/>
          </a:bodyPr>
          <a:lstStyle/>
          <a:p>
            <a:r>
              <a:rPr lang="en-US" dirty="0"/>
              <a:t>Input: G in general.</a:t>
            </a:r>
          </a:p>
        </p:txBody>
      </p:sp>
      <p:cxnSp>
        <p:nvCxnSpPr>
          <p:cNvPr id="3" name="Straight Arrow Connector 2">
            <a:extLst>
              <a:ext uri="{FF2B5EF4-FFF2-40B4-BE49-F238E27FC236}">
                <a16:creationId xmlns:a16="http://schemas.microsoft.com/office/drawing/2014/main" id="{C9F5CC18-2E54-58D3-3E61-7B6A519FB66B}"/>
              </a:ext>
            </a:extLst>
          </p:cNvPr>
          <p:cNvCxnSpPr>
            <a:cxnSpLocks/>
            <a:stCxn id="4" idx="1"/>
          </p:cNvCxnSpPr>
          <p:nvPr/>
        </p:nvCxnSpPr>
        <p:spPr>
          <a:xfrm flipH="1">
            <a:off x="1256145" y="195156"/>
            <a:ext cx="3143326" cy="18466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B30E0ED-8E65-2696-9F8E-97362A18943C}"/>
                  </a:ext>
                </a:extLst>
              </p:cNvPr>
              <p:cNvSpPr txBox="1"/>
              <p:nvPr/>
            </p:nvSpPr>
            <p:spPr>
              <a:xfrm>
                <a:off x="8091575" y="156543"/>
                <a:ext cx="4045789" cy="923330"/>
              </a:xfrm>
              <a:prstGeom prst="rect">
                <a:avLst/>
              </a:prstGeom>
              <a:solidFill>
                <a:schemeClr val="bg1"/>
              </a:solidFill>
              <a:ln w="38100">
                <a:solidFill>
                  <a:srgbClr val="FF0000"/>
                </a:solidFill>
              </a:ln>
            </p:spPr>
            <p:txBody>
              <a:bodyPr wrap="square" rtlCol="0">
                <a:spAutoFit/>
              </a:bodyPr>
              <a:lstStyle/>
              <a:p>
                <a:r>
                  <a:rPr lang="en-US" dirty="0"/>
                  <a:t>Properties for every vertex:</a:t>
                </a:r>
              </a:p>
              <a:p>
                <a:pPr marL="285750" indent="-285750">
                  <a:buFont typeface="Arial" panose="020B0604020202020204" pitchFamily="34" charset="0"/>
                  <a:buChar char="•"/>
                </a:pPr>
                <a:r>
                  <a:rPr lang="en-US" dirty="0"/>
                  <a:t>color: white = unvisited</a:t>
                </a:r>
              </a:p>
              <a:p>
                <a:pPr marL="285750" indent="-285750">
                  <a:buFont typeface="Arial" panose="020B0604020202020204" pitchFamily="34" charset="0"/>
                  <a:buChar char="•"/>
                </a:pPr>
                <a14:m>
                  <m:oMath xmlns:m="http://schemas.openxmlformats.org/officeDocument/2006/math">
                    <m:r>
                      <a:rPr lang="en-US" i="1" dirty="0" smtClean="0">
                        <a:latin typeface="Cambria Math" panose="02040503050406030204" pitchFamily="18" charset="0"/>
                      </a:rPr>
                      <m:t>𝜋</m:t>
                    </m:r>
                  </m:oMath>
                </a14:m>
                <a:r>
                  <a:rPr lang="en-US" dirty="0"/>
                  <a:t>: predecessor</a:t>
                </a:r>
              </a:p>
            </p:txBody>
          </p:sp>
        </mc:Choice>
        <mc:Fallback xmlns="">
          <p:sp>
            <p:nvSpPr>
              <p:cNvPr id="5" name="TextBox 4">
                <a:extLst>
                  <a:ext uri="{FF2B5EF4-FFF2-40B4-BE49-F238E27FC236}">
                    <a16:creationId xmlns:a16="http://schemas.microsoft.com/office/drawing/2014/main" id="{AB30E0ED-8E65-2696-9F8E-97362A18943C}"/>
                  </a:ext>
                </a:extLst>
              </p:cNvPr>
              <p:cNvSpPr txBox="1">
                <a:spLocks noRot="1" noChangeAspect="1" noMove="1" noResize="1" noEditPoints="1" noAdjustHandles="1" noChangeArrowheads="1" noChangeShapeType="1" noTextEdit="1"/>
              </p:cNvSpPr>
              <p:nvPr/>
            </p:nvSpPr>
            <p:spPr>
              <a:xfrm>
                <a:off x="8091575" y="156543"/>
                <a:ext cx="4045789" cy="923330"/>
              </a:xfrm>
              <a:prstGeom prst="rect">
                <a:avLst/>
              </a:prstGeom>
              <a:blipFill>
                <a:blip r:embed="rId4"/>
                <a:stretch>
                  <a:fillRect l="-619" t="-1316" b="-7895"/>
                </a:stretch>
              </a:blipFill>
              <a:ln w="38100">
                <a:solidFill>
                  <a:srgbClr val="FF0000"/>
                </a:solidFill>
              </a:ln>
            </p:spPr>
            <p:txBody>
              <a:bodyPr/>
              <a:lstStyle/>
              <a:p>
                <a:r>
                  <a:rPr lang="en-US">
                    <a:noFill/>
                  </a:rPr>
                  <a:t> </a:t>
                </a:r>
              </a:p>
            </p:txBody>
          </p:sp>
        </mc:Fallback>
      </mc:AlternateContent>
      <p:cxnSp>
        <p:nvCxnSpPr>
          <p:cNvPr id="6" name="Straight Arrow Connector 5">
            <a:extLst>
              <a:ext uri="{FF2B5EF4-FFF2-40B4-BE49-F238E27FC236}">
                <a16:creationId xmlns:a16="http://schemas.microsoft.com/office/drawing/2014/main" id="{85230A8B-65AF-C7E8-5FF3-989FC809AECF}"/>
              </a:ext>
            </a:extLst>
          </p:cNvPr>
          <p:cNvCxnSpPr>
            <a:cxnSpLocks/>
            <a:stCxn id="5" idx="1"/>
            <a:endCxn id="21" idx="1"/>
          </p:cNvCxnSpPr>
          <p:nvPr/>
        </p:nvCxnSpPr>
        <p:spPr>
          <a:xfrm flipH="1">
            <a:off x="3562709" y="618208"/>
            <a:ext cx="4528866" cy="423912"/>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9596E27E-CF62-1557-3C3B-C078A1CE3E39}"/>
              </a:ext>
            </a:extLst>
          </p:cNvPr>
          <p:cNvSpPr txBox="1"/>
          <p:nvPr/>
        </p:nvSpPr>
        <p:spPr>
          <a:xfrm>
            <a:off x="5175849" y="1466427"/>
            <a:ext cx="6434260" cy="646331"/>
          </a:xfrm>
          <a:prstGeom prst="rect">
            <a:avLst/>
          </a:prstGeom>
          <a:solidFill>
            <a:schemeClr val="bg1"/>
          </a:solidFill>
          <a:ln w="38100">
            <a:solidFill>
              <a:srgbClr val="FF0000"/>
            </a:solidFill>
          </a:ln>
        </p:spPr>
        <p:txBody>
          <a:bodyPr wrap="square" rtlCol="0">
            <a:spAutoFit/>
          </a:bodyPr>
          <a:lstStyle/>
          <a:p>
            <a:r>
              <a:rPr lang="en-US" dirty="0"/>
              <a:t>Start the "timer" (# steps/distance from starting point) at 0.</a:t>
            </a:r>
          </a:p>
          <a:p>
            <a:r>
              <a:rPr lang="en-US" dirty="0"/>
              <a:t>For each vertex, if it is white (unvisited), run DFS-VISIT() on it.</a:t>
            </a:r>
          </a:p>
        </p:txBody>
      </p:sp>
      <p:cxnSp>
        <p:nvCxnSpPr>
          <p:cNvPr id="11" name="Straight Arrow Connector 10">
            <a:extLst>
              <a:ext uri="{FF2B5EF4-FFF2-40B4-BE49-F238E27FC236}">
                <a16:creationId xmlns:a16="http://schemas.microsoft.com/office/drawing/2014/main" id="{7EBE2EB8-3240-255C-CBC3-953FF7DE934F}"/>
              </a:ext>
            </a:extLst>
          </p:cNvPr>
          <p:cNvCxnSpPr>
            <a:cxnSpLocks/>
            <a:stCxn id="10" idx="1"/>
            <a:endCxn id="23" idx="1"/>
          </p:cNvCxnSpPr>
          <p:nvPr/>
        </p:nvCxnSpPr>
        <p:spPr>
          <a:xfrm flipH="1">
            <a:off x="3833294" y="1789593"/>
            <a:ext cx="1342555" cy="491351"/>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7" name="TextBox 16">
            <a:extLst>
              <a:ext uri="{FF2B5EF4-FFF2-40B4-BE49-F238E27FC236}">
                <a16:creationId xmlns:a16="http://schemas.microsoft.com/office/drawing/2014/main" id="{C8010D7B-C3C3-05F0-B344-B39EB69315CC}"/>
              </a:ext>
            </a:extLst>
          </p:cNvPr>
          <p:cNvSpPr txBox="1"/>
          <p:nvPr/>
        </p:nvSpPr>
        <p:spPr>
          <a:xfrm>
            <a:off x="3949988" y="3455252"/>
            <a:ext cx="5883215" cy="646331"/>
          </a:xfrm>
          <a:prstGeom prst="rect">
            <a:avLst/>
          </a:prstGeom>
          <a:solidFill>
            <a:schemeClr val="bg1"/>
          </a:solidFill>
          <a:ln w="38100">
            <a:solidFill>
              <a:srgbClr val="FF0000"/>
            </a:solidFill>
          </a:ln>
        </p:spPr>
        <p:txBody>
          <a:bodyPr wrap="square" rtlCol="0">
            <a:spAutoFit/>
          </a:bodyPr>
          <a:lstStyle/>
          <a:p>
            <a:r>
              <a:rPr lang="en-US" dirty="0"/>
              <a:t>We discovered u, so add 1 to time, update u's distance, mark as gray (visited)</a:t>
            </a:r>
          </a:p>
        </p:txBody>
      </p:sp>
      <p:cxnSp>
        <p:nvCxnSpPr>
          <p:cNvPr id="18" name="Straight Arrow Connector 17">
            <a:extLst>
              <a:ext uri="{FF2B5EF4-FFF2-40B4-BE49-F238E27FC236}">
                <a16:creationId xmlns:a16="http://schemas.microsoft.com/office/drawing/2014/main" id="{43BCEF61-E2B6-AF43-F631-60A5736E4494}"/>
              </a:ext>
            </a:extLst>
          </p:cNvPr>
          <p:cNvCxnSpPr>
            <a:cxnSpLocks/>
            <a:stCxn id="17" idx="1"/>
            <a:endCxn id="35" idx="1"/>
          </p:cNvCxnSpPr>
          <p:nvPr/>
        </p:nvCxnSpPr>
        <p:spPr>
          <a:xfrm flipH="1">
            <a:off x="3228943" y="3778418"/>
            <a:ext cx="721045" cy="198523"/>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1" name="Right Brace 20">
            <a:extLst>
              <a:ext uri="{FF2B5EF4-FFF2-40B4-BE49-F238E27FC236}">
                <a16:creationId xmlns:a16="http://schemas.microsoft.com/office/drawing/2014/main" id="{C522D886-F95A-19AB-C15C-755C5063ED17}"/>
              </a:ext>
            </a:extLst>
          </p:cNvPr>
          <p:cNvSpPr/>
          <p:nvPr/>
        </p:nvSpPr>
        <p:spPr>
          <a:xfrm>
            <a:off x="3174434" y="585237"/>
            <a:ext cx="388275" cy="91376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3" name="Right Brace 22">
            <a:extLst>
              <a:ext uri="{FF2B5EF4-FFF2-40B4-BE49-F238E27FC236}">
                <a16:creationId xmlns:a16="http://schemas.microsoft.com/office/drawing/2014/main" id="{470AD6F4-4701-B641-8700-0906BC47D2F1}"/>
              </a:ext>
            </a:extLst>
          </p:cNvPr>
          <p:cNvSpPr/>
          <p:nvPr/>
        </p:nvSpPr>
        <p:spPr>
          <a:xfrm>
            <a:off x="3445019" y="1585639"/>
            <a:ext cx="388275" cy="1390609"/>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5" name="Right Brace 34">
            <a:extLst>
              <a:ext uri="{FF2B5EF4-FFF2-40B4-BE49-F238E27FC236}">
                <a16:creationId xmlns:a16="http://schemas.microsoft.com/office/drawing/2014/main" id="{EBE9CDDC-8CC4-F4B5-91A6-C97099735C26}"/>
              </a:ext>
            </a:extLst>
          </p:cNvPr>
          <p:cNvSpPr/>
          <p:nvPr/>
        </p:nvSpPr>
        <p:spPr>
          <a:xfrm>
            <a:off x="2858126" y="3498656"/>
            <a:ext cx="370817" cy="956569"/>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0" name="TextBox 39">
            <a:extLst>
              <a:ext uri="{FF2B5EF4-FFF2-40B4-BE49-F238E27FC236}">
                <a16:creationId xmlns:a16="http://schemas.microsoft.com/office/drawing/2014/main" id="{C627360C-43E4-1980-D86A-D4FFBF177FF2}"/>
              </a:ext>
            </a:extLst>
          </p:cNvPr>
          <p:cNvSpPr txBox="1"/>
          <p:nvPr/>
        </p:nvSpPr>
        <p:spPr>
          <a:xfrm>
            <a:off x="4160121" y="4450576"/>
            <a:ext cx="5883215" cy="369332"/>
          </a:xfrm>
          <a:prstGeom prst="rect">
            <a:avLst/>
          </a:prstGeom>
          <a:solidFill>
            <a:schemeClr val="bg1"/>
          </a:solidFill>
          <a:ln w="38100">
            <a:solidFill>
              <a:srgbClr val="FF0000"/>
            </a:solidFill>
          </a:ln>
        </p:spPr>
        <p:txBody>
          <a:bodyPr wrap="square" rtlCol="0">
            <a:spAutoFit/>
          </a:bodyPr>
          <a:lstStyle/>
          <a:p>
            <a:r>
              <a:rPr lang="en-US" dirty="0"/>
              <a:t>Look at each vertex adjacent to u. Visit it recursively.</a:t>
            </a:r>
          </a:p>
        </p:txBody>
      </p:sp>
      <p:cxnSp>
        <p:nvCxnSpPr>
          <p:cNvPr id="41" name="Straight Arrow Connector 40">
            <a:extLst>
              <a:ext uri="{FF2B5EF4-FFF2-40B4-BE49-F238E27FC236}">
                <a16:creationId xmlns:a16="http://schemas.microsoft.com/office/drawing/2014/main" id="{9A3CCE0D-F8B4-C316-1523-BD8B6CF275D9}"/>
              </a:ext>
            </a:extLst>
          </p:cNvPr>
          <p:cNvCxnSpPr>
            <a:cxnSpLocks/>
            <a:stCxn id="40" idx="1"/>
            <a:endCxn id="42" idx="1"/>
          </p:cNvCxnSpPr>
          <p:nvPr/>
        </p:nvCxnSpPr>
        <p:spPr>
          <a:xfrm flipH="1">
            <a:off x="3949988" y="4635242"/>
            <a:ext cx="210133" cy="658228"/>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2" name="Right Brace 41">
            <a:extLst>
              <a:ext uri="{FF2B5EF4-FFF2-40B4-BE49-F238E27FC236}">
                <a16:creationId xmlns:a16="http://schemas.microsoft.com/office/drawing/2014/main" id="{EDC56E27-BF0C-796A-D10E-32F77F31B81A}"/>
              </a:ext>
            </a:extLst>
          </p:cNvPr>
          <p:cNvSpPr/>
          <p:nvPr/>
        </p:nvSpPr>
        <p:spPr>
          <a:xfrm>
            <a:off x="3716599" y="4758883"/>
            <a:ext cx="233389" cy="106917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47" name="TextBox 46">
            <a:extLst>
              <a:ext uri="{FF2B5EF4-FFF2-40B4-BE49-F238E27FC236}">
                <a16:creationId xmlns:a16="http://schemas.microsoft.com/office/drawing/2014/main" id="{B3A16C4D-B3E6-70FE-0EFE-A55741B43C04}"/>
              </a:ext>
            </a:extLst>
          </p:cNvPr>
          <p:cNvSpPr txBox="1"/>
          <p:nvPr/>
        </p:nvSpPr>
        <p:spPr>
          <a:xfrm>
            <a:off x="4083731" y="5741649"/>
            <a:ext cx="5883215" cy="369332"/>
          </a:xfrm>
          <a:prstGeom prst="rect">
            <a:avLst/>
          </a:prstGeom>
          <a:solidFill>
            <a:schemeClr val="bg1"/>
          </a:solidFill>
          <a:ln w="38100">
            <a:solidFill>
              <a:srgbClr val="FF0000"/>
            </a:solidFill>
          </a:ln>
        </p:spPr>
        <p:txBody>
          <a:bodyPr wrap="square" rtlCol="0">
            <a:spAutoFit/>
          </a:bodyPr>
          <a:lstStyle/>
          <a:p>
            <a:r>
              <a:rPr lang="en-US" dirty="0"/>
              <a:t>We're done with u ! Mark it processed.</a:t>
            </a:r>
          </a:p>
        </p:txBody>
      </p:sp>
      <p:cxnSp>
        <p:nvCxnSpPr>
          <p:cNvPr id="48" name="Straight Arrow Connector 47">
            <a:extLst>
              <a:ext uri="{FF2B5EF4-FFF2-40B4-BE49-F238E27FC236}">
                <a16:creationId xmlns:a16="http://schemas.microsoft.com/office/drawing/2014/main" id="{8DFB68F8-54F4-F5EB-6DA1-1724BC76BA4B}"/>
              </a:ext>
            </a:extLst>
          </p:cNvPr>
          <p:cNvCxnSpPr>
            <a:cxnSpLocks/>
            <a:stCxn id="47" idx="1"/>
            <a:endCxn id="49" idx="1"/>
          </p:cNvCxnSpPr>
          <p:nvPr/>
        </p:nvCxnSpPr>
        <p:spPr>
          <a:xfrm flipH="1">
            <a:off x="3064778" y="5926315"/>
            <a:ext cx="1018953" cy="380026"/>
          </a:xfrm>
          <a:prstGeom prst="straightConnector1">
            <a:avLst/>
          </a:prstGeom>
          <a:ln w="3810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9" name="Right Brace 48">
            <a:extLst>
              <a:ext uri="{FF2B5EF4-FFF2-40B4-BE49-F238E27FC236}">
                <a16:creationId xmlns:a16="http://schemas.microsoft.com/office/drawing/2014/main" id="{0021EABC-B6EC-D2D0-6737-451B06ACA3FA}"/>
              </a:ext>
            </a:extLst>
          </p:cNvPr>
          <p:cNvSpPr/>
          <p:nvPr/>
        </p:nvSpPr>
        <p:spPr>
          <a:xfrm>
            <a:off x="2831389" y="5828057"/>
            <a:ext cx="233389" cy="956568"/>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807551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17" grpId="0" animBg="1"/>
      <p:bldP spid="21" grpId="0" animBg="1"/>
      <p:bldP spid="23" grpId="0" animBg="1"/>
      <p:bldP spid="35" grpId="0" animBg="1"/>
      <p:bldP spid="40" grpId="0" animBg="1"/>
      <p:bldP spid="42" grpId="0" animBg="1"/>
      <p:bldP spid="47" grpId="0" animBg="1"/>
      <p:bldP spid="49"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67CA0-7580-B328-7B32-5E939AB5C81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C1782A9-B7B5-DD56-C813-EDD3ED17CA56}"/>
              </a:ext>
            </a:extLst>
          </p:cNvPr>
          <p:cNvSpPr txBox="1"/>
          <p:nvPr/>
        </p:nvSpPr>
        <p:spPr>
          <a:xfrm>
            <a:off x="4600575" y="5599896"/>
            <a:ext cx="7516356" cy="954107"/>
          </a:xfrm>
          <a:prstGeom prst="rect">
            <a:avLst/>
          </a:prstGeom>
          <a:noFill/>
          <a:ln w="38100">
            <a:solidFill>
              <a:srgbClr val="FF0000"/>
            </a:solidFill>
          </a:ln>
        </p:spPr>
        <p:txBody>
          <a:bodyPr wrap="square" rtlCol="0">
            <a:spAutoFit/>
          </a:bodyPr>
          <a:lstStyle/>
          <a:p>
            <a:r>
              <a:rPr lang="en-US" sz="2800" dirty="0"/>
              <a:t>Could we run this algorithm on an undirected graph?</a:t>
            </a:r>
          </a:p>
        </p:txBody>
      </p:sp>
      <p:pic>
        <p:nvPicPr>
          <p:cNvPr id="4" name="Picture 3" descr="A diagram of a graph&#10;&#10;AI-generated content may be incorrect.">
            <a:extLst>
              <a:ext uri="{FF2B5EF4-FFF2-40B4-BE49-F238E27FC236}">
                <a16:creationId xmlns:a16="http://schemas.microsoft.com/office/drawing/2014/main" id="{C0FABF7D-C844-5DB0-4E4F-AF7571A24153}"/>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4053562" y="0"/>
            <a:ext cx="8138438" cy="5295900"/>
          </a:xfrm>
          <a:prstGeom prst="rect">
            <a:avLst/>
          </a:prstGeom>
        </p:spPr>
      </p:pic>
      <p:pic>
        <p:nvPicPr>
          <p:cNvPr id="5" name="Picture 2">
            <a:extLst>
              <a:ext uri="{FF2B5EF4-FFF2-40B4-BE49-F238E27FC236}">
                <a16:creationId xmlns:a16="http://schemas.microsoft.com/office/drawing/2014/main" id="{A895F71C-4605-2ADA-198D-B540EC34880B}"/>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 r="60104" b="-1"/>
          <a:stretch>
            <a:fillRect/>
          </a:stretch>
        </p:blipFill>
        <p:spPr bwMode="auto">
          <a:xfrm>
            <a:off x="1" y="-1"/>
            <a:ext cx="41529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86841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1056A-3BA6-5C79-A105-32D8743D5719}"/>
              </a:ext>
            </a:extLst>
          </p:cNvPr>
          <p:cNvSpPr>
            <a:spLocks noGrp="1"/>
          </p:cNvSpPr>
          <p:nvPr>
            <p:ph type="title"/>
          </p:nvPr>
        </p:nvSpPr>
        <p:spPr/>
        <p:txBody>
          <a:bodyPr/>
          <a:lstStyle/>
          <a:p>
            <a:r>
              <a:rPr lang="en-US" dirty="0"/>
              <a:t>Types of edges</a:t>
            </a:r>
          </a:p>
        </p:txBody>
      </p:sp>
      <p:sp>
        <p:nvSpPr>
          <p:cNvPr id="3" name="Content Placeholder 2">
            <a:extLst>
              <a:ext uri="{FF2B5EF4-FFF2-40B4-BE49-F238E27FC236}">
                <a16:creationId xmlns:a16="http://schemas.microsoft.com/office/drawing/2014/main" id="{9611B8BA-5635-79CA-5F82-72058960E0E5}"/>
              </a:ext>
            </a:extLst>
          </p:cNvPr>
          <p:cNvSpPr>
            <a:spLocks noGrp="1"/>
          </p:cNvSpPr>
          <p:nvPr>
            <p:ph idx="1"/>
          </p:nvPr>
        </p:nvSpPr>
        <p:spPr/>
        <p:txBody>
          <a:bodyPr>
            <a:normAutofit lnSpcReduction="10000"/>
          </a:bodyPr>
          <a:lstStyle/>
          <a:p>
            <a:r>
              <a:rPr lang="en-US" dirty="0"/>
              <a:t>Tree edges</a:t>
            </a:r>
          </a:p>
          <a:p>
            <a:pPr lvl="1"/>
            <a:r>
              <a:rPr lang="en-US" dirty="0"/>
              <a:t>(</a:t>
            </a:r>
            <a:r>
              <a:rPr lang="en-US" dirty="0" err="1"/>
              <a:t>u,v</a:t>
            </a:r>
            <a:r>
              <a:rPr lang="en-US" dirty="0"/>
              <a:t>) is a tree edge if v was first discovered by exploring edge (</a:t>
            </a:r>
            <a:r>
              <a:rPr lang="en-US" dirty="0" err="1"/>
              <a:t>u,v</a:t>
            </a:r>
            <a:r>
              <a:rPr lang="en-US" dirty="0"/>
              <a:t>)</a:t>
            </a:r>
          </a:p>
          <a:p>
            <a:r>
              <a:rPr lang="en-US" dirty="0"/>
              <a:t>F = Forward edges</a:t>
            </a:r>
          </a:p>
          <a:p>
            <a:pPr lvl="1"/>
            <a:r>
              <a:rPr lang="en-US" dirty="0"/>
              <a:t>We could have gone "forward" in the algorithm to this node, but we've already processed it</a:t>
            </a:r>
          </a:p>
          <a:p>
            <a:pPr lvl="1"/>
            <a:r>
              <a:rPr lang="en-US" dirty="0"/>
              <a:t>Nontree edges (</a:t>
            </a:r>
            <a:r>
              <a:rPr lang="en-US" dirty="0" err="1"/>
              <a:t>u,v</a:t>
            </a:r>
            <a:r>
              <a:rPr lang="en-US" dirty="0"/>
              <a:t>) connecting u to a descendant v in a depth-first tree.</a:t>
            </a:r>
          </a:p>
          <a:p>
            <a:r>
              <a:rPr lang="en-US" dirty="0"/>
              <a:t>B = Back edges</a:t>
            </a:r>
          </a:p>
          <a:p>
            <a:pPr lvl="1"/>
            <a:r>
              <a:rPr lang="en-US" dirty="0"/>
              <a:t>Edges (</a:t>
            </a:r>
            <a:r>
              <a:rPr lang="en-US" dirty="0" err="1"/>
              <a:t>u,v</a:t>
            </a:r>
            <a:r>
              <a:rPr lang="en-US" dirty="0"/>
              <a:t>) connecting a vertex u to an ancestor v in a depth-first tree</a:t>
            </a:r>
          </a:p>
          <a:p>
            <a:pPr lvl="1"/>
            <a:r>
              <a:rPr lang="en-US" dirty="0"/>
              <a:t>Self-loops are considered back edges.</a:t>
            </a:r>
          </a:p>
          <a:p>
            <a:r>
              <a:rPr lang="en-US" dirty="0"/>
              <a:t>C = Cross edges</a:t>
            </a:r>
          </a:p>
          <a:p>
            <a:pPr lvl="1"/>
            <a:r>
              <a:rPr lang="en-US" dirty="0"/>
              <a:t>All other non-included edges.</a:t>
            </a:r>
          </a:p>
          <a:p>
            <a:pPr lvl="1"/>
            <a:endParaRPr lang="en-US" dirty="0"/>
          </a:p>
        </p:txBody>
      </p:sp>
    </p:spTree>
    <p:extLst>
      <p:ext uri="{BB962C8B-B14F-4D97-AF65-F5344CB8AC3E}">
        <p14:creationId xmlns:p14="http://schemas.microsoft.com/office/powerpoint/2010/main" val="15193439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B427D-2DC6-68B7-4C25-31722F2D8A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0D87E2-E33E-A5EF-C5B6-11660B8D4185}"/>
              </a:ext>
            </a:extLst>
          </p:cNvPr>
          <p:cNvSpPr>
            <a:spLocks noGrp="1"/>
          </p:cNvSpPr>
          <p:nvPr>
            <p:ph type="title"/>
          </p:nvPr>
        </p:nvSpPr>
        <p:spPr/>
        <p:txBody>
          <a:bodyPr/>
          <a:lstStyle/>
          <a:p>
            <a:r>
              <a:rPr lang="en-US" dirty="0"/>
              <a:t>DFS Algorithm v.2</a:t>
            </a:r>
          </a:p>
        </p:txBody>
      </p:sp>
      <p:sp>
        <p:nvSpPr>
          <p:cNvPr id="3" name="Text Placeholder 2">
            <a:extLst>
              <a:ext uri="{FF2B5EF4-FFF2-40B4-BE49-F238E27FC236}">
                <a16:creationId xmlns:a16="http://schemas.microsoft.com/office/drawing/2014/main" id="{EEC84A04-F33E-E9F8-94A4-8EC0D1911AE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9265364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62174A-C319-9753-BD2E-5582D0710408}"/>
            </a:ext>
          </a:extLst>
        </p:cNvPr>
        <p:cNvGrpSpPr/>
        <p:nvPr/>
      </p:nvGrpSpPr>
      <p:grpSpPr>
        <a:xfrm>
          <a:off x="0" y="0"/>
          <a:ext cx="0" cy="0"/>
          <a:chOff x="0" y="0"/>
          <a:chExt cx="0" cy="0"/>
        </a:xfrm>
      </p:grpSpPr>
      <p:pic>
        <p:nvPicPr>
          <p:cNvPr id="5" name="Picture 4" descr="A book with text and diagram&#10;&#10;AI-generated content may be incorrect.">
            <a:extLst>
              <a:ext uri="{FF2B5EF4-FFF2-40B4-BE49-F238E27FC236}">
                <a16:creationId xmlns:a16="http://schemas.microsoft.com/office/drawing/2014/main" id="{1B5F8396-0194-3FBC-E8B5-1FF0BECBCDCE}"/>
              </a:ext>
            </a:extLst>
          </p:cNvPr>
          <p:cNvPicPr>
            <a:picLocks noChangeAspect="1"/>
          </p:cNvPicPr>
          <p:nvPr/>
        </p:nvPicPr>
        <p:blipFill>
          <a:blip r:embed="rId2"/>
          <a:srcRect l="14795" r="44801" b="29620"/>
          <a:stretch>
            <a:fillRect/>
          </a:stretch>
        </p:blipFill>
        <p:spPr>
          <a:xfrm>
            <a:off x="8231256" y="218621"/>
            <a:ext cx="3140364" cy="2198255"/>
          </a:xfrm>
          <a:prstGeom prst="rect">
            <a:avLst/>
          </a:prstGeom>
        </p:spPr>
      </p:pic>
      <p:pic>
        <p:nvPicPr>
          <p:cNvPr id="7" name="Picture 6" descr="A page of a book with text&#10;&#10;AI-generated content may be incorrect.">
            <a:extLst>
              <a:ext uri="{FF2B5EF4-FFF2-40B4-BE49-F238E27FC236}">
                <a16:creationId xmlns:a16="http://schemas.microsoft.com/office/drawing/2014/main" id="{16A3E436-844D-B4A9-7AAB-1FA6CC8BC429}"/>
              </a:ext>
            </a:extLst>
          </p:cNvPr>
          <p:cNvPicPr>
            <a:picLocks noChangeAspect="1"/>
          </p:cNvPicPr>
          <p:nvPr/>
        </p:nvPicPr>
        <p:blipFill>
          <a:blip r:embed="rId3"/>
          <a:stretch>
            <a:fillRect/>
          </a:stretch>
        </p:blipFill>
        <p:spPr>
          <a:xfrm>
            <a:off x="0" y="142875"/>
            <a:ext cx="7772400" cy="6363250"/>
          </a:xfrm>
          <a:prstGeom prst="rect">
            <a:avLst/>
          </a:prstGeom>
        </p:spPr>
      </p:pic>
      <p:pic>
        <p:nvPicPr>
          <p:cNvPr id="9" name="Picture 8" descr="A diagram of a diagram of a triangle&#10;&#10;AI-generated content may be incorrect.">
            <a:extLst>
              <a:ext uri="{FF2B5EF4-FFF2-40B4-BE49-F238E27FC236}">
                <a16:creationId xmlns:a16="http://schemas.microsoft.com/office/drawing/2014/main" id="{BE40597D-75C7-9A51-6763-919AC5930258}"/>
              </a:ext>
            </a:extLst>
          </p:cNvPr>
          <p:cNvPicPr>
            <a:picLocks noChangeAspect="1"/>
          </p:cNvPicPr>
          <p:nvPr/>
        </p:nvPicPr>
        <p:blipFill>
          <a:blip r:embed="rId4"/>
          <a:srcRect l="58578"/>
          <a:stretch>
            <a:fillRect/>
          </a:stretch>
        </p:blipFill>
        <p:spPr>
          <a:xfrm>
            <a:off x="8191713" y="2550455"/>
            <a:ext cx="3219450" cy="4156237"/>
          </a:xfrm>
          <a:prstGeom prst="rect">
            <a:avLst/>
          </a:prstGeom>
        </p:spPr>
      </p:pic>
    </p:spTree>
    <p:extLst>
      <p:ext uri="{BB962C8B-B14F-4D97-AF65-F5344CB8AC3E}">
        <p14:creationId xmlns:p14="http://schemas.microsoft.com/office/powerpoint/2010/main" val="21949872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02E806-01D7-9866-80E3-EDE4D6C6DBB3}"/>
            </a:ext>
          </a:extLst>
        </p:cNvPr>
        <p:cNvGrpSpPr/>
        <p:nvPr/>
      </p:nvGrpSpPr>
      <p:grpSpPr>
        <a:xfrm>
          <a:off x="0" y="0"/>
          <a:ext cx="0" cy="0"/>
          <a:chOff x="0" y="0"/>
          <a:chExt cx="0" cy="0"/>
        </a:xfrm>
      </p:grpSpPr>
      <p:pic>
        <p:nvPicPr>
          <p:cNvPr id="4" name="Picture 3" descr="A diagram of a diagram of a triangle&#10;&#10;AI-generated content may be incorrect.">
            <a:extLst>
              <a:ext uri="{FF2B5EF4-FFF2-40B4-BE49-F238E27FC236}">
                <a16:creationId xmlns:a16="http://schemas.microsoft.com/office/drawing/2014/main" id="{E01DF4E2-501B-067D-523E-6BDFF906E604}"/>
              </a:ext>
            </a:extLst>
          </p:cNvPr>
          <p:cNvPicPr>
            <a:picLocks noChangeAspect="1"/>
          </p:cNvPicPr>
          <p:nvPr/>
        </p:nvPicPr>
        <p:blipFill>
          <a:blip r:embed="rId2"/>
          <a:stretch>
            <a:fillRect/>
          </a:stretch>
        </p:blipFill>
        <p:spPr>
          <a:xfrm>
            <a:off x="2019300" y="769280"/>
            <a:ext cx="7772400" cy="4156237"/>
          </a:xfrm>
          <a:prstGeom prst="rect">
            <a:avLst/>
          </a:prstGeom>
        </p:spPr>
      </p:pic>
      <p:sp>
        <p:nvSpPr>
          <p:cNvPr id="5" name="TextBox 4">
            <a:extLst>
              <a:ext uri="{FF2B5EF4-FFF2-40B4-BE49-F238E27FC236}">
                <a16:creationId xmlns:a16="http://schemas.microsoft.com/office/drawing/2014/main" id="{EA974210-3FA1-373D-BA9C-B7CF0DE9A482}"/>
              </a:ext>
            </a:extLst>
          </p:cNvPr>
          <p:cNvSpPr txBox="1"/>
          <p:nvPr/>
        </p:nvSpPr>
        <p:spPr>
          <a:xfrm>
            <a:off x="2839563" y="5191125"/>
            <a:ext cx="6512873" cy="369332"/>
          </a:xfrm>
          <a:prstGeom prst="rect">
            <a:avLst/>
          </a:prstGeom>
          <a:noFill/>
        </p:spPr>
        <p:txBody>
          <a:bodyPr wrap="none" rtlCol="0">
            <a:spAutoFit/>
          </a:bodyPr>
          <a:lstStyle/>
          <a:p>
            <a:r>
              <a:rPr lang="en-US" dirty="0"/>
              <a:t>Dashed lines, which are not part of the tree, indicate back edges.</a:t>
            </a:r>
          </a:p>
        </p:txBody>
      </p:sp>
    </p:spTree>
    <p:extLst>
      <p:ext uri="{BB962C8B-B14F-4D97-AF65-F5344CB8AC3E}">
        <p14:creationId xmlns:p14="http://schemas.microsoft.com/office/powerpoint/2010/main" val="25874522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3B7CA-FA72-5DF0-4C3D-64F86AD3E2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3A85E-A2F6-DB98-F47F-05FA3AAEC931}"/>
              </a:ext>
            </a:extLst>
          </p:cNvPr>
          <p:cNvSpPr>
            <a:spLocks noGrp="1"/>
          </p:cNvSpPr>
          <p:nvPr>
            <p:ph type="title"/>
          </p:nvPr>
        </p:nvSpPr>
        <p:spPr/>
        <p:txBody>
          <a:bodyPr/>
          <a:lstStyle/>
          <a:p>
            <a:r>
              <a:rPr lang="en-US" dirty="0"/>
              <a:t>Turn and talk</a:t>
            </a:r>
          </a:p>
        </p:txBody>
      </p:sp>
      <p:sp>
        <p:nvSpPr>
          <p:cNvPr id="3" name="Content Placeholder 2">
            <a:extLst>
              <a:ext uri="{FF2B5EF4-FFF2-40B4-BE49-F238E27FC236}">
                <a16:creationId xmlns:a16="http://schemas.microsoft.com/office/drawing/2014/main" id="{3B37BFEA-2C73-CF77-4067-1AA5F84DA389}"/>
              </a:ext>
            </a:extLst>
          </p:cNvPr>
          <p:cNvSpPr>
            <a:spLocks noGrp="1"/>
          </p:cNvSpPr>
          <p:nvPr>
            <p:ph idx="1"/>
          </p:nvPr>
        </p:nvSpPr>
        <p:spPr/>
        <p:txBody>
          <a:bodyPr/>
          <a:lstStyle/>
          <a:p>
            <a:r>
              <a:rPr lang="en-US" dirty="0"/>
              <a:t>What is the difference between the two DFS algorithms?</a:t>
            </a:r>
          </a:p>
          <a:p>
            <a:endParaRPr lang="en-US" dirty="0"/>
          </a:p>
          <a:p>
            <a:r>
              <a:rPr lang="en-US" dirty="0"/>
              <a:t>In terms of…</a:t>
            </a:r>
          </a:p>
          <a:p>
            <a:pPr lvl="1"/>
            <a:r>
              <a:rPr lang="en-US" dirty="0"/>
              <a:t>Notation?</a:t>
            </a:r>
          </a:p>
          <a:p>
            <a:pPr lvl="1"/>
            <a:r>
              <a:rPr lang="en-US" dirty="0"/>
              <a:t>The algorithmic process?</a:t>
            </a:r>
          </a:p>
          <a:p>
            <a:pPr lvl="1"/>
            <a:r>
              <a:rPr lang="en-US" dirty="0"/>
              <a:t>Intermediate data structures/variables?</a:t>
            </a:r>
          </a:p>
          <a:p>
            <a:pPr lvl="1"/>
            <a:r>
              <a:rPr lang="en-US" dirty="0"/>
              <a:t>Result?</a:t>
            </a:r>
          </a:p>
          <a:p>
            <a:r>
              <a:rPr lang="en-US" dirty="0"/>
              <a:t>BFS and DFS are similar algorithms. What distinguishes BFS from DFS?</a:t>
            </a:r>
          </a:p>
          <a:p>
            <a:endParaRPr lang="en-US" dirty="0"/>
          </a:p>
        </p:txBody>
      </p:sp>
    </p:spTree>
    <p:extLst>
      <p:ext uri="{BB962C8B-B14F-4D97-AF65-F5344CB8AC3E}">
        <p14:creationId xmlns:p14="http://schemas.microsoft.com/office/powerpoint/2010/main" val="1869262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BFAA3-7C84-71D6-B3FE-A4EB5D10F2C0}"/>
            </a:ext>
          </a:extLst>
        </p:cNvPr>
        <p:cNvGrpSpPr/>
        <p:nvPr/>
      </p:nvGrpSpPr>
      <p:grpSpPr>
        <a:xfrm>
          <a:off x="0" y="0"/>
          <a:ext cx="0" cy="0"/>
          <a:chOff x="0" y="0"/>
          <a:chExt cx="0" cy="0"/>
        </a:xfrm>
      </p:grpSpPr>
      <p:pic>
        <p:nvPicPr>
          <p:cNvPr id="4" name="Picture 3" descr="A page of a book with text&#10;&#10;AI-generated content may be incorrect.">
            <a:extLst>
              <a:ext uri="{FF2B5EF4-FFF2-40B4-BE49-F238E27FC236}">
                <a16:creationId xmlns:a16="http://schemas.microsoft.com/office/drawing/2014/main" id="{279C0507-3CA5-D83B-D16E-BE24A0877797}"/>
              </a:ext>
            </a:extLst>
          </p:cNvPr>
          <p:cNvPicPr>
            <a:picLocks noChangeAspect="1"/>
          </p:cNvPicPr>
          <p:nvPr/>
        </p:nvPicPr>
        <p:blipFill>
          <a:blip r:embed="rId2"/>
          <a:stretch>
            <a:fillRect/>
          </a:stretch>
        </p:blipFill>
        <p:spPr>
          <a:xfrm>
            <a:off x="4419600" y="247374"/>
            <a:ext cx="7772400" cy="6363250"/>
          </a:xfrm>
          <a:prstGeom prst="rect">
            <a:avLst/>
          </a:prstGeom>
        </p:spPr>
      </p:pic>
      <p:pic>
        <p:nvPicPr>
          <p:cNvPr id="5" name="Picture 2">
            <a:extLst>
              <a:ext uri="{FF2B5EF4-FFF2-40B4-BE49-F238E27FC236}">
                <a16:creationId xmlns:a16="http://schemas.microsoft.com/office/drawing/2014/main" id="{0FD735AE-A8FE-5567-227D-4FE68B947BE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 r="60104" b="-1"/>
          <a:stretch>
            <a:fillRect/>
          </a:stretch>
        </p:blipFill>
        <p:spPr bwMode="auto">
          <a:xfrm>
            <a:off x="1" y="-1"/>
            <a:ext cx="4152900" cy="68580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7947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BD9CF-F2F2-7B2B-090D-5186CA1DA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2328AF-DB9C-643F-565A-95200D6EE913}"/>
              </a:ext>
            </a:extLst>
          </p:cNvPr>
          <p:cNvSpPr>
            <a:spLocks noGrp="1"/>
          </p:cNvSpPr>
          <p:nvPr>
            <p:ph type="title"/>
          </p:nvPr>
        </p:nvSpPr>
        <p:spPr/>
        <p:txBody>
          <a:bodyPr>
            <a:normAutofit/>
          </a:bodyPr>
          <a:lstStyle/>
          <a:p>
            <a:r>
              <a:rPr lang="en-US" sz="4000" dirty="0"/>
              <a:t>Do Examples</a:t>
            </a:r>
          </a:p>
        </p:txBody>
      </p:sp>
      <p:sp>
        <p:nvSpPr>
          <p:cNvPr id="4" name="Content Placeholder 3">
            <a:extLst>
              <a:ext uri="{FF2B5EF4-FFF2-40B4-BE49-F238E27FC236}">
                <a16:creationId xmlns:a16="http://schemas.microsoft.com/office/drawing/2014/main" id="{0ACA2DBE-29AB-CC41-AC31-C57FE419841D}"/>
              </a:ext>
            </a:extLst>
          </p:cNvPr>
          <p:cNvSpPr>
            <a:spLocks noGrp="1"/>
          </p:cNvSpPr>
          <p:nvPr>
            <p:ph idx="1"/>
          </p:nvPr>
        </p:nvSpPr>
        <p:spPr/>
        <p:txBody>
          <a:bodyPr/>
          <a:lstStyle/>
          <a:p>
            <a:r>
              <a:rPr lang="en-US" dirty="0"/>
              <a:t>Choose a starting node</a:t>
            </a:r>
          </a:p>
          <a:p>
            <a:r>
              <a:rPr lang="en-US" dirty="0"/>
              <a:t>Run through the algorithm</a:t>
            </a:r>
          </a:p>
          <a:p>
            <a:r>
              <a:rPr lang="en-US" dirty="0"/>
              <a:t>Draw on the board</a:t>
            </a:r>
          </a:p>
        </p:txBody>
      </p:sp>
      <p:sp>
        <p:nvSpPr>
          <p:cNvPr id="5" name="Text Placeholder 4">
            <a:extLst>
              <a:ext uri="{FF2B5EF4-FFF2-40B4-BE49-F238E27FC236}">
                <a16:creationId xmlns:a16="http://schemas.microsoft.com/office/drawing/2014/main" id="{5B8C456E-8FF8-CA36-C0A3-27067D830B87}"/>
              </a:ext>
            </a:extLst>
          </p:cNvPr>
          <p:cNvSpPr>
            <a:spLocks noGrp="1"/>
          </p:cNvSpPr>
          <p:nvPr>
            <p:ph type="body" sz="half" idx="2"/>
          </p:nvPr>
        </p:nvSpPr>
        <p:spPr/>
        <p:txBody>
          <a:bodyPr/>
          <a:lstStyle/>
          <a:p>
            <a:endParaRPr lang="en-US"/>
          </a:p>
        </p:txBody>
      </p:sp>
    </p:spTree>
    <p:extLst>
      <p:ext uri="{BB962C8B-B14F-4D97-AF65-F5344CB8AC3E}">
        <p14:creationId xmlns:p14="http://schemas.microsoft.com/office/powerpoint/2010/main" val="21026819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84E0931-99E3-AE31-51B8-FA34C64B3093}"/>
              </a:ext>
            </a:extLst>
          </p:cNvPr>
          <p:cNvSpPr>
            <a:spLocks noGrp="1"/>
          </p:cNvSpPr>
          <p:nvPr>
            <p:ph type="title"/>
          </p:nvPr>
        </p:nvSpPr>
        <p:spPr/>
        <p:txBody>
          <a:bodyPr/>
          <a:lstStyle/>
          <a:p>
            <a:r>
              <a:rPr lang="en-US" dirty="0"/>
              <a:t>Benefits of DFS</a:t>
            </a:r>
          </a:p>
        </p:txBody>
      </p:sp>
      <p:sp>
        <p:nvSpPr>
          <p:cNvPr id="6" name="Content Placeholder 5">
            <a:extLst>
              <a:ext uri="{FF2B5EF4-FFF2-40B4-BE49-F238E27FC236}">
                <a16:creationId xmlns:a16="http://schemas.microsoft.com/office/drawing/2014/main" id="{D3F3BF78-F0DF-00B6-5EDE-DCD196680C29}"/>
              </a:ext>
            </a:extLst>
          </p:cNvPr>
          <p:cNvSpPr>
            <a:spLocks noGrp="1"/>
          </p:cNvSpPr>
          <p:nvPr>
            <p:ph idx="1"/>
          </p:nvPr>
        </p:nvSpPr>
        <p:spPr/>
        <p:txBody>
          <a:bodyPr/>
          <a:lstStyle/>
          <a:p>
            <a:r>
              <a:rPr lang="en-US" dirty="0"/>
              <a:t>Helps find cycles (back-edges)</a:t>
            </a:r>
          </a:p>
          <a:p>
            <a:r>
              <a:rPr lang="en-US" dirty="0"/>
              <a:t>Testing connectivity</a:t>
            </a:r>
          </a:p>
          <a:p>
            <a:r>
              <a:rPr lang="en-US" dirty="0"/>
              <a:t>Topological sorting (on directed, acyclic graphs)</a:t>
            </a:r>
          </a:p>
          <a:p>
            <a:endParaRPr lang="en-US" dirty="0"/>
          </a:p>
        </p:txBody>
      </p:sp>
      <p:pic>
        <p:nvPicPr>
          <p:cNvPr id="7" name="Picture 6" descr="A diagram of a diagram of a triangle&#10;&#10;AI-generated content may be incorrect.">
            <a:extLst>
              <a:ext uri="{FF2B5EF4-FFF2-40B4-BE49-F238E27FC236}">
                <a16:creationId xmlns:a16="http://schemas.microsoft.com/office/drawing/2014/main" id="{548439A1-8877-3407-E4C0-6959A40ED651}"/>
              </a:ext>
            </a:extLst>
          </p:cNvPr>
          <p:cNvPicPr>
            <a:picLocks noChangeAspect="1"/>
          </p:cNvPicPr>
          <p:nvPr/>
        </p:nvPicPr>
        <p:blipFill>
          <a:blip r:embed="rId2"/>
          <a:stretch>
            <a:fillRect/>
          </a:stretch>
        </p:blipFill>
        <p:spPr>
          <a:xfrm>
            <a:off x="5912371" y="-28464"/>
            <a:ext cx="6279629" cy="2112740"/>
          </a:xfrm>
          <a:prstGeom prst="rect">
            <a:avLst/>
          </a:prstGeom>
        </p:spPr>
      </p:pic>
    </p:spTree>
    <p:extLst>
      <p:ext uri="{BB962C8B-B14F-4D97-AF65-F5344CB8AC3E}">
        <p14:creationId xmlns:p14="http://schemas.microsoft.com/office/powerpoint/2010/main" val="21924230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2B9192-B269-63E4-3D6C-1942EB46543A}"/>
              </a:ext>
            </a:extLst>
          </p:cNvPr>
          <p:cNvSpPr>
            <a:spLocks noGrp="1"/>
          </p:cNvSpPr>
          <p:nvPr>
            <p:ph type="title"/>
          </p:nvPr>
        </p:nvSpPr>
        <p:spPr/>
        <p:txBody>
          <a:bodyPr/>
          <a:lstStyle/>
          <a:p>
            <a:r>
              <a:rPr lang="en-US" dirty="0"/>
              <a:t>Discuss</a:t>
            </a:r>
          </a:p>
        </p:txBody>
      </p:sp>
      <p:sp>
        <p:nvSpPr>
          <p:cNvPr id="3" name="Content Placeholder 2">
            <a:extLst>
              <a:ext uri="{FF2B5EF4-FFF2-40B4-BE49-F238E27FC236}">
                <a16:creationId xmlns:a16="http://schemas.microsoft.com/office/drawing/2014/main" id="{E955E56F-8C98-BABE-955A-DF5974B6D0C3}"/>
              </a:ext>
            </a:extLst>
          </p:cNvPr>
          <p:cNvSpPr>
            <a:spLocks noGrp="1"/>
          </p:cNvSpPr>
          <p:nvPr>
            <p:ph idx="1"/>
          </p:nvPr>
        </p:nvSpPr>
        <p:spPr/>
        <p:txBody>
          <a:bodyPr/>
          <a:lstStyle/>
          <a:p>
            <a:r>
              <a:rPr lang="en-US" dirty="0"/>
              <a:t>What did you learn from comparing different formulations of the same algorithm? (e.g. BFS – BFS; DFS – DFS)</a:t>
            </a:r>
          </a:p>
          <a:p>
            <a:r>
              <a:rPr lang="en-US" dirty="0"/>
              <a:t>What questions do you still have about how BFS and/or DFS work?</a:t>
            </a:r>
          </a:p>
          <a:p>
            <a:endParaRPr lang="en-US" dirty="0"/>
          </a:p>
          <a:p>
            <a:endParaRPr lang="en-US" dirty="0"/>
          </a:p>
        </p:txBody>
      </p:sp>
    </p:spTree>
    <p:extLst>
      <p:ext uri="{BB962C8B-B14F-4D97-AF65-F5344CB8AC3E}">
        <p14:creationId xmlns:p14="http://schemas.microsoft.com/office/powerpoint/2010/main" val="28672406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2D8CE-56CF-F692-8A1D-FD19604662E7}"/>
              </a:ext>
            </a:extLst>
          </p:cNvPr>
          <p:cNvSpPr>
            <a:spLocks noGrp="1"/>
          </p:cNvSpPr>
          <p:nvPr>
            <p:ph type="title"/>
          </p:nvPr>
        </p:nvSpPr>
        <p:spPr/>
        <p:txBody>
          <a:bodyPr/>
          <a:lstStyle/>
          <a:p>
            <a:r>
              <a:rPr lang="en-US" dirty="0"/>
              <a:t>Graph Coloring</a:t>
            </a:r>
          </a:p>
        </p:txBody>
      </p:sp>
      <p:sp>
        <p:nvSpPr>
          <p:cNvPr id="3" name="Text Placeholder 2">
            <a:extLst>
              <a:ext uri="{FF2B5EF4-FFF2-40B4-BE49-F238E27FC236}">
                <a16:creationId xmlns:a16="http://schemas.microsoft.com/office/drawing/2014/main" id="{54BBB837-5603-823C-5FBE-F161DA3E5DD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33734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06D9B87-2923-A9AB-00EF-E4E3B9635E1E}"/>
              </a:ext>
            </a:extLst>
          </p:cNvPr>
          <p:cNvSpPr>
            <a:spLocks noGrp="1"/>
          </p:cNvSpPr>
          <p:nvPr>
            <p:ph type="title"/>
          </p:nvPr>
        </p:nvSpPr>
        <p:spPr/>
        <p:txBody>
          <a:bodyPr/>
          <a:lstStyle/>
          <a:p>
            <a:r>
              <a:rPr lang="en-US" dirty="0"/>
              <a:t>Why color?</a:t>
            </a:r>
          </a:p>
        </p:txBody>
      </p:sp>
      <p:sp>
        <p:nvSpPr>
          <p:cNvPr id="5" name="Content Placeholder 4">
            <a:extLst>
              <a:ext uri="{FF2B5EF4-FFF2-40B4-BE49-F238E27FC236}">
                <a16:creationId xmlns:a16="http://schemas.microsoft.com/office/drawing/2014/main" id="{94692A4D-AADF-9E0F-461A-2FE3CAE94BB6}"/>
              </a:ext>
            </a:extLst>
          </p:cNvPr>
          <p:cNvSpPr>
            <a:spLocks noGrp="1"/>
          </p:cNvSpPr>
          <p:nvPr>
            <p:ph idx="1"/>
          </p:nvPr>
        </p:nvSpPr>
        <p:spPr/>
        <p:txBody>
          <a:bodyPr/>
          <a:lstStyle/>
          <a:p>
            <a:r>
              <a:rPr lang="en-US" dirty="0"/>
              <a:t>Helps divide vertices into mutually exclusive groups</a:t>
            </a:r>
          </a:p>
          <a:p>
            <a:endParaRPr lang="en-US" dirty="0"/>
          </a:p>
          <a:p>
            <a:r>
              <a:rPr lang="en-US" dirty="0"/>
              <a:t>If chemicals x, y, and z cannot be stored together, how many different shelves are needed?</a:t>
            </a:r>
          </a:p>
          <a:p>
            <a:r>
              <a:rPr lang="en-US" dirty="0"/>
              <a:t>If variables are accessed in various lines of a program, how many registers are needed to store all variables?</a:t>
            </a:r>
          </a:p>
          <a:p>
            <a:endParaRPr lang="en-US" dirty="0"/>
          </a:p>
          <a:p>
            <a:endParaRPr lang="en-US" dirty="0"/>
          </a:p>
        </p:txBody>
      </p:sp>
    </p:spTree>
    <p:extLst>
      <p:ext uri="{BB962C8B-B14F-4D97-AF65-F5344CB8AC3E}">
        <p14:creationId xmlns:p14="http://schemas.microsoft.com/office/powerpoint/2010/main" val="307698401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5966B-F823-359A-A3E0-B15AC66BAF09}"/>
              </a:ext>
            </a:extLst>
          </p:cNvPr>
          <p:cNvSpPr>
            <a:spLocks noGrp="1"/>
          </p:cNvSpPr>
          <p:nvPr>
            <p:ph type="title"/>
          </p:nvPr>
        </p:nvSpPr>
        <p:spPr/>
        <p:txBody>
          <a:bodyPr/>
          <a:lstStyle/>
          <a:p>
            <a:r>
              <a:rPr lang="en-US" dirty="0"/>
              <a:t>How to color?</a:t>
            </a:r>
          </a:p>
        </p:txBody>
      </p:sp>
      <p:sp>
        <p:nvSpPr>
          <p:cNvPr id="3" name="Content Placeholder 2">
            <a:extLst>
              <a:ext uri="{FF2B5EF4-FFF2-40B4-BE49-F238E27FC236}">
                <a16:creationId xmlns:a16="http://schemas.microsoft.com/office/drawing/2014/main" id="{56E093C9-E26A-9031-E0EC-0246D7F55FB9}"/>
              </a:ext>
            </a:extLst>
          </p:cNvPr>
          <p:cNvSpPr>
            <a:spLocks noGrp="1"/>
          </p:cNvSpPr>
          <p:nvPr>
            <p:ph idx="1"/>
          </p:nvPr>
        </p:nvSpPr>
        <p:spPr/>
        <p:txBody>
          <a:bodyPr/>
          <a:lstStyle/>
          <a:p>
            <a:r>
              <a:rPr lang="en-US" dirty="0"/>
              <a:t>Adapt BFS or DFS.</a:t>
            </a:r>
          </a:p>
          <a:p>
            <a:r>
              <a:rPr lang="en-US" dirty="0"/>
              <a:t>Modify it, so that each time we process, we add a color to the vertex</a:t>
            </a:r>
          </a:p>
          <a:p>
            <a:pPr lvl="1"/>
            <a:r>
              <a:rPr lang="en-US" dirty="0"/>
              <a:t>Color = red/orange/yellow/</a:t>
            </a:r>
            <a:r>
              <a:rPr lang="en-US" dirty="0" err="1"/>
              <a:t>etc</a:t>
            </a:r>
            <a:endParaRPr lang="en-US" dirty="0"/>
          </a:p>
          <a:p>
            <a:pPr lvl="1"/>
            <a:r>
              <a:rPr lang="en-US" dirty="0"/>
              <a:t>Color = assigned number</a:t>
            </a:r>
          </a:p>
          <a:p>
            <a:r>
              <a:rPr lang="en-US" dirty="0"/>
              <a:t>Such that no color can be assigned to two adjacent vertices.</a:t>
            </a:r>
          </a:p>
        </p:txBody>
      </p:sp>
    </p:spTree>
    <p:extLst>
      <p:ext uri="{BB962C8B-B14F-4D97-AF65-F5344CB8AC3E}">
        <p14:creationId xmlns:p14="http://schemas.microsoft.com/office/powerpoint/2010/main" val="37446113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F503-D24F-E6B5-F5AE-8812F3A66F96}"/>
              </a:ext>
            </a:extLst>
          </p:cNvPr>
          <p:cNvSpPr>
            <a:spLocks noGrp="1"/>
          </p:cNvSpPr>
          <p:nvPr>
            <p:ph type="title"/>
          </p:nvPr>
        </p:nvSpPr>
        <p:spPr/>
        <p:txBody>
          <a:bodyPr/>
          <a:lstStyle/>
          <a:p>
            <a:r>
              <a:rPr lang="en-US" dirty="0"/>
              <a:t>Cool-Down: Coloring</a:t>
            </a:r>
          </a:p>
        </p:txBody>
      </p:sp>
      <p:sp>
        <p:nvSpPr>
          <p:cNvPr id="3" name="Content Placeholder 2">
            <a:extLst>
              <a:ext uri="{FF2B5EF4-FFF2-40B4-BE49-F238E27FC236}">
                <a16:creationId xmlns:a16="http://schemas.microsoft.com/office/drawing/2014/main" id="{6F1868BD-6DB3-06DA-0BF2-5517CA3402E9}"/>
              </a:ext>
            </a:extLst>
          </p:cNvPr>
          <p:cNvSpPr>
            <a:spLocks noGrp="1"/>
          </p:cNvSpPr>
          <p:nvPr>
            <p:ph idx="1"/>
          </p:nvPr>
        </p:nvSpPr>
        <p:spPr/>
        <p:txBody>
          <a:bodyPr/>
          <a:lstStyle/>
          <a:p>
            <a:r>
              <a:rPr lang="en-US" dirty="0"/>
              <a:t>A public aquarium has ten species of aquatic life that it wishes to feature in large tanks. However, because some of the species prey on others, they cannot all live in the same tank. We label the species A-J and show each one's "enemy" species that cannot be placed in the same tank. What is the minimum number of tanks the aquarium needs to accommodate all 10 species?</a:t>
            </a:r>
          </a:p>
        </p:txBody>
      </p:sp>
      <p:graphicFrame>
        <p:nvGraphicFramePr>
          <p:cNvPr id="4" name="Table 3">
            <a:extLst>
              <a:ext uri="{FF2B5EF4-FFF2-40B4-BE49-F238E27FC236}">
                <a16:creationId xmlns:a16="http://schemas.microsoft.com/office/drawing/2014/main" id="{BE6B6973-EC1B-49CC-CE8A-B1EECF2D77DE}"/>
              </a:ext>
            </a:extLst>
          </p:cNvPr>
          <p:cNvGraphicFramePr>
            <a:graphicFrameLocks noGrp="1"/>
          </p:cNvGraphicFramePr>
          <p:nvPr>
            <p:extLst>
              <p:ext uri="{D42A27DB-BD31-4B8C-83A1-F6EECF244321}">
                <p14:modId xmlns:p14="http://schemas.microsoft.com/office/powerpoint/2010/main" val="1090237497"/>
              </p:ext>
            </p:extLst>
          </p:nvPr>
        </p:nvGraphicFramePr>
        <p:xfrm>
          <a:off x="2032000" y="4267835"/>
          <a:ext cx="8128000" cy="222504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3264295060"/>
                    </a:ext>
                  </a:extLst>
                </a:gridCol>
                <a:gridCol w="2032000">
                  <a:extLst>
                    <a:ext uri="{9D8B030D-6E8A-4147-A177-3AD203B41FA5}">
                      <a16:colId xmlns:a16="http://schemas.microsoft.com/office/drawing/2014/main" val="137193758"/>
                    </a:ext>
                  </a:extLst>
                </a:gridCol>
                <a:gridCol w="2032000">
                  <a:extLst>
                    <a:ext uri="{9D8B030D-6E8A-4147-A177-3AD203B41FA5}">
                      <a16:colId xmlns:a16="http://schemas.microsoft.com/office/drawing/2014/main" val="4262940969"/>
                    </a:ext>
                  </a:extLst>
                </a:gridCol>
                <a:gridCol w="2032000">
                  <a:extLst>
                    <a:ext uri="{9D8B030D-6E8A-4147-A177-3AD203B41FA5}">
                      <a16:colId xmlns:a16="http://schemas.microsoft.com/office/drawing/2014/main" val="3246562061"/>
                    </a:ext>
                  </a:extLst>
                </a:gridCol>
              </a:tblGrid>
              <a:tr h="370840">
                <a:tc>
                  <a:txBody>
                    <a:bodyPr/>
                    <a:lstStyle/>
                    <a:p>
                      <a:r>
                        <a:rPr lang="en-US" dirty="0"/>
                        <a:t>Species</a:t>
                      </a:r>
                    </a:p>
                  </a:txBody>
                  <a:tcPr/>
                </a:tc>
                <a:tc>
                  <a:txBody>
                    <a:bodyPr/>
                    <a:lstStyle/>
                    <a:p>
                      <a:r>
                        <a:rPr lang="en-US" dirty="0"/>
                        <a:t>Enemies</a:t>
                      </a:r>
                    </a:p>
                  </a:txBody>
                  <a:tcPr/>
                </a:tc>
                <a:tc>
                  <a:txBody>
                    <a:bodyPr/>
                    <a:lstStyle/>
                    <a:p>
                      <a:r>
                        <a:rPr lang="en-US" dirty="0"/>
                        <a:t>Species</a:t>
                      </a:r>
                    </a:p>
                  </a:txBody>
                  <a:tcPr/>
                </a:tc>
                <a:tc>
                  <a:txBody>
                    <a:bodyPr/>
                    <a:lstStyle/>
                    <a:p>
                      <a:r>
                        <a:rPr lang="en-US" dirty="0"/>
                        <a:t>Enemies</a:t>
                      </a:r>
                    </a:p>
                  </a:txBody>
                  <a:tcPr/>
                </a:tc>
                <a:extLst>
                  <a:ext uri="{0D108BD9-81ED-4DB2-BD59-A6C34878D82A}">
                    <a16:rowId xmlns:a16="http://schemas.microsoft.com/office/drawing/2014/main" val="520077631"/>
                  </a:ext>
                </a:extLst>
              </a:tr>
              <a:tr h="370840">
                <a:tc>
                  <a:txBody>
                    <a:bodyPr/>
                    <a:lstStyle/>
                    <a:p>
                      <a:r>
                        <a:rPr lang="en-US" dirty="0"/>
                        <a:t>A</a:t>
                      </a:r>
                    </a:p>
                  </a:txBody>
                  <a:tcPr/>
                </a:tc>
                <a:tc>
                  <a:txBody>
                    <a:bodyPr/>
                    <a:lstStyle/>
                    <a:p>
                      <a:r>
                        <a:rPr lang="en-US" dirty="0"/>
                        <a:t>B,E,H,J</a:t>
                      </a:r>
                    </a:p>
                  </a:txBody>
                  <a:tcPr/>
                </a:tc>
                <a:tc>
                  <a:txBody>
                    <a:bodyPr/>
                    <a:lstStyle/>
                    <a:p>
                      <a:r>
                        <a:rPr lang="en-US" dirty="0"/>
                        <a:t>F</a:t>
                      </a:r>
                    </a:p>
                  </a:txBody>
                  <a:tcPr/>
                </a:tc>
                <a:tc>
                  <a:txBody>
                    <a:bodyPr/>
                    <a:lstStyle/>
                    <a:p>
                      <a:r>
                        <a:rPr lang="en-US" dirty="0"/>
                        <a:t>E,I</a:t>
                      </a:r>
                    </a:p>
                  </a:txBody>
                  <a:tcPr/>
                </a:tc>
                <a:extLst>
                  <a:ext uri="{0D108BD9-81ED-4DB2-BD59-A6C34878D82A}">
                    <a16:rowId xmlns:a16="http://schemas.microsoft.com/office/drawing/2014/main" val="1745114433"/>
                  </a:ext>
                </a:extLst>
              </a:tr>
              <a:tr h="370840">
                <a:tc>
                  <a:txBody>
                    <a:bodyPr/>
                    <a:lstStyle/>
                    <a:p>
                      <a:r>
                        <a:rPr lang="en-US" dirty="0"/>
                        <a:t>B</a:t>
                      </a:r>
                    </a:p>
                  </a:txBody>
                  <a:tcPr/>
                </a:tc>
                <a:tc>
                  <a:txBody>
                    <a:bodyPr/>
                    <a:lstStyle/>
                    <a:p>
                      <a:r>
                        <a:rPr lang="en-US" dirty="0"/>
                        <a:t>A, C, G, I</a:t>
                      </a:r>
                    </a:p>
                  </a:txBody>
                  <a:tcPr/>
                </a:tc>
                <a:tc>
                  <a:txBody>
                    <a:bodyPr/>
                    <a:lstStyle/>
                    <a:p>
                      <a:r>
                        <a:rPr lang="en-US" dirty="0"/>
                        <a:t>G</a:t>
                      </a:r>
                    </a:p>
                  </a:txBody>
                  <a:tcPr/>
                </a:tc>
                <a:tc>
                  <a:txBody>
                    <a:bodyPr/>
                    <a:lstStyle/>
                    <a:p>
                      <a:r>
                        <a:rPr lang="en-US" dirty="0"/>
                        <a:t>B, D, J</a:t>
                      </a:r>
                    </a:p>
                  </a:txBody>
                  <a:tcPr/>
                </a:tc>
                <a:extLst>
                  <a:ext uri="{0D108BD9-81ED-4DB2-BD59-A6C34878D82A}">
                    <a16:rowId xmlns:a16="http://schemas.microsoft.com/office/drawing/2014/main" val="338250996"/>
                  </a:ext>
                </a:extLst>
              </a:tr>
              <a:tr h="370840">
                <a:tc>
                  <a:txBody>
                    <a:bodyPr/>
                    <a:lstStyle/>
                    <a:p>
                      <a:r>
                        <a:rPr lang="en-US" dirty="0"/>
                        <a:t>C</a:t>
                      </a:r>
                    </a:p>
                  </a:txBody>
                  <a:tcPr/>
                </a:tc>
                <a:tc>
                  <a:txBody>
                    <a:bodyPr/>
                    <a:lstStyle/>
                    <a:p>
                      <a:r>
                        <a:rPr lang="en-US" dirty="0"/>
                        <a:t>B, D</a:t>
                      </a:r>
                    </a:p>
                  </a:txBody>
                  <a:tcPr/>
                </a:tc>
                <a:tc>
                  <a:txBody>
                    <a:bodyPr/>
                    <a:lstStyle/>
                    <a:p>
                      <a:r>
                        <a:rPr lang="en-US" dirty="0"/>
                        <a:t>H</a:t>
                      </a:r>
                    </a:p>
                  </a:txBody>
                  <a:tcPr/>
                </a:tc>
                <a:tc>
                  <a:txBody>
                    <a:bodyPr/>
                    <a:lstStyle/>
                    <a:p>
                      <a:r>
                        <a:rPr lang="en-US" dirty="0"/>
                        <a:t>A, E</a:t>
                      </a:r>
                    </a:p>
                  </a:txBody>
                  <a:tcPr/>
                </a:tc>
                <a:extLst>
                  <a:ext uri="{0D108BD9-81ED-4DB2-BD59-A6C34878D82A}">
                    <a16:rowId xmlns:a16="http://schemas.microsoft.com/office/drawing/2014/main" val="3575391892"/>
                  </a:ext>
                </a:extLst>
              </a:tr>
              <a:tr h="370840">
                <a:tc>
                  <a:txBody>
                    <a:bodyPr/>
                    <a:lstStyle/>
                    <a:p>
                      <a:r>
                        <a:rPr lang="en-US" dirty="0"/>
                        <a:t>D</a:t>
                      </a:r>
                    </a:p>
                  </a:txBody>
                  <a:tcPr/>
                </a:tc>
                <a:tc>
                  <a:txBody>
                    <a:bodyPr/>
                    <a:lstStyle/>
                    <a:p>
                      <a:r>
                        <a:rPr lang="en-US" dirty="0"/>
                        <a:t>C, E, G, J</a:t>
                      </a:r>
                    </a:p>
                  </a:txBody>
                  <a:tcPr/>
                </a:tc>
                <a:tc>
                  <a:txBody>
                    <a:bodyPr/>
                    <a:lstStyle/>
                    <a:p>
                      <a:r>
                        <a:rPr lang="en-US" dirty="0"/>
                        <a:t>I</a:t>
                      </a:r>
                    </a:p>
                  </a:txBody>
                  <a:tcPr/>
                </a:tc>
                <a:tc>
                  <a:txBody>
                    <a:bodyPr/>
                    <a:lstStyle/>
                    <a:p>
                      <a:r>
                        <a:rPr lang="en-US" dirty="0"/>
                        <a:t>B, F</a:t>
                      </a:r>
                    </a:p>
                  </a:txBody>
                  <a:tcPr/>
                </a:tc>
                <a:extLst>
                  <a:ext uri="{0D108BD9-81ED-4DB2-BD59-A6C34878D82A}">
                    <a16:rowId xmlns:a16="http://schemas.microsoft.com/office/drawing/2014/main" val="2063765061"/>
                  </a:ext>
                </a:extLst>
              </a:tr>
              <a:tr h="370840">
                <a:tc>
                  <a:txBody>
                    <a:bodyPr/>
                    <a:lstStyle/>
                    <a:p>
                      <a:r>
                        <a:rPr lang="en-US" dirty="0"/>
                        <a:t>E</a:t>
                      </a:r>
                    </a:p>
                  </a:txBody>
                  <a:tcPr/>
                </a:tc>
                <a:tc>
                  <a:txBody>
                    <a:bodyPr/>
                    <a:lstStyle/>
                    <a:p>
                      <a:r>
                        <a:rPr lang="en-US" dirty="0"/>
                        <a:t>A, D, F, H, J</a:t>
                      </a:r>
                    </a:p>
                  </a:txBody>
                  <a:tcPr/>
                </a:tc>
                <a:tc>
                  <a:txBody>
                    <a:bodyPr/>
                    <a:lstStyle/>
                    <a:p>
                      <a:r>
                        <a:rPr lang="en-US" dirty="0"/>
                        <a:t>J</a:t>
                      </a:r>
                    </a:p>
                  </a:txBody>
                  <a:tcPr/>
                </a:tc>
                <a:tc>
                  <a:txBody>
                    <a:bodyPr/>
                    <a:lstStyle/>
                    <a:p>
                      <a:r>
                        <a:rPr lang="en-US" dirty="0"/>
                        <a:t>A, D, E, G</a:t>
                      </a:r>
                    </a:p>
                  </a:txBody>
                  <a:tcPr/>
                </a:tc>
                <a:extLst>
                  <a:ext uri="{0D108BD9-81ED-4DB2-BD59-A6C34878D82A}">
                    <a16:rowId xmlns:a16="http://schemas.microsoft.com/office/drawing/2014/main" val="3978695000"/>
                  </a:ext>
                </a:extLst>
              </a:tr>
            </a:tbl>
          </a:graphicData>
        </a:graphic>
      </p:graphicFrame>
    </p:spTree>
    <p:extLst>
      <p:ext uri="{BB962C8B-B14F-4D97-AF65-F5344CB8AC3E}">
        <p14:creationId xmlns:p14="http://schemas.microsoft.com/office/powerpoint/2010/main" val="30151334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24DF9-B545-08AF-08BC-1B1705A1E54C}"/>
              </a:ext>
            </a:extLst>
          </p:cNvPr>
          <p:cNvSpPr>
            <a:spLocks noGrp="1"/>
          </p:cNvSpPr>
          <p:nvPr>
            <p:ph type="title"/>
          </p:nvPr>
        </p:nvSpPr>
        <p:spPr/>
        <p:txBody>
          <a:bodyPr/>
          <a:lstStyle/>
          <a:p>
            <a:r>
              <a:rPr lang="en-US" dirty="0"/>
              <a:t>Cool-Down</a:t>
            </a:r>
          </a:p>
        </p:txBody>
      </p:sp>
      <p:sp>
        <p:nvSpPr>
          <p:cNvPr id="3" name="Content Placeholder 2">
            <a:extLst>
              <a:ext uri="{FF2B5EF4-FFF2-40B4-BE49-F238E27FC236}">
                <a16:creationId xmlns:a16="http://schemas.microsoft.com/office/drawing/2014/main" id="{FAAED5F3-2DE7-8948-3E31-E4500CA337C1}"/>
              </a:ext>
            </a:extLst>
          </p:cNvPr>
          <p:cNvSpPr>
            <a:spLocks noGrp="1"/>
          </p:cNvSpPr>
          <p:nvPr>
            <p:ph idx="1"/>
          </p:nvPr>
        </p:nvSpPr>
        <p:spPr/>
        <p:txBody>
          <a:bodyPr>
            <a:normAutofit/>
          </a:bodyPr>
          <a:lstStyle/>
          <a:p>
            <a:r>
              <a:rPr lang="en-US" dirty="0"/>
              <a:t>Describe a modification to the data structure or algorithm that answers the question: </a:t>
            </a:r>
          </a:p>
          <a:p>
            <a:pPr lvl="1"/>
            <a:r>
              <a:rPr lang="en-US" sz="2800" dirty="0"/>
              <a:t>How can you use Union-Find to compute the number of connected components?</a:t>
            </a:r>
          </a:p>
          <a:p>
            <a:pPr lvl="1"/>
            <a:r>
              <a:rPr lang="en-US" sz="2800" dirty="0"/>
              <a:t>How can you use BFS to compute the number of connected components?</a:t>
            </a:r>
          </a:p>
          <a:p>
            <a:pPr lvl="1"/>
            <a:r>
              <a:rPr lang="en-US" sz="2800" dirty="0"/>
              <a:t>How can you use DFS to compute the number of connected components?</a:t>
            </a:r>
          </a:p>
        </p:txBody>
      </p:sp>
    </p:spTree>
    <p:extLst>
      <p:ext uri="{BB962C8B-B14F-4D97-AF65-F5344CB8AC3E}">
        <p14:creationId xmlns:p14="http://schemas.microsoft.com/office/powerpoint/2010/main" val="50574244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287</TotalTime>
  <Words>2068</Words>
  <Application>Microsoft Macintosh PowerPoint</Application>
  <PresentationFormat>Widescreen</PresentationFormat>
  <Paragraphs>289</Paragraphs>
  <Slides>52</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Aptos</vt:lpstr>
      <vt:lpstr>Aptos Display</vt:lpstr>
      <vt:lpstr>Arial</vt:lpstr>
      <vt:lpstr>Cambria Math</vt:lpstr>
      <vt:lpstr>Office Theme</vt:lpstr>
      <vt:lpstr>Graph Traversals</vt:lpstr>
      <vt:lpstr>Terminology Before Warm-up</vt:lpstr>
      <vt:lpstr>Warm-Up</vt:lpstr>
      <vt:lpstr>Evaluate your own work</vt:lpstr>
      <vt:lpstr>PowerPoint Presentation</vt:lpstr>
      <vt:lpstr>Rotate and evaluate:</vt:lpstr>
      <vt:lpstr>Your homework questions will be evaluated on this scale.</vt:lpstr>
      <vt:lpstr>PowerPoint Presentation</vt:lpstr>
      <vt:lpstr>Do an example HW question</vt:lpstr>
      <vt:lpstr>Traversals</vt:lpstr>
      <vt:lpstr>What is traversal?</vt:lpstr>
      <vt:lpstr>Easy way</vt:lpstr>
      <vt:lpstr>Less Easy Way</vt:lpstr>
      <vt:lpstr>What do you get out of this?</vt:lpstr>
      <vt:lpstr>Vertex Status</vt:lpstr>
      <vt:lpstr>Vertex Status</vt:lpstr>
      <vt:lpstr>BFS</vt:lpstr>
      <vt:lpstr>Main Idea</vt:lpstr>
      <vt:lpstr>BFS Algorithm v.1</vt:lpstr>
      <vt:lpstr>PowerPoint Presentation</vt:lpstr>
      <vt:lpstr>Insights</vt:lpstr>
      <vt:lpstr>PowerPoint Presentation</vt:lpstr>
      <vt:lpstr>PowerPoint Presentation</vt:lpstr>
      <vt:lpstr>Warm Up: 3/10</vt:lpstr>
      <vt:lpstr>BFS Algorithm v.2</vt:lpstr>
      <vt:lpstr>PowerPoint Presentation</vt:lpstr>
      <vt:lpstr>PowerPoint Presentation</vt:lpstr>
      <vt:lpstr>Turn and talk</vt:lpstr>
      <vt:lpstr>PowerPoint Presentation</vt:lpstr>
      <vt:lpstr>Do Examples</vt:lpstr>
      <vt:lpstr>Benefits of BFS</vt:lpstr>
      <vt:lpstr>DFS</vt:lpstr>
      <vt:lpstr>Main Idea</vt:lpstr>
      <vt:lpstr>DFS Algorithm v.1</vt:lpstr>
      <vt:lpstr>PowerPoint Presentation</vt:lpstr>
      <vt:lpstr>Insights</vt:lpstr>
      <vt:lpstr>PowerPoint Presentation</vt:lpstr>
      <vt:lpstr>PowerPoint Presentation</vt:lpstr>
      <vt:lpstr>Types of edges</vt:lpstr>
      <vt:lpstr>DFS Algorithm v.2</vt:lpstr>
      <vt:lpstr>PowerPoint Presentation</vt:lpstr>
      <vt:lpstr>PowerPoint Presentation</vt:lpstr>
      <vt:lpstr>Turn and talk</vt:lpstr>
      <vt:lpstr>PowerPoint Presentation</vt:lpstr>
      <vt:lpstr>Do Examples</vt:lpstr>
      <vt:lpstr>Benefits of DFS</vt:lpstr>
      <vt:lpstr>Discuss</vt:lpstr>
      <vt:lpstr>Graph Coloring</vt:lpstr>
      <vt:lpstr>Why color?</vt:lpstr>
      <vt:lpstr>How to color?</vt:lpstr>
      <vt:lpstr>Cool-Down: Coloring</vt:lpstr>
      <vt:lpstr>Cool-Down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Sarah R Roscoe</dc:creator>
  <cp:lastModifiedBy>Sarah R Roscoe</cp:lastModifiedBy>
  <cp:revision>3</cp:revision>
  <dcterms:created xsi:type="dcterms:W3CDTF">2026-03-04T20:46:39Z</dcterms:created>
  <dcterms:modified xsi:type="dcterms:W3CDTF">2026-03-10T17:23:15Z</dcterms:modified>
</cp:coreProperties>
</file>