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37"/>
  </p:notesMasterIdLst>
  <p:sldIdLst>
    <p:sldId id="256" r:id="rId2"/>
    <p:sldId id="257" r:id="rId3"/>
    <p:sldId id="289" r:id="rId4"/>
    <p:sldId id="290" r:id="rId5"/>
    <p:sldId id="291" r:id="rId6"/>
    <p:sldId id="292" r:id="rId7"/>
    <p:sldId id="295" r:id="rId8"/>
    <p:sldId id="301" r:id="rId9"/>
    <p:sldId id="302" r:id="rId10"/>
    <p:sldId id="294" r:id="rId11"/>
    <p:sldId id="320" r:id="rId12"/>
    <p:sldId id="296" r:id="rId13"/>
    <p:sldId id="298" r:id="rId14"/>
    <p:sldId id="299" r:id="rId15"/>
    <p:sldId id="297" r:id="rId16"/>
    <p:sldId id="303" r:id="rId17"/>
    <p:sldId id="300" r:id="rId18"/>
    <p:sldId id="32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22" r:id="rId28"/>
    <p:sldId id="312" r:id="rId29"/>
    <p:sldId id="313" r:id="rId30"/>
    <p:sldId id="317" r:id="rId31"/>
    <p:sldId id="314" r:id="rId32"/>
    <p:sldId id="315" r:id="rId33"/>
    <p:sldId id="316" r:id="rId34"/>
    <p:sldId id="318" r:id="rId35"/>
    <p:sldId id="31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72"/>
    <p:restoredTop sz="94703"/>
  </p:normalViewPr>
  <p:slideViewPr>
    <p:cSldViewPr snapToGrid="0">
      <p:cViewPr>
        <p:scale>
          <a:sx n="96" d="100"/>
          <a:sy n="96" d="100"/>
        </p:scale>
        <p:origin x="-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E7447-2625-0A4A-9809-DD8D4660CC2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A39245-35AC-2C48-B4DE-0C0EF67C7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3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"beaver", says my niece for no reason when I told her about this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A39245-35AC-2C48-B4DE-0C0EF67C70C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182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69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1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158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75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854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95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9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95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665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796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500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_lHSawdgXpI?si=5Y13a9QefeYVZOV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cs.wisc.edu/~changt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cs.wisc.edu/~changt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cs.wisc.edu/~changt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en.wikipedia.org/wiki/Border_Gateway_Protoco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p-algorithms.com/graph/edmonds_karp.html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max-flow-problem-introduction/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hyperlink" Target="https://www.cs.emory.edu/~cheung/Courses/253/Syllabus/NetFlow/intro.html" TargetMode="Externa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ics.hawaii.edu/ReviewICS311/morea/200.maximum-flow/reading-notes.html" TargetMode="Externa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C901D9-8343-A864-2F69-70499818F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en-US" sz="5400"/>
              <a:t>Shortest Paths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07B29-938C-08EA-5040-B42879241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7"/>
            <a:ext cx="4206240" cy="1184584"/>
          </a:xfrm>
        </p:spPr>
        <p:txBody>
          <a:bodyPr>
            <a:normAutofit/>
          </a:bodyPr>
          <a:lstStyle/>
          <a:p>
            <a:pPr algn="l"/>
            <a:endParaRPr lang="en-US"/>
          </a:p>
        </p:txBody>
      </p:sp>
      <p:pic>
        <p:nvPicPr>
          <p:cNvPr id="4" name="Picture 3" descr="Wooden footpath leading to sand dunes">
            <a:extLst>
              <a:ext uri="{FF2B5EF4-FFF2-40B4-BE49-F238E27FC236}">
                <a16:creationId xmlns:a16="http://schemas.microsoft.com/office/drawing/2014/main" id="{99190EE7-736E-8F4A-AE03-852F9BC6AB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90" r="2549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575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8A169-C767-20C4-9067-E3CECC157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Warm-Up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682CF-3D54-95AF-0158-B3C3E45B7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380996"/>
            <a:ext cx="11185343" cy="4593828"/>
          </a:xfrm>
        </p:spPr>
        <p:txBody>
          <a:bodyPr/>
          <a:lstStyle/>
          <a:p>
            <a:r>
              <a:rPr lang="en-US" dirty="0"/>
              <a:t>Take 5 minutes, determine the shortest path from SF to Miami. What algorithm did you use?</a:t>
            </a:r>
          </a:p>
        </p:txBody>
      </p:sp>
      <p:pic>
        <p:nvPicPr>
          <p:cNvPr id="6" name="Picture 2" descr=" ">
            <a:extLst>
              <a:ext uri="{FF2B5EF4-FFF2-40B4-BE49-F238E27FC236}">
                <a16:creationId xmlns:a16="http://schemas.microsoft.com/office/drawing/2014/main" id="{5CF3004C-194E-7CA2-948C-6C37D7F9C7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4" t="14531" r="12070" b="1942"/>
          <a:stretch>
            <a:fillRect/>
          </a:stretch>
        </p:blipFill>
        <p:spPr bwMode="auto">
          <a:xfrm>
            <a:off x="1926242" y="2431641"/>
            <a:ext cx="8339516" cy="4426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5842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6FCFE-E7E5-6418-958D-1794600D8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Dijkstra's Shortest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BA66B-D146-1276-68F3-812B6FF41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Further watching:</a:t>
            </a:r>
            <a:r>
              <a:rPr lang="en-US" dirty="0">
                <a:hlinkClick r:id="rId2"/>
              </a:rPr>
              <a:t> https://youtu.be/_lHSawdgXpI?si=5Y13a9QefeYVZOVM</a:t>
            </a:r>
            <a:r>
              <a:rPr lang="en-US" dirty="0"/>
              <a:t> </a:t>
            </a:r>
          </a:p>
          <a:p>
            <a:r>
              <a:rPr lang="en-US" dirty="0"/>
              <a:t>Goal: find shortest distance from one node to every other node.</a:t>
            </a:r>
          </a:p>
          <a:p>
            <a:r>
              <a:rPr lang="en-US" dirty="0"/>
              <a:t>Have a chart of distances from start node</a:t>
            </a:r>
          </a:p>
          <a:p>
            <a:r>
              <a:rPr lang="en-US" dirty="0"/>
              <a:t>At each step, update table for any new distances (choose smallest possible)</a:t>
            </a:r>
          </a:p>
          <a:p>
            <a:endParaRPr lang="en-US" dirty="0"/>
          </a:p>
          <a:p>
            <a:r>
              <a:rPr lang="en-US" dirty="0"/>
              <a:t>Result: Shortest Path Tree</a:t>
            </a:r>
          </a:p>
          <a:p>
            <a:r>
              <a:rPr lang="en-US" dirty="0"/>
              <a:t>Complexity: O( |E| + |V| log |V| 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6C4C9-45E9-D990-6AB8-FC16FC1AD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07C-C25F-7145-BA2D-441DA2F40C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43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ABB0F-5343-9F4F-338D-31ADB1792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Dijkstra's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884DA-B2A2-92D4-A33C-A718550A2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6185D9-947B-9C89-ABC8-13EDF11E7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7" y="1637545"/>
            <a:ext cx="9401992" cy="3516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EF6B48-2D69-FF8D-0AAA-16ACF184D3CD}"/>
              </a:ext>
            </a:extLst>
          </p:cNvPr>
          <p:cNvSpPr txBox="1"/>
          <p:nvPr/>
        </p:nvSpPr>
        <p:spPr>
          <a:xfrm>
            <a:off x="152400" y="6387347"/>
            <a:ext cx="4586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</a:t>
            </a:r>
            <a:r>
              <a:rPr lang="en-US" dirty="0">
                <a:hlinkClick r:id="rId3"/>
              </a:rPr>
              <a:t>https://pages.cs.wisc.edu/~changt/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27154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35E24-51C3-D92F-BC95-07E00BE7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DCAC9D6-6B3E-317F-E373-E342B6E2C4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5889978"/>
              </p:ext>
            </p:extLst>
          </p:nvPr>
        </p:nvGraphicFramePr>
        <p:xfrm>
          <a:off x="6550456" y="2874646"/>
          <a:ext cx="5641544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386">
                  <a:extLst>
                    <a:ext uri="{9D8B030D-6E8A-4147-A177-3AD203B41FA5}">
                      <a16:colId xmlns:a16="http://schemas.microsoft.com/office/drawing/2014/main" val="4152903609"/>
                    </a:ext>
                  </a:extLst>
                </a:gridCol>
                <a:gridCol w="1410386">
                  <a:extLst>
                    <a:ext uri="{9D8B030D-6E8A-4147-A177-3AD203B41FA5}">
                      <a16:colId xmlns:a16="http://schemas.microsoft.com/office/drawing/2014/main" val="418183600"/>
                    </a:ext>
                  </a:extLst>
                </a:gridCol>
                <a:gridCol w="1410386">
                  <a:extLst>
                    <a:ext uri="{9D8B030D-6E8A-4147-A177-3AD203B41FA5}">
                      <a16:colId xmlns:a16="http://schemas.microsoft.com/office/drawing/2014/main" val="1606692455"/>
                    </a:ext>
                  </a:extLst>
                </a:gridCol>
                <a:gridCol w="1410386">
                  <a:extLst>
                    <a:ext uri="{9D8B030D-6E8A-4147-A177-3AD203B41FA5}">
                      <a16:colId xmlns:a16="http://schemas.microsoft.com/office/drawing/2014/main" val="3113084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Vertex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Visited?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680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eue Haas Grotesk Text Pro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534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eue Haas Grotesk Text Pro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7924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eue Haas Grotesk Text Pro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882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eue Haas Grotesk Text Pro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400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eue Haas Grotesk Text Pro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307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eue Haas Grotesk Text Pro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3596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eue Haas Grotesk Text Pro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882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eue Haas Grotesk Text Pro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69399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8EF03994-EECC-5003-C8CC-7DA3093833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5" r="12818"/>
          <a:stretch>
            <a:fillRect/>
          </a:stretch>
        </p:blipFill>
        <p:spPr bwMode="auto">
          <a:xfrm>
            <a:off x="197011" y="2593283"/>
            <a:ext cx="6162225" cy="3704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EE3F45-F02F-E055-4786-773D5B34E5B2}"/>
              </a:ext>
            </a:extLst>
          </p:cNvPr>
          <p:cNvSpPr txBox="1"/>
          <p:nvPr/>
        </p:nvSpPr>
        <p:spPr>
          <a:xfrm>
            <a:off x="152400" y="6387347"/>
            <a:ext cx="4586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</a:t>
            </a:r>
            <a:r>
              <a:rPr lang="en-US" dirty="0">
                <a:hlinkClick r:id="rId3"/>
              </a:rPr>
              <a:t>https://pages.cs.wisc.edu/~changt/</a:t>
            </a:r>
            <a:r>
              <a:rPr lang="en-US" dirty="0"/>
              <a:t>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584243C-D5DC-CD4C-1AD4-86EE00BD44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6" r="10106"/>
          <a:stretch>
            <a:fillRect/>
          </a:stretch>
        </p:blipFill>
        <p:spPr bwMode="auto">
          <a:xfrm>
            <a:off x="3147544" y="101321"/>
            <a:ext cx="6423383" cy="275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4015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C15E8-B68D-B73D-1FEF-AC5B2671A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F9DFB-3F06-DBE9-4040-F6BA3C3A4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A3C09D9-FB4D-A955-C4B0-26C976AAD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86345" cy="5971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63A1B1-73A7-17F6-07AF-FBAA702B2FDF}"/>
              </a:ext>
            </a:extLst>
          </p:cNvPr>
          <p:cNvSpPr txBox="1"/>
          <p:nvPr/>
        </p:nvSpPr>
        <p:spPr>
          <a:xfrm>
            <a:off x="152400" y="6387347"/>
            <a:ext cx="4586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</a:t>
            </a:r>
            <a:r>
              <a:rPr lang="en-US" dirty="0">
                <a:hlinkClick r:id="rId3"/>
              </a:rPr>
              <a:t>https://pages.cs.wisc.edu/~changt/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5010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D6F3C-1F42-5278-C574-64D834A7D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try it again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FAC41C-4949-6D90-4406-5955E18FF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3" y="1282700"/>
            <a:ext cx="5092700" cy="4292600"/>
          </a:xfrm>
          <a:prstGeom prst="rect">
            <a:avLst/>
          </a:prstGeom>
        </p:spPr>
      </p:pic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E8B4CAF-00FA-FCEC-753D-464D07B3BE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0360363"/>
              </p:ext>
            </p:extLst>
          </p:nvPr>
        </p:nvGraphicFramePr>
        <p:xfrm>
          <a:off x="5939437" y="3505937"/>
          <a:ext cx="564154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386">
                  <a:extLst>
                    <a:ext uri="{9D8B030D-6E8A-4147-A177-3AD203B41FA5}">
                      <a16:colId xmlns:a16="http://schemas.microsoft.com/office/drawing/2014/main" val="4152903609"/>
                    </a:ext>
                  </a:extLst>
                </a:gridCol>
                <a:gridCol w="1410386">
                  <a:extLst>
                    <a:ext uri="{9D8B030D-6E8A-4147-A177-3AD203B41FA5}">
                      <a16:colId xmlns:a16="http://schemas.microsoft.com/office/drawing/2014/main" val="418183600"/>
                    </a:ext>
                  </a:extLst>
                </a:gridCol>
                <a:gridCol w="1410386">
                  <a:extLst>
                    <a:ext uri="{9D8B030D-6E8A-4147-A177-3AD203B41FA5}">
                      <a16:colId xmlns:a16="http://schemas.microsoft.com/office/drawing/2014/main" val="1606692455"/>
                    </a:ext>
                  </a:extLst>
                </a:gridCol>
                <a:gridCol w="1410386">
                  <a:extLst>
                    <a:ext uri="{9D8B030D-6E8A-4147-A177-3AD203B41FA5}">
                      <a16:colId xmlns:a16="http://schemas.microsoft.com/office/drawing/2014/main" val="3113084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Vertex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Visited?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680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534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eue Haas Grotesk Text Pro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7924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eue Haas Grotesk Text Pro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882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eue Haas Grotesk Text Pro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400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eue Haas Grotesk Text Pro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307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eue Haas Grotesk Text Pro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3596491"/>
                  </a:ext>
                </a:extLst>
              </a:tr>
            </a:tbl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AFC59896-8813-9CA3-DB8E-B12F3318F6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6" r="10106"/>
          <a:stretch>
            <a:fillRect/>
          </a:stretch>
        </p:blipFill>
        <p:spPr bwMode="auto">
          <a:xfrm>
            <a:off x="5341768" y="303220"/>
            <a:ext cx="6423383" cy="275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1675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F39861-6E3A-FFBF-6BE6-C62F10F5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Dijkstra's used?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D2F061-0ADB-9466-7226-9E3EE1526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 general: Finding shortest path between two nodes</a:t>
            </a:r>
          </a:p>
          <a:p>
            <a:pPr lvl="1"/>
            <a:r>
              <a:rPr lang="en-US" dirty="0"/>
              <a:t>Your favorite Maps app!</a:t>
            </a:r>
          </a:p>
          <a:p>
            <a:r>
              <a:rPr lang="en-US" dirty="0"/>
              <a:t>Networking: </a:t>
            </a:r>
          </a:p>
          <a:p>
            <a:pPr lvl="1"/>
            <a:r>
              <a:rPr lang="en-US" dirty="0">
                <a:hlinkClick r:id="rId2"/>
              </a:rPr>
              <a:t>Border Gateway Protocol</a:t>
            </a:r>
            <a:r>
              <a:rPr lang="en-US" dirty="0"/>
              <a:t> in networking: </a:t>
            </a:r>
          </a:p>
          <a:p>
            <a:pPr lvl="1"/>
            <a:r>
              <a:rPr lang="en-US" dirty="0"/>
              <a:t>How to move this packet to another router so it gets where it needs to go? Each router has a lookup table.</a:t>
            </a:r>
          </a:p>
        </p:txBody>
      </p:sp>
      <p:pic>
        <p:nvPicPr>
          <p:cNvPr id="8194" name="Picture 2" descr="BGP Routing Tutorial Series: Part 1 | Kentik Blog">
            <a:extLst>
              <a:ext uri="{FF2B5EF4-FFF2-40B4-BE49-F238E27FC236}">
                <a16:creationId xmlns:a16="http://schemas.microsoft.com/office/drawing/2014/main" id="{9C9CE217-F96D-C77B-EC76-9CC35C352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988" y="0"/>
            <a:ext cx="4356012" cy="2493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6930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8177-8B4F-45AC-063D-E3C1C2715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shortest path algorithms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4509BC-FF0E-3976-780C-81F5D9E507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Bellman-Ford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Slower than Dijkstra, but can handle negative edge weights</a:t>
                </a:r>
              </a:p>
              <a:p>
                <a:r>
                  <a:rPr lang="en-US" dirty="0"/>
                  <a:t>Floyd-</a:t>
                </a:r>
                <a:r>
                  <a:rPr lang="en-US" dirty="0" err="1"/>
                  <a:t>Warshall</a:t>
                </a:r>
                <a:r>
                  <a:rPr lang="en-US" dirty="0"/>
                  <a:t> -  O(|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Also can handle negative edge weights, but it's cubic.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4509BC-FF0E-3976-780C-81F5D9E507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2047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610C5-CC0A-7DA0-3E5E-2647EE30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try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0BCEE-A706-06AB-8218-F4F8E43DB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1" y="1806823"/>
            <a:ext cx="8273140" cy="4342981"/>
          </a:xfrm>
        </p:spPr>
        <p:txBody>
          <a:bodyPr>
            <a:noAutofit/>
          </a:bodyPr>
          <a:lstStyle/>
          <a:p>
            <a:r>
              <a:rPr lang="en-US" sz="2800" dirty="0"/>
              <a:t>1. Choose one of your sample graphs</a:t>
            </a:r>
          </a:p>
          <a:p>
            <a:r>
              <a:rPr lang="en-US" sz="2800" dirty="0"/>
              <a:t>2. Go to the board and run Dijkstra's algorithm</a:t>
            </a:r>
          </a:p>
          <a:p>
            <a:r>
              <a:rPr lang="en-US" sz="2800" dirty="0"/>
              <a:t>3. Highlight the shortest path tree</a:t>
            </a:r>
          </a:p>
          <a:p>
            <a:endParaRPr lang="en-US" sz="2800" dirty="0"/>
          </a:p>
          <a:p>
            <a:r>
              <a:rPr lang="en-US" sz="2800" dirty="0"/>
              <a:t>4. Discuss: How is the "shortest path tree" different from the "minimum spanning tree"?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35340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8772-3D31-EA37-9495-0B9FEF018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try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E1C8B-4A61-7B09-744E-5DF98DC5A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1" y="1208334"/>
            <a:ext cx="8273140" cy="573951"/>
          </a:xfrm>
        </p:spPr>
        <p:txBody>
          <a:bodyPr/>
          <a:lstStyle/>
          <a:p>
            <a:r>
              <a:rPr lang="en-US" dirty="0"/>
              <a:t>Shortest distance from SF to Miami?</a:t>
            </a:r>
          </a:p>
        </p:txBody>
      </p:sp>
      <p:pic>
        <p:nvPicPr>
          <p:cNvPr id="4" name="Picture 2" descr=" ">
            <a:extLst>
              <a:ext uri="{FF2B5EF4-FFF2-40B4-BE49-F238E27FC236}">
                <a16:creationId xmlns:a16="http://schemas.microsoft.com/office/drawing/2014/main" id="{BB363568-50A2-231A-41D2-319AFC9107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4" t="14531" r="12070" b="1942"/>
          <a:stretch>
            <a:fillRect/>
          </a:stretch>
        </p:blipFill>
        <p:spPr bwMode="auto">
          <a:xfrm>
            <a:off x="1926242" y="2206354"/>
            <a:ext cx="8339516" cy="4426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547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122" name="Picture 2" descr="Well Water Flow Rate with Pressure Tank Systems">
            <a:extLst>
              <a:ext uri="{FF2B5EF4-FFF2-40B4-BE49-F238E27FC236}">
                <a16:creationId xmlns:a16="http://schemas.microsoft.com/office/drawing/2014/main" id="{3F653357-F691-8163-34DC-1E22B2EAE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9" b="4611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9" name="Rectangle 5128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11906"/>
            <a:ext cx="12191999" cy="1246094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06D50-5CFE-A086-B6FD-3C42736F9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95685"/>
            <a:ext cx="8183880" cy="960120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Flow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62A60-C1B4-341F-705C-094B5626C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7818" y="5795685"/>
            <a:ext cx="3409109" cy="960120"/>
          </a:xfrm>
        </p:spPr>
        <p:txBody>
          <a:bodyPr anchor="ctr">
            <a:normAutofit/>
          </a:bodyPr>
          <a:lstStyle/>
          <a:p>
            <a:pPr algn="r"/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001663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5" name="Rectangle 6154">
            <a:extLst>
              <a:ext uri="{FF2B5EF4-FFF2-40B4-BE49-F238E27FC236}">
                <a16:creationId xmlns:a16="http://schemas.microsoft.com/office/drawing/2014/main" id="{9B61FEBE-B024-E867-ADF8-B65D117A2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290B5C-97AE-585F-3B0C-B5C091FE3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953569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DD237-0DC0-49DE-FC3E-9ACDED238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953569" cy="428493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For your PG&amp;E internship, you design the electrical network for a small town.</a:t>
            </a:r>
          </a:p>
          <a:p>
            <a:r>
              <a:rPr lang="en-US" dirty="0"/>
              <a:t>They have few power lines, but need their town hall to have power.</a:t>
            </a:r>
          </a:p>
          <a:p>
            <a:r>
              <a:rPr lang="en-US" dirty="0"/>
              <a:t>Each line is rated for a certain capacity.</a:t>
            </a:r>
          </a:p>
          <a:p>
            <a:r>
              <a:rPr lang="en-US" dirty="0"/>
              <a:t>How much current can the town </a:t>
            </a:r>
            <a:r>
              <a:rPr lang="en-US" dirty="0" err="1"/>
              <a:t>hal</a:t>
            </a:r>
            <a:r>
              <a:rPr lang="en-US" dirty="0"/>
              <a:t>; receive?</a:t>
            </a:r>
          </a:p>
        </p:txBody>
      </p:sp>
      <p:pic>
        <p:nvPicPr>
          <p:cNvPr id="6150" name="Picture 6" descr="undefined">
            <a:extLst>
              <a:ext uri="{FF2B5EF4-FFF2-40B4-BE49-F238E27FC236}">
                <a16:creationId xmlns:a16="http://schemas.microsoft.com/office/drawing/2014/main" id="{67970E13-FCB7-3FC9-AEC2-E2DE9F7C56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" r="2" b="45783"/>
          <a:stretch>
            <a:fillRect/>
          </a:stretch>
        </p:blipFill>
        <p:spPr bwMode="auto">
          <a:xfrm>
            <a:off x="7435018" y="10"/>
            <a:ext cx="4756982" cy="3405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Transformer telephone pole hi-res stock photography and images - Alamy">
            <a:extLst>
              <a:ext uri="{FF2B5EF4-FFF2-40B4-BE49-F238E27FC236}">
                <a16:creationId xmlns:a16="http://schemas.microsoft.com/office/drawing/2014/main" id="{264FECF7-6CEC-BEBE-8889-D659E5AF6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7" r="-4" b="-4"/>
          <a:stretch>
            <a:fillRect/>
          </a:stretch>
        </p:blipFill>
        <p:spPr bwMode="auto">
          <a:xfrm>
            <a:off x="7435018" y="3454171"/>
            <a:ext cx="4756982" cy="3403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1463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1D620-D467-D19F-3760-E309C1657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community's electrical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34709-6CDD-AB5A-90CE-B8F77CD52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2C04D155-08B4-87E9-4AE0-849C70FCE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1673860"/>
            <a:ext cx="10160000" cy="463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5952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C3A79-B0F7-38BE-8E15-F43EFFF59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flow network?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F28F7-E342-32A3-F422-BC7B5F2A2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Used to model the passage of "material" throughout a network.</a:t>
            </a:r>
          </a:p>
          <a:p>
            <a:r>
              <a:rPr lang="en-US" dirty="0"/>
              <a:t>From </a:t>
            </a:r>
            <a:r>
              <a:rPr lang="en-US" i="1" dirty="0"/>
              <a:t>s</a:t>
            </a:r>
            <a:r>
              <a:rPr lang="en-US" dirty="0"/>
              <a:t> to </a:t>
            </a:r>
            <a:r>
              <a:rPr lang="en-US" i="1" dirty="0"/>
              <a:t>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Source to Target</a:t>
            </a:r>
          </a:p>
          <a:p>
            <a:pPr lvl="1"/>
            <a:r>
              <a:rPr lang="en-US" dirty="0"/>
              <a:t>Source to </a:t>
            </a:r>
            <a:r>
              <a:rPr lang="en-US" i="1" dirty="0"/>
              <a:t>Sink</a:t>
            </a:r>
          </a:p>
          <a:p>
            <a:r>
              <a:rPr lang="en-US" dirty="0"/>
              <a:t>Each edge's weight represents its </a:t>
            </a:r>
            <a:r>
              <a:rPr lang="en-US" i="1" dirty="0"/>
              <a:t>capacity </a:t>
            </a:r>
            <a:r>
              <a:rPr lang="en-US" dirty="0"/>
              <a:t>(non-negative)</a:t>
            </a:r>
          </a:p>
          <a:p>
            <a:r>
              <a:rPr lang="en-US" dirty="0"/>
              <a:t>We also denote the edge's </a:t>
            </a:r>
            <a:r>
              <a:rPr lang="en-US" i="1" dirty="0"/>
              <a:t>flow</a:t>
            </a:r>
            <a:r>
              <a:rPr lang="en-US" dirty="0"/>
              <a:t>, i.e. how much material goes through that edge. </a:t>
            </a:r>
          </a:p>
          <a:p>
            <a:r>
              <a:rPr lang="en-US" dirty="0"/>
              <a:t>We will write: flow / capacity</a:t>
            </a:r>
          </a:p>
        </p:txBody>
      </p:sp>
    </p:spTree>
    <p:extLst>
      <p:ext uri="{BB962C8B-B14F-4D97-AF65-F5344CB8AC3E}">
        <p14:creationId xmlns:p14="http://schemas.microsoft.com/office/powerpoint/2010/main" val="3359747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C07A7-F32F-A9C4-DC37-6AD6F6247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8EBC7-AC4D-67FA-03CB-823D43BA5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happens if we overload the power line?</a:t>
            </a:r>
          </a:p>
          <a:p>
            <a:pPr lvl="1"/>
            <a:r>
              <a:rPr lang="en-US" dirty="0"/>
              <a:t>Flow must be &lt;= capacity</a:t>
            </a:r>
          </a:p>
          <a:p>
            <a:r>
              <a:rPr lang="en-US" dirty="0"/>
              <a:t>What does it mean for a line to have negative capacity?</a:t>
            </a:r>
          </a:p>
          <a:p>
            <a:pPr lvl="1"/>
            <a:r>
              <a:rPr lang="en-US" dirty="0"/>
              <a:t>Capacity &amp; flows must be non-negative integers</a:t>
            </a:r>
          </a:p>
        </p:txBody>
      </p:sp>
    </p:spTree>
    <p:extLst>
      <p:ext uri="{BB962C8B-B14F-4D97-AF65-F5344CB8AC3E}">
        <p14:creationId xmlns:p14="http://schemas.microsoft.com/office/powerpoint/2010/main" val="795240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D21F7-BF80-80ED-FD68-C9074CC73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we can answer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3FC68-6570-B5C4-F30E-CCF57E604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much current can we send from the transmission tower to town hall?</a:t>
            </a:r>
          </a:p>
          <a:p>
            <a:pPr lvl="1"/>
            <a:r>
              <a:rPr lang="en-US" i="1" dirty="0"/>
              <a:t>Maximal flow</a:t>
            </a:r>
          </a:p>
          <a:p>
            <a:endParaRPr lang="en-US" i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180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08CF9-9E3B-1322-7229-CED605680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Tangent: maximal vs. maximum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C9D8A-FDFD-CCE4-BD35-0B2158373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Maximal = highest possible in the current situation.</a:t>
            </a:r>
          </a:p>
          <a:p>
            <a:pPr lvl="1"/>
            <a:r>
              <a:rPr lang="en-US" dirty="0"/>
              <a:t>Maximum = highest possible overall.</a:t>
            </a:r>
          </a:p>
          <a:p>
            <a:endParaRPr lang="en-US" dirty="0"/>
          </a:p>
        </p:txBody>
      </p:sp>
      <p:pic>
        <p:nvPicPr>
          <p:cNvPr id="4" name="Picture 2" descr="Above &amp; Beyond Mount Everest - Runner's World">
            <a:extLst>
              <a:ext uri="{FF2B5EF4-FFF2-40B4-BE49-F238E27FC236}">
                <a16:creationId xmlns:a16="http://schemas.microsoft.com/office/drawing/2014/main" id="{3D28CD00-088B-834E-C969-7078F0F00A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98"/>
          <a:stretch>
            <a:fillRect/>
          </a:stretch>
        </p:blipFill>
        <p:spPr bwMode="auto">
          <a:xfrm>
            <a:off x="2603500" y="3069878"/>
            <a:ext cx="6985000" cy="3684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072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D2F98-C941-33F1-72CB-50B888010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Ford-Fulkerson algorithm </a:t>
            </a:r>
            <a:br>
              <a:rPr lang="en-US" dirty="0"/>
            </a:br>
            <a:r>
              <a:rPr lang="en-US" dirty="0"/>
              <a:t>for maximum flow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87399F5-D94E-55C5-9CBE-E9E5D8B1592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Complexity: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𝐸𝑓</m:t>
                        </m:r>
                      </m:e>
                    </m:d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the maximum flow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87399F5-D94E-55C5-9CBE-E9E5D8B159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767" b="-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386" name="Picture 2" descr="Lester &quot;Les&quot; Randolph Ford, Jr. - The Santa Barbara Independent">
            <a:extLst>
              <a:ext uri="{FF2B5EF4-FFF2-40B4-BE49-F238E27FC236}">
                <a16:creationId xmlns:a16="http://schemas.microsoft.com/office/drawing/2014/main" id="{6C37A2BA-03C5-00C1-6C51-5BC180DC3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934" y="3163442"/>
            <a:ext cx="2324101" cy="309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>
            <a:extLst>
              <a:ext uri="{FF2B5EF4-FFF2-40B4-BE49-F238E27FC236}">
                <a16:creationId xmlns:a16="http://schemas.microsoft.com/office/drawing/2014/main" id="{F9308B68-7134-5427-B506-64C7EF347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9"/>
          <a:stretch>
            <a:fillRect/>
          </a:stretch>
        </p:blipFill>
        <p:spPr bwMode="auto">
          <a:xfrm>
            <a:off x="8950035" y="3163442"/>
            <a:ext cx="2324100" cy="309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33F80B-0F9D-514D-DC75-FD5F6A623CCE}"/>
              </a:ext>
            </a:extLst>
          </p:cNvPr>
          <p:cNvSpPr txBox="1"/>
          <p:nvPr/>
        </p:nvSpPr>
        <p:spPr>
          <a:xfrm>
            <a:off x="7254949" y="6304384"/>
            <a:ext cx="338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Ford		     Fulkerson</a:t>
            </a:r>
          </a:p>
        </p:txBody>
      </p:sp>
    </p:spTree>
    <p:extLst>
      <p:ext uri="{BB962C8B-B14F-4D97-AF65-F5344CB8AC3E}">
        <p14:creationId xmlns:p14="http://schemas.microsoft.com/office/powerpoint/2010/main" val="3386717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FBAF0-AFFD-B467-81E4-F9C225E09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Capacity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BB20C-43E2-83C3-F3E3-3708028EA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Capacity = stated amount the edge can handle</a:t>
            </a:r>
          </a:p>
          <a:p>
            <a:r>
              <a:rPr lang="en-US" dirty="0"/>
              <a:t>Flow = amount moved through the edge</a:t>
            </a:r>
          </a:p>
          <a:p>
            <a:r>
              <a:rPr lang="en-US" dirty="0"/>
              <a:t>Residual capacity = anything left over</a:t>
            </a:r>
          </a:p>
          <a:p>
            <a:r>
              <a:rPr lang="en-US" dirty="0"/>
              <a:t>If flow = capacity: the edge is </a:t>
            </a:r>
            <a:r>
              <a:rPr lang="en-US" i="1" dirty="0"/>
              <a:t>saturated</a:t>
            </a:r>
            <a:endParaRPr lang="en-US" dirty="0"/>
          </a:p>
          <a:p>
            <a:endParaRPr lang="en-US" dirty="0"/>
          </a:p>
          <a:p>
            <a:r>
              <a:rPr lang="en-US" dirty="0"/>
              <a:t>Ex. Residual capacity of ac is 1 = 3-2. ac is not yet saturated.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F7A876-64E8-1A43-7D34-982315DBBC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519" b="9048"/>
          <a:stretch>
            <a:fillRect/>
          </a:stretch>
        </p:blipFill>
        <p:spPr>
          <a:xfrm>
            <a:off x="3611129" y="5411928"/>
            <a:ext cx="4969741" cy="144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33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3B36E-6F46-D8DF-CC1A-DC696BF1D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Showing Residual Capacity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8C84-367D-5FFA-45FC-E5836A1DF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Draw an arrow going backwards / write it on the graph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Or keep it in your head, if it's simple to do the math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C765C87-3E51-4952-D912-89CD7F21D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8279" y="2318327"/>
            <a:ext cx="5235442" cy="2586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9601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2D818-91BC-75D1-5E37-4AB9AB8DA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Augmenting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F0699-22F0-0EC3-6A83-BF05AF9B3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simple</a:t>
            </a:r>
            <a:r>
              <a:rPr lang="en-US" dirty="0"/>
              <a:t> path where residual capacity is positive</a:t>
            </a:r>
          </a:p>
          <a:p>
            <a:pPr lvl="1"/>
            <a:r>
              <a:rPr lang="en-US" dirty="0"/>
              <a:t>Simple = no repeating vertices</a:t>
            </a:r>
          </a:p>
          <a:p>
            <a:pPr lvl="1"/>
            <a:r>
              <a:rPr lang="en-US" dirty="0"/>
              <a:t>Found augmenting path? We can increase the flow of that path.</a:t>
            </a:r>
          </a:p>
          <a:p>
            <a:pPr lvl="1"/>
            <a:r>
              <a:rPr lang="en-US" dirty="0"/>
              <a:t>How much to increase flow? By the minimum (remaining) capacity of that path.</a:t>
            </a:r>
          </a:p>
        </p:txBody>
      </p:sp>
    </p:spTree>
    <p:extLst>
      <p:ext uri="{BB962C8B-B14F-4D97-AF65-F5344CB8AC3E}">
        <p14:creationId xmlns:p14="http://schemas.microsoft.com/office/powerpoint/2010/main" val="28185689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First path">
            <a:extLst>
              <a:ext uri="{FF2B5EF4-FFF2-40B4-BE49-F238E27FC236}">
                <a16:creationId xmlns:a16="http://schemas.microsoft.com/office/drawing/2014/main" id="{63BCB3C7-CE82-4CD5-340F-83C56E36F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036" y="2981538"/>
            <a:ext cx="7051964" cy="393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Flow network">
            <a:extLst>
              <a:ext uri="{FF2B5EF4-FFF2-40B4-BE49-F238E27FC236}">
                <a16:creationId xmlns:a16="http://schemas.microsoft.com/office/drawing/2014/main" id="{28DBBEDE-BE40-FC51-3187-A9E5A3893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9818"/>
            <a:ext cx="63500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63FC7D7-BD65-BEB6-4302-CB6AD93B9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Augmenting path from s to 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8151B2-FF9E-E26E-2211-090205F81708}"/>
              </a:ext>
            </a:extLst>
          </p:cNvPr>
          <p:cNvSpPr txBox="1"/>
          <p:nvPr/>
        </p:nvSpPr>
        <p:spPr>
          <a:xfrm>
            <a:off x="127000" y="63093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https://cp-algorithms.com/graph/edmonds_karp.html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0435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5CF43-14D9-BEBA-06D6-90F5AC4CA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Resulting flow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14665-B23A-0220-9CF1-FBD12F2F7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for understanding: Why does B</a:t>
            </a:r>
            <a:r>
              <a:rPr lang="en-US" dirty="0">
                <a:sym typeface="Wingdings" pitchFamily="2" charset="2"/>
              </a:rPr>
              <a:t> t have a flow of 5, and not 8?</a:t>
            </a:r>
            <a:endParaRPr lang="en-US" dirty="0"/>
          </a:p>
        </p:txBody>
      </p:sp>
      <p:pic>
        <p:nvPicPr>
          <p:cNvPr id="11266" name="Picture 2" descr="Network after first path">
            <a:extLst>
              <a:ext uri="{FF2B5EF4-FFF2-40B4-BE49-F238E27FC236}">
                <a16:creationId xmlns:a16="http://schemas.microsoft.com/office/drawing/2014/main" id="{A0CD632C-80E3-1D00-698D-58203DC42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824" y="2026640"/>
            <a:ext cx="8658352" cy="4831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762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62013-767A-5510-3B88-5BB63EEFC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do it again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8C078-98D5-F714-DB6C-68B1205C0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302327"/>
            <a:ext cx="10653579" cy="53062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Find another augmenting path</a:t>
            </a:r>
          </a:p>
          <a:p>
            <a:pPr lvl="1"/>
            <a:r>
              <a:rPr lang="en-US" dirty="0"/>
              <a:t>Where residual capacity is positive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 worrying right now about </a:t>
            </a:r>
            <a:r>
              <a:rPr lang="en-US" i="1" dirty="0"/>
              <a:t>how</a:t>
            </a:r>
            <a:r>
              <a:rPr lang="en-US" dirty="0"/>
              <a:t>, that's a question for another time</a:t>
            </a:r>
          </a:p>
        </p:txBody>
      </p:sp>
      <p:pic>
        <p:nvPicPr>
          <p:cNvPr id="12294" name="Picture 6" descr="Second path">
            <a:extLst>
              <a:ext uri="{FF2B5EF4-FFF2-40B4-BE49-F238E27FC236}">
                <a16:creationId xmlns:a16="http://schemas.microsoft.com/office/drawing/2014/main" id="{3DA8DB24-C746-7C8D-B313-87693F226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55" y="2044053"/>
            <a:ext cx="63500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Network after second path">
            <a:extLst>
              <a:ext uri="{FF2B5EF4-FFF2-40B4-BE49-F238E27FC236}">
                <a16:creationId xmlns:a16="http://schemas.microsoft.com/office/drawing/2014/main" id="{B131E2BF-2387-D1E7-7E46-AFBF7F06E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73108"/>
            <a:ext cx="63500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748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4090C-26B3-DBBC-A7B7-E1932E2DB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do it again</a:t>
            </a:r>
          </a:p>
        </p:txBody>
      </p:sp>
      <p:pic>
        <p:nvPicPr>
          <p:cNvPr id="4" name="Picture 2" descr="Third path">
            <a:extLst>
              <a:ext uri="{FF2B5EF4-FFF2-40B4-BE49-F238E27FC236}">
                <a16:creationId xmlns:a16="http://schemas.microsoft.com/office/drawing/2014/main" id="{1FE57FB1-39D7-077D-5EF8-866B90AB8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200150"/>
            <a:ext cx="63500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Network after third path">
            <a:extLst>
              <a:ext uri="{FF2B5EF4-FFF2-40B4-BE49-F238E27FC236}">
                <a16:creationId xmlns:a16="http://schemas.microsoft.com/office/drawing/2014/main" id="{1BB5BB1E-A4DA-B6C7-3C5E-6317D4CB1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213" y="3314700"/>
            <a:ext cx="63500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3526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BBB5-9974-C478-20FB-B5E1E4AC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we 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9847F-671A-06DB-0043-BFE1CBD88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an edge's flow = capacity, the edge is </a:t>
            </a:r>
            <a:r>
              <a:rPr lang="en-US" i="1" dirty="0"/>
              <a:t>saturated.</a:t>
            </a:r>
          </a:p>
          <a:p>
            <a:r>
              <a:rPr lang="en-US" dirty="0"/>
              <a:t>Each vertex must be in equilibrium</a:t>
            </a:r>
          </a:p>
          <a:p>
            <a:r>
              <a:rPr lang="en-US" dirty="0"/>
              <a:t>When looking for augmenting path, we can:</a:t>
            </a:r>
          </a:p>
          <a:p>
            <a:pPr lvl="1"/>
            <a:r>
              <a:rPr lang="en-US" dirty="0"/>
              <a:t>Choose a "forward" edge if it has capacity to spare</a:t>
            </a:r>
          </a:p>
          <a:p>
            <a:pPr lvl="1"/>
            <a:r>
              <a:rPr lang="en-US" dirty="0"/>
              <a:t>Choose a "backwards" edge if it has non-empty flow</a:t>
            </a:r>
          </a:p>
        </p:txBody>
      </p:sp>
    </p:spTree>
    <p:extLst>
      <p:ext uri="{BB962C8B-B14F-4D97-AF65-F5344CB8AC3E}">
        <p14:creationId xmlns:p14="http://schemas.microsoft.com/office/powerpoint/2010/main" val="1421763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0BA62-B615-FEC8-34FA-4A91FEBDD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again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3333B-ACBA-225D-7E12-FEBE93A2C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4338" name="Picture 2" descr="Fourth path">
            <a:extLst>
              <a:ext uri="{FF2B5EF4-FFF2-40B4-BE49-F238E27FC236}">
                <a16:creationId xmlns:a16="http://schemas.microsoft.com/office/drawing/2014/main" id="{F65B44DC-2EC8-8ACB-CB58-BD71ED024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709" y="1259790"/>
            <a:ext cx="63500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Network after fourth path">
            <a:extLst>
              <a:ext uri="{FF2B5EF4-FFF2-40B4-BE49-F238E27FC236}">
                <a16:creationId xmlns:a16="http://schemas.microsoft.com/office/drawing/2014/main" id="{DE1AAFC1-FD74-0F90-1AB5-C396971E7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582" y="3429000"/>
            <a:ext cx="63500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054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5E75A-796E-355B-CF66-429C8952E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this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1BF34-A015-C236-4FAC-C2A7D3994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sending everything through D</a:t>
            </a:r>
            <a:r>
              <a:rPr lang="en-US" dirty="0">
                <a:sym typeface="Wingdings" pitchFamily="2" charset="2"/>
              </a:rPr>
              <a:t>A, don't send one unit, and send it through DC instead.</a:t>
            </a:r>
          </a:p>
          <a:p>
            <a:r>
              <a:rPr lang="en-US" dirty="0">
                <a:sym typeface="Wingdings" pitchFamily="2" charset="2"/>
              </a:rPr>
              <a:t>Note that in(A) and out(A) is still 5. A is still in equilibrium.</a:t>
            </a:r>
            <a:endParaRPr lang="en-US" dirty="0"/>
          </a:p>
        </p:txBody>
      </p:sp>
      <p:pic>
        <p:nvPicPr>
          <p:cNvPr id="5" name="Picture 2" descr="Fourth path">
            <a:extLst>
              <a:ext uri="{FF2B5EF4-FFF2-40B4-BE49-F238E27FC236}">
                <a16:creationId xmlns:a16="http://schemas.microsoft.com/office/drawing/2014/main" id="{477A30AA-7950-B8A8-DB5F-B8C44679C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436" y="3314700"/>
            <a:ext cx="63500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94358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70AEA-D9BC-B7A0-072F-9FBD35F4F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AD504-ACA7-3498-1F00-5E6541B9B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we cannot find an augmenting path, we are done.</a:t>
            </a:r>
          </a:p>
          <a:p>
            <a:pPr lvl="1"/>
            <a:r>
              <a:rPr lang="en-US" dirty="0" err="1">
                <a:sym typeface="Wingdings" pitchFamily="2" charset="2"/>
              </a:rPr>
              <a:t>sD</a:t>
            </a:r>
            <a:r>
              <a:rPr lang="en-US" dirty="0">
                <a:sym typeface="Wingdings" pitchFamily="2" charset="2"/>
              </a:rPr>
              <a:t> is saturated; </a:t>
            </a:r>
            <a:r>
              <a:rPr lang="en-US" dirty="0" err="1">
                <a:sym typeface="Wingdings" pitchFamily="2" charset="2"/>
              </a:rPr>
              <a:t>sA</a:t>
            </a:r>
            <a:r>
              <a:rPr lang="en-US" dirty="0">
                <a:sym typeface="Wingdings" pitchFamily="2" charset="2"/>
              </a:rPr>
              <a:t> has space, but AB &amp; AC don't, nor does DC even if we reversed flow in AD.</a:t>
            </a:r>
            <a:endParaRPr lang="en-US" dirty="0"/>
          </a:p>
          <a:p>
            <a:r>
              <a:rPr lang="en-US" dirty="0"/>
              <a:t>Max flow is out(s) = in(t) = 6+4 = 10.</a:t>
            </a:r>
          </a:p>
        </p:txBody>
      </p:sp>
      <p:pic>
        <p:nvPicPr>
          <p:cNvPr id="20482" name="Picture 2" descr="Network after fourth path">
            <a:extLst>
              <a:ext uri="{FF2B5EF4-FFF2-40B4-BE49-F238E27FC236}">
                <a16:creationId xmlns:a16="http://schemas.microsoft.com/office/drawing/2014/main" id="{7EDBE981-FB78-1BA4-7B4F-4E55652F4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3630719"/>
            <a:ext cx="63500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7930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424C-84CE-A87D-D84A-A5BEB1117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Edmonds-Karp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14BB496-AFFA-2F15-F03F-E2C54AD827F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Complexity:</a:t>
                </a:r>
                <a14:m/>
              </a:p>
              <a:p>
                <a:r>
                  <a:rPr lang="en-US" dirty="0"/>
                  <a:t>(E-K)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(Dinitz) 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14BB496-AFFA-2F15-F03F-E2C54AD827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767" b="-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410" name="Picture 2" descr="Yefim DINITZ | Prof. | Ph.D. | Ben-Gurion University of the Negev,  Beersheba | bgu | Department of Computer Science | Research profile">
            <a:extLst>
              <a:ext uri="{FF2B5EF4-FFF2-40B4-BE49-F238E27FC236}">
                <a16:creationId xmlns:a16="http://schemas.microsoft.com/office/drawing/2014/main" id="{0144EDCC-E460-3E8F-A34C-4CDEA5AC3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4364" y="3955879"/>
            <a:ext cx="1974273" cy="1974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1BE56C-55E5-1858-171E-D45D634AAF2B}"/>
              </a:ext>
            </a:extLst>
          </p:cNvPr>
          <p:cNvSpPr txBox="1"/>
          <p:nvPr/>
        </p:nvSpPr>
        <p:spPr>
          <a:xfrm>
            <a:off x="9291513" y="6027385"/>
            <a:ext cx="2941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Yefim Dinitz</a:t>
            </a:r>
          </a:p>
          <a:p>
            <a:pPr algn="ctr"/>
            <a:r>
              <a:rPr lang="en-US" dirty="0"/>
              <a:t>(published independently)</a:t>
            </a:r>
          </a:p>
        </p:txBody>
      </p:sp>
      <p:pic>
        <p:nvPicPr>
          <p:cNvPr id="17412" name="Picture 4">
            <a:extLst>
              <a:ext uri="{FF2B5EF4-FFF2-40B4-BE49-F238E27FC236}">
                <a16:creationId xmlns:a16="http://schemas.microsoft.com/office/drawing/2014/main" id="{275A23DE-1862-E21C-D845-AB690C36A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406" y="3817329"/>
            <a:ext cx="1933864" cy="2343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460581-79DA-83D1-2903-D6B2107F82EB}"/>
              </a:ext>
            </a:extLst>
          </p:cNvPr>
          <p:cNvSpPr txBox="1"/>
          <p:nvPr/>
        </p:nvSpPr>
        <p:spPr>
          <a:xfrm>
            <a:off x="4921101" y="6165834"/>
            <a:ext cx="1767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Jack Edmonds</a:t>
            </a:r>
          </a:p>
        </p:txBody>
      </p:sp>
      <p:pic>
        <p:nvPicPr>
          <p:cNvPr id="17414" name="Picture 6">
            <a:extLst>
              <a:ext uri="{FF2B5EF4-FFF2-40B4-BE49-F238E27FC236}">
                <a16:creationId xmlns:a16="http://schemas.microsoft.com/office/drawing/2014/main" id="{65FC118C-1BE4-4767-F324-9384B8920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930" y="3768416"/>
            <a:ext cx="2341434" cy="2341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C2118D-053E-D50B-E718-3914CCD65102}"/>
              </a:ext>
            </a:extLst>
          </p:cNvPr>
          <p:cNvSpPr txBox="1"/>
          <p:nvPr/>
        </p:nvSpPr>
        <p:spPr>
          <a:xfrm>
            <a:off x="7550731" y="6109850"/>
            <a:ext cx="1583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Richard Karp</a:t>
            </a:r>
          </a:p>
        </p:txBody>
      </p:sp>
    </p:spTree>
    <p:extLst>
      <p:ext uri="{BB962C8B-B14F-4D97-AF65-F5344CB8AC3E}">
        <p14:creationId xmlns:p14="http://schemas.microsoft.com/office/powerpoint/2010/main" val="27823207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C23948-414B-2F92-30A4-821DFF867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distinction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EEB24C-2485-BDCE-C0C5-D8717C024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finding an augmenting path, determine the </a:t>
            </a:r>
            <a:r>
              <a:rPr lang="en-US" i="1" dirty="0"/>
              <a:t>shortest path</a:t>
            </a:r>
            <a:r>
              <a:rPr lang="en-US" dirty="0"/>
              <a:t> with </a:t>
            </a:r>
            <a:r>
              <a:rPr lang="en-US" i="1" dirty="0"/>
              <a:t>available capacity</a:t>
            </a:r>
            <a:r>
              <a:rPr lang="en-US" dirty="0"/>
              <a:t>.</a:t>
            </a:r>
          </a:p>
          <a:p>
            <a:r>
              <a:rPr lang="en-US" dirty="0"/>
              <a:t>Use BFS or DFS greedily</a:t>
            </a:r>
          </a:p>
        </p:txBody>
      </p:sp>
    </p:spTree>
    <p:extLst>
      <p:ext uri="{BB962C8B-B14F-4D97-AF65-F5344CB8AC3E}">
        <p14:creationId xmlns:p14="http://schemas.microsoft.com/office/powerpoint/2010/main" val="25807680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4E416-E252-9BE1-7FEA-E03B5BE01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19D3F-4FAC-CDA3-D354-C23D585E2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 descr="Max Flow Problem Introduction - GeeksforGeeks">
            <a:extLst>
              <a:ext uri="{FF2B5EF4-FFF2-40B4-BE49-F238E27FC236}">
                <a16:creationId xmlns:a16="http://schemas.microsoft.com/office/drawing/2014/main" id="{EB5E1FD6-BE0A-7437-FBD4-B5E07E332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100" y="2266950"/>
            <a:ext cx="50038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74D72A-9B75-3442-D875-5C714857F59B}"/>
              </a:ext>
            </a:extLst>
          </p:cNvPr>
          <p:cNvSpPr txBox="1"/>
          <p:nvPr/>
        </p:nvSpPr>
        <p:spPr>
          <a:xfrm>
            <a:off x="0" y="6488668"/>
            <a:ext cx="7497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https://www.geeksforgeeks.org/dsa/max-flow-problem-introduction/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9894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F28FA-150F-8477-EA9A-B3F0B6A1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try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5F8D5-0826-C0C1-6489-CEAD76786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1801091"/>
            <a:ext cx="8273140" cy="4172990"/>
          </a:xfrm>
        </p:spPr>
        <p:txBody>
          <a:bodyPr/>
          <a:lstStyle/>
          <a:p>
            <a:r>
              <a:rPr lang="en-US" dirty="0"/>
              <a:t>I think the answer is 5; prove me right or prove me wrong.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8E47E3-942A-FD86-BEB9-6D4B66F7DEA0}"/>
              </a:ext>
            </a:extLst>
          </p:cNvPr>
          <p:cNvSpPr txBox="1"/>
          <p:nvPr/>
        </p:nvSpPr>
        <p:spPr>
          <a:xfrm>
            <a:off x="603380" y="6304384"/>
            <a:ext cx="8509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https://www.cs.emory.edu/~cheung/Courses/253/Syllabus/NetFlow/intro.html</a:t>
            </a:r>
            <a:r>
              <a:rPr lang="en-US" dirty="0"/>
              <a:t> 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BE4E8C14-4365-5F32-34DC-11FEB072A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1470788"/>
            <a:ext cx="9093200" cy="398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97939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7A85D0-362F-C0F5-47C4-837631BDB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Cool-down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EBEFCB-2895-6BC4-1886-0418A06D5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278211"/>
            <a:ext cx="10653579" cy="4593828"/>
          </a:xfrm>
        </p:spPr>
        <p:txBody>
          <a:bodyPr/>
          <a:lstStyle/>
          <a:p>
            <a:r>
              <a:rPr lang="en-US" dirty="0"/>
              <a:t>An airline wishes to know how many crews it should allocate for the following airport map. Assume we want to send crews from Vancouver </a:t>
            </a:r>
            <a:r>
              <a:rPr lang="en-US"/>
              <a:t>to Winnipeg.</a:t>
            </a:r>
            <a:endParaRPr lang="en-US" dirty="0"/>
          </a:p>
        </p:txBody>
      </p:sp>
      <p:pic>
        <p:nvPicPr>
          <p:cNvPr id="22532" name="Picture 4" descr="Notes on maximum flow | Review ICS 311">
            <a:extLst>
              <a:ext uri="{FF2B5EF4-FFF2-40B4-BE49-F238E27FC236}">
                <a16:creationId xmlns:a16="http://schemas.microsoft.com/office/drawing/2014/main" id="{B07277D6-105C-492E-147A-1FE041FEC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633" y="2834306"/>
            <a:ext cx="7560734" cy="339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BF4A0D-5836-10BF-0D53-C5508B15F74E}"/>
              </a:ext>
            </a:extLst>
          </p:cNvPr>
          <p:cNvSpPr txBox="1"/>
          <p:nvPr/>
        </p:nvSpPr>
        <p:spPr>
          <a:xfrm>
            <a:off x="490330" y="6309360"/>
            <a:ext cx="9905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https://courses.ics.hawaii.edu/ReviewICS311/morea/200.maximum-flow/reading-notes.html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191721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1076</Words>
  <Application>Microsoft Macintosh PowerPoint</Application>
  <PresentationFormat>Widescreen</PresentationFormat>
  <Paragraphs>172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Aptos</vt:lpstr>
      <vt:lpstr>Arial</vt:lpstr>
      <vt:lpstr>Cambria Math</vt:lpstr>
      <vt:lpstr>Neue Haas Grotesk Text Pro</vt:lpstr>
      <vt:lpstr>Wingdings</vt:lpstr>
      <vt:lpstr>VanillaVTI</vt:lpstr>
      <vt:lpstr>Shortest Paths</vt:lpstr>
      <vt:lpstr>Warm-Up</vt:lpstr>
      <vt:lpstr>Dijkstra's Shortest Path</vt:lpstr>
      <vt:lpstr>Dijkstra's Algorithm</vt:lpstr>
      <vt:lpstr>PowerPoint Presentation</vt:lpstr>
      <vt:lpstr>PowerPoint Presentation</vt:lpstr>
      <vt:lpstr>Let's try it again</vt:lpstr>
      <vt:lpstr>How is Dijkstra's used?</vt:lpstr>
      <vt:lpstr>Other shortest path algorithms</vt:lpstr>
      <vt:lpstr>You try</vt:lpstr>
      <vt:lpstr>You try</vt:lpstr>
      <vt:lpstr>Flow Network</vt:lpstr>
      <vt:lpstr>Motivation</vt:lpstr>
      <vt:lpstr>The community's electrical grid</vt:lpstr>
      <vt:lpstr>What is a flow network?</vt:lpstr>
      <vt:lpstr>Limitations</vt:lpstr>
      <vt:lpstr>Questions we can answer </vt:lpstr>
      <vt:lpstr>Tangent: maximal vs. maximum</vt:lpstr>
      <vt:lpstr>Ford-Fulkerson algorithm  for maximum flow</vt:lpstr>
      <vt:lpstr>Residual Capacity</vt:lpstr>
      <vt:lpstr>Showing Residual Capacity</vt:lpstr>
      <vt:lpstr>Augmenting Path</vt:lpstr>
      <vt:lpstr>Augmenting path from s to t</vt:lpstr>
      <vt:lpstr>Resulting flow network</vt:lpstr>
      <vt:lpstr>Let's do it again</vt:lpstr>
      <vt:lpstr>Let's do it again</vt:lpstr>
      <vt:lpstr>As we go</vt:lpstr>
      <vt:lpstr>And again</vt:lpstr>
      <vt:lpstr>Why does this work?</vt:lpstr>
      <vt:lpstr>Our result</vt:lpstr>
      <vt:lpstr>Edmonds-Karp Algorithm</vt:lpstr>
      <vt:lpstr>Key distinction</vt:lpstr>
      <vt:lpstr>Let's try</vt:lpstr>
      <vt:lpstr>You try</vt:lpstr>
      <vt:lpstr>Cool-down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R Roscoe</dc:creator>
  <cp:lastModifiedBy>Sarah R Roscoe</cp:lastModifiedBy>
  <cp:revision>4</cp:revision>
  <dcterms:created xsi:type="dcterms:W3CDTF">2026-03-16T19:43:58Z</dcterms:created>
  <dcterms:modified xsi:type="dcterms:W3CDTF">2026-03-17T18:34:29Z</dcterms:modified>
</cp:coreProperties>
</file>