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3"/>
    <p:sldId id="316" r:id="rId4"/>
    <p:sldId id="314" r:id="rId5"/>
    <p:sldId id="315" r:id="rId6"/>
    <p:sldId id="325" r:id="rId7"/>
    <p:sldId id="318" r:id="rId8"/>
    <p:sldId id="319" r:id="rId9"/>
    <p:sldId id="326" r:id="rId10"/>
    <p:sldId id="317" r:id="rId11"/>
    <p:sldId id="327" r:id="rId12"/>
    <p:sldId id="328" r:id="rId13"/>
    <p:sldId id="337" r:id="rId14"/>
    <p:sldId id="329" r:id="rId15"/>
    <p:sldId id="322" r:id="rId16"/>
    <p:sldId id="323" r:id="rId17"/>
    <p:sldId id="320" r:id="rId18"/>
    <p:sldId id="330" r:id="rId19"/>
    <p:sldId id="302" r:id="rId20"/>
    <p:sldId id="331" r:id="rId21"/>
    <p:sldId id="332" r:id="rId22"/>
    <p:sldId id="333" r:id="rId23"/>
    <p:sldId id="299" r:id="rId24"/>
    <p:sldId id="334" r:id="rId25"/>
    <p:sldId id="303" r:id="rId26"/>
    <p:sldId id="335" r:id="rId27"/>
    <p:sldId id="304" r:id="rId28"/>
    <p:sldId id="336" r:id="rId29"/>
    <p:sldId id="305" r:id="rId30"/>
    <p:sldId id="345" r:id="rId31"/>
    <p:sldId id="338" r:id="rId32"/>
    <p:sldId id="339" r:id="rId33"/>
    <p:sldId id="341" r:id="rId34"/>
    <p:sldId id="346" r:id="rId35"/>
    <p:sldId id="347" r:id="rId36"/>
    <p:sldId id="342" r:id="rId37"/>
    <p:sldId id="348" r:id="rId38"/>
    <p:sldId id="349" r:id="rId39"/>
    <p:sldId id="344" r:id="rId40"/>
    <p:sldId id="343" r:id="rId41"/>
    <p:sldId id="340" r:id="rId42"/>
    <p:sldId id="352" r:id="rId43"/>
    <p:sldId id="350" r:id="rId44"/>
    <p:sldId id="351" r:id="rId45"/>
    <p:sldId id="360" r:id="rId46"/>
    <p:sldId id="353" r:id="rId47"/>
    <p:sldId id="359" r:id="rId48"/>
    <p:sldId id="354" r:id="rId49"/>
    <p:sldId id="357" r:id="rId50"/>
    <p:sldId id="361" r:id="rId51"/>
    <p:sldId id="355" r:id="rId52"/>
    <p:sldId id="358" r:id="rId53"/>
    <p:sldId id="362" r:id="rId54"/>
    <p:sldId id="363" r:id="rId55"/>
    <p:sldId id="366" r:id="rId56"/>
    <p:sldId id="365" r:id="rId57"/>
    <p:sldId id="364" r:id="rId58"/>
    <p:sldId id="367" r:id="rId59"/>
    <p:sldId id="368" r:id="rId60"/>
    <p:sldId id="369" r:id="rId61"/>
    <p:sldId id="374" r:id="rId62"/>
    <p:sldId id="370" r:id="rId63"/>
    <p:sldId id="372" r:id="rId64"/>
    <p:sldId id="375" r:id="rId65"/>
    <p:sldId id="376" r:id="rId66"/>
    <p:sldId id="371" r:id="rId67"/>
    <p:sldId id="324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/>
    <p:restoredTop sz="94674"/>
  </p:normalViewPr>
  <p:slideViewPr>
    <p:cSldViewPr snapToGrid="0">
      <p:cViewPr varScale="1">
        <p:scale>
          <a:sx n="102" d="100"/>
          <a:sy n="10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2E4B-23D5-7B6A-EFF4-5C09E6120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69E74-CFD4-7D38-EC0A-BC97514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EB26D-DBD7-D87C-B6FD-AA8A12BB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0EB90-8AB9-F5BE-8DC6-53ADB93D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940ED-2393-A54C-211D-55695ABB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2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4E6B-538A-6FCD-A941-000560DC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75702-AB7D-5419-E2BD-AFAB68C32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D1D40-76D4-6830-33D5-10D0DA8C3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959F5-C33C-26B4-90E4-8E69965D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A487B-311A-8BF5-148E-103B32D4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8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AF24F-D78F-90C4-F019-9B38D297F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0AC6B-F0C3-0F09-D899-D92F43444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BD076-8263-400A-C908-937693CC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9D176-B508-5A4D-FD0A-453426E3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281D6-C5CB-AD33-E006-1E7B2B61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9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1692-F537-6411-45CE-170B383B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A0B35-B4D8-7116-0655-2E0BCCBA3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64AFF-D704-74B6-DAD5-3C16AFF50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38A67-849F-6425-5F8E-9E3B5CCA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B541A-89E7-2C9B-69A1-3EE0575E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C7A01-B246-A9F4-14E3-5C690965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4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D58C-8B93-9833-8C30-06C005A5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02461-0A24-92A1-5B98-347AF8DCD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2C4C6-C5CC-D604-BC45-EC7930DB3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3D654-F7A1-D7D5-D64F-398EBC7EF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00557A-69EB-DD47-1CB9-37A7E5574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4FDCE-0960-4D06-F77A-A6A35387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5C029E-DB6E-68A6-D215-E31DF56C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61D4E7-5129-A74A-6465-7745E044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9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D1D7-FE50-260D-E229-78C653E0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43F8B-A1C8-1433-B2C1-98C3364B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808EA-1E10-CA28-B1B2-C9FB0C4D2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7F4E1-F1B8-B217-B648-765A9150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04FFC-9E5B-D3B9-CDF0-8E34F86B5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3BC12-ECED-BD18-401D-C4DF0852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FD99E-0E59-AC8B-F204-E0AC60D3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29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FB020-551B-D609-5259-70FD7F09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376E3-B096-C5C9-D71B-31652839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86854-BC97-126D-0505-9E9362B2B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3E15A-7B35-DA66-7DF7-F359398AC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03A5A-5782-82B3-82E1-3DD647CA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D0F36-FD0B-9C44-6E98-2D40EACE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7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FD28C-5B98-4843-6A94-3822C732D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7D04AA-1BD5-FE43-5E9D-B05810195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E0ED7-4FC1-E0D1-9549-F2DAF9846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B7C2C-E59E-D0EB-8130-1D0BAB41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A632C-71EF-85B1-D389-BA04E890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EF776-E9D6-AD9C-7C8C-49FD9A9D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5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14C6-3445-6823-05C8-C7F167754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C4ECE-3B90-651F-DF0F-FB70D03B9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7130D-E483-35A1-A233-91A062A3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17B26-B72D-598E-209C-740FF831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BC60F-5537-5E6A-90F3-2451058D8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6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11063D-5993-C1DE-870A-4A160558F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BA45F-D980-05B1-514A-ECDBB6F87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60E3B-6060-DAC3-52A6-017B3B6B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AF864-05E7-F894-37AC-33FB2D82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9A8CB-41E5-6368-4806-88E9733E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1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6EEA7-1210-B182-4958-EE51877B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AFB0D-B4BE-6F3C-6FC1-896623A01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26375-A5F1-447D-1B91-122D3EF03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EE7D20-2DA8-734D-A950-8DD41E3ED5DB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15A2-BE4B-3116-A23B-E2412987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8EA46-275D-9EA9-A0C4-54D9F4C5C9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CC913-022C-5247-998E-0D45DA216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4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double-hashing/" TargetMode="External"/><Relationship Id="rId2" Type="http://schemas.openxmlformats.org/officeDocument/2006/relationships/hyperlink" Target="https://www.geeksforgeeks.org/dsa/quadratic-probing-in-hashing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2UpvDXc8f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2UpvDXc8f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number-of-provinces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kermann_function#Inverse" TargetMode="External"/><Relationship Id="rId2" Type="http://schemas.openxmlformats.org/officeDocument/2006/relationships/hyperlink" Target="https://en.wikipedia.org/wiki/Disjoint-set_data_structur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8f1XPm4WOUc" TargetMode="External"/><Relationship Id="rId4" Type="http://schemas.openxmlformats.org/officeDocument/2006/relationships/hyperlink" Target="https://www.youtube.com/watch?v=92UpvDXc8fs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5E61-E30A-1442-966D-6EFE4898D0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Structures, In Detail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C643E-B7AA-A92D-EC1B-2D104F9E6A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 374</a:t>
            </a:r>
          </a:p>
        </p:txBody>
      </p:sp>
    </p:spTree>
    <p:extLst>
      <p:ext uri="{BB962C8B-B14F-4D97-AF65-F5344CB8AC3E}">
        <p14:creationId xmlns:p14="http://schemas.microsoft.com/office/powerpoint/2010/main" val="324536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0514-6176-3A3B-FA0D-CF217F57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Hashing/Dictionaries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16AE7-88CF-6005-39DF-F3F9B4FFB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3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98B5-AAD9-A936-AF04-2423F1DEA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175A9-AA95-5552-9713-4CE962D4D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633AE-8559-D3A9-2F20-0297EED6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 descr="Hashing Algorithms. The functions that empower and protect… | by SHREYANSH  SAXENA | Nybles | Medium">
            <a:extLst>
              <a:ext uri="{FF2B5EF4-FFF2-40B4-BE49-F238E27FC236}">
                <a16:creationId xmlns:a16="http://schemas.microsoft.com/office/drawing/2014/main" id="{3EC0BFF8-FA23-7423-F207-7ED78FF4E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997" y="1495165"/>
            <a:ext cx="7710006" cy="386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69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1DE96-C452-C735-4955-E15795C0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95DEC-F70C-3320-80EB-E49DD4290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hash</a:t>
            </a:r>
            <a:r>
              <a:rPr lang="en-US" dirty="0"/>
              <a:t> is a function that maps keys to an integer.</a:t>
            </a:r>
          </a:p>
          <a:p>
            <a:r>
              <a:rPr lang="en-US" dirty="0"/>
              <a:t>Used in dictionaries, etc. to help you find it</a:t>
            </a:r>
          </a:p>
          <a:p>
            <a:r>
              <a:rPr lang="en-US" dirty="0"/>
              <a:t> Also used for cryptography</a:t>
            </a:r>
          </a:p>
          <a:p>
            <a:endParaRPr lang="en-US" dirty="0"/>
          </a:p>
          <a:p>
            <a:r>
              <a:rPr lang="en-US" dirty="0"/>
              <a:t>Have a function, then mod by m to stick it into spot m in the structure</a:t>
            </a:r>
          </a:p>
          <a:p>
            <a:endParaRPr lang="en-US" dirty="0"/>
          </a:p>
          <a:p>
            <a:r>
              <a:rPr lang="en-US" dirty="0"/>
              <a:t>Collisions are an issue – what if two things have same hash?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0371E-0619-A9CE-1FA9-5A68D861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2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6D2D-162D-7E6D-EEEA-6029DC46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CCC3D-F651-AD04-18C4-2CF0E7DC1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F0D54-67FF-A6B1-75E4-AC4FD96F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5</a:t>
            </a:fld>
            <a:endParaRPr lang="en-US"/>
          </a:p>
        </p:txBody>
      </p:sp>
      <p:pic>
        <p:nvPicPr>
          <p:cNvPr id="38914" name="Picture 2" descr="undefined">
            <a:extLst>
              <a:ext uri="{FF2B5EF4-FFF2-40B4-BE49-F238E27FC236}">
                <a16:creationId xmlns:a16="http://schemas.microsoft.com/office/drawing/2014/main" id="{FB37B490-8D8E-6F3A-93E9-E2BCE56E1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425" y="0"/>
            <a:ext cx="8945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82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4570-D46C-88EF-66AB-D0A3EFBE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194327-663B-18EE-149D-489FBFB79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3. Given a hash function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+31</m:t>
                    </m:r>
                  </m:oMath>
                </a14:m>
                <a:r>
                  <a:rPr lang="en-US" dirty="0"/>
                  <a:t> mod 11, determine </a:t>
                </a:r>
                <a:r>
                  <a:rPr lang="en-US" i="1" dirty="0"/>
                  <a:t>if </a:t>
                </a:r>
                <a:r>
                  <a:rPr lang="en-US" dirty="0"/>
                  <a:t>there is a collision for items inserted with the keys 60, 9, 45, 3, 70, 5, 90, 93, 39, 77, 70  in that order. </a:t>
                </a:r>
              </a:p>
              <a:p>
                <a:r>
                  <a:rPr lang="en-US" dirty="0"/>
                  <a:t>At which item does the first collision occur?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194327-663B-18EE-149D-489FBFB79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992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08D6-B5DC-A374-A533-C1D8908F2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5BA9-BAE3-D5D5-892B-87DCF5411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18B09-1BA9-E049-A602-C6D3FE05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7</a:t>
            </a:fld>
            <a:endParaRPr lang="en-US"/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CE6FEB9A-C2B4-947A-BF42-698FCE9CD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2763"/>
            <a:ext cx="12192000" cy="329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680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A118-9C9C-00AE-3A30-DF8131E28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DBF3B-AEF9-5C2A-0E29-740A5115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2D36F-B7E1-EB3C-97CF-CFCD74D8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8</a:t>
            </a:fld>
            <a:endParaRPr lang="en-US"/>
          </a:p>
        </p:txBody>
      </p:sp>
      <p:pic>
        <p:nvPicPr>
          <p:cNvPr id="43010" name="Picture 2" descr="Open Addressing: Handling collision in hashing">
            <a:extLst>
              <a:ext uri="{FF2B5EF4-FFF2-40B4-BE49-F238E27FC236}">
                <a16:creationId xmlns:a16="http://schemas.microsoft.com/office/drawing/2014/main" id="{8B7A9390-AFB1-DBE2-E0B3-441DDB124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11" y="1323609"/>
            <a:ext cx="11110377" cy="4210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080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7257-3803-0AF9-F7E6-8F79DD3B1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705C-7589-8CD0-37A7-FCBE5714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E408D-64AB-E89F-2C65-0237E72CE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3. Given a hash function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+31</m:t>
                    </m:r>
                  </m:oMath>
                </a14:m>
                <a:r>
                  <a:rPr lang="en-US" dirty="0"/>
                  <a:t> mod 11, determine </a:t>
                </a:r>
                <a:r>
                  <a:rPr lang="en-US" i="1" dirty="0"/>
                  <a:t>if </a:t>
                </a:r>
                <a:r>
                  <a:rPr lang="en-US" dirty="0"/>
                  <a:t>there is a collision for items inserted with the keys 60, 9, 45, 3, 70, 5, 90, 93, 39, 77, 70  in that order. </a:t>
                </a:r>
              </a:p>
              <a:p>
                <a:r>
                  <a:rPr lang="en-US" dirty="0"/>
                  <a:t>What is the result of the array when resolving collisions using linear/sequential probing?  Use arrows/different colors to demonstrate when probing occurs.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E408D-64AB-E89F-2C65-0237E72CE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89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06C93-BCAF-52DA-9A0E-487FD94DD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588D9-1EF4-CD4C-2D82-F4D5C2FA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10</a:t>
            </a:fld>
            <a:endParaRPr lang="en-US"/>
          </a:p>
        </p:txBody>
      </p:sp>
      <p:pic>
        <p:nvPicPr>
          <p:cNvPr id="40962" name="Picture 2">
            <a:extLst>
              <a:ext uri="{FF2B5EF4-FFF2-40B4-BE49-F238E27FC236}">
                <a16:creationId xmlns:a16="http://schemas.microsoft.com/office/drawing/2014/main" id="{B75E7F88-B49E-42C7-DAA6-BE38DA676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2243"/>
            <a:ext cx="12192000" cy="651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EEAC59-7183-98DF-66A0-3229C21C4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</a:t>
            </a:r>
          </a:p>
        </p:txBody>
      </p:sp>
    </p:spTree>
    <p:extLst>
      <p:ext uri="{BB962C8B-B14F-4D97-AF65-F5344CB8AC3E}">
        <p14:creationId xmlns:p14="http://schemas.microsoft.com/office/powerpoint/2010/main" val="1797612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033FE-64BB-2E86-8D06-9F0381D9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B683-41AF-5376-AA9D-06663488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CDD37-25FE-F1F8-8DC4-C6DBA24BB7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3. Given a hash function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+31</m:t>
                    </m:r>
                  </m:oMath>
                </a14:m>
                <a:r>
                  <a:rPr lang="en-US" dirty="0"/>
                  <a:t> mod 11, determine </a:t>
                </a:r>
                <a:r>
                  <a:rPr lang="en-US" i="1" dirty="0"/>
                  <a:t>if </a:t>
                </a:r>
                <a:r>
                  <a:rPr lang="en-US" dirty="0"/>
                  <a:t>there is a collision for items inserted with the keys 60, 9, 45, 3, 70, 5, 90, 93, 39, 77, 70  in that order. </a:t>
                </a:r>
              </a:p>
              <a:p>
                <a:r>
                  <a:rPr lang="en-US" dirty="0"/>
                  <a:t>What is the result of the array when resolving collisions using chaining?  Draw a picture.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CDD37-25FE-F1F8-8DC4-C6DBA24BB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281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8847565C-967E-3183-0B48-5C5B3568D9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+31</m:t>
                    </m:r>
                  </m:oMath>
                </a14:m>
                <a:r>
                  <a:rPr lang="en-US" dirty="0"/>
                  <a:t> mod 11: 60, 9, 45, 3, 70, 5, 90, 93, 39, 77, 70 </a:t>
                </a:r>
              </a:p>
            </p:txBody>
          </p:sp>
        </mc:Choice>
        <mc:Fallback xmlns="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8847565C-967E-3183-0B48-5C5B3568D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r="-3257" b="-2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2E7CC6-E528-1ACD-875D-B6D162781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100462"/>
              </p:ext>
            </p:extLst>
          </p:nvPr>
        </p:nvGraphicFramePr>
        <p:xfrm>
          <a:off x="1341118" y="1920240"/>
          <a:ext cx="9509764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524">
                  <a:extLst>
                    <a:ext uri="{9D8B030D-6E8A-4147-A177-3AD203B41FA5}">
                      <a16:colId xmlns:a16="http://schemas.microsoft.com/office/drawing/2014/main" val="3137159469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3766368674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117840154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789003611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4096710856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541899010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983841587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327627029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1797100344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64781393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184951581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7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034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9B4B-15F1-32ED-84F6-8CA8F8B7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BE9462B0-5FBA-CF13-33D2-AB93D3384B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+31</m:t>
                    </m:r>
                  </m:oMath>
                </a14:m>
                <a:r>
                  <a:rPr lang="en-US" dirty="0"/>
                  <a:t> mod 11: 60, 9, 45, 3, 70, 5, 90, 93, 39, 77, 70 </a:t>
                </a:r>
              </a:p>
            </p:txBody>
          </p:sp>
        </mc:Choice>
        <mc:Fallback xmlns="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BE9462B0-5FBA-CF13-33D2-AB93D3384B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r="-3257" b="-2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F17C04-08BD-E0F0-7F42-5A982B5B3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998519"/>
              </p:ext>
            </p:extLst>
          </p:nvPr>
        </p:nvGraphicFramePr>
        <p:xfrm>
          <a:off x="1341118" y="1889760"/>
          <a:ext cx="9509764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524">
                  <a:extLst>
                    <a:ext uri="{9D8B030D-6E8A-4147-A177-3AD203B41FA5}">
                      <a16:colId xmlns:a16="http://schemas.microsoft.com/office/drawing/2014/main" val="3137159469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3766368674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117840154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789003611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4096710856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541899010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983841587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2327627029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1797100344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64781393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184951581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7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346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533D-FD6D-BD54-306F-8766E3AB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Collision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486A7-3E6F-BCB3-1A75-B84EF5571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Quadratic hashing</a:t>
            </a:r>
            <a:endParaRPr lang="en-US" dirty="0"/>
          </a:p>
          <a:p>
            <a:pPr lvl="1"/>
            <a:r>
              <a:rPr lang="en-US" dirty="0"/>
              <a:t>If value x matches to y,</a:t>
            </a:r>
          </a:p>
          <a:p>
            <a:pPr lvl="1"/>
            <a:r>
              <a:rPr lang="en-US" dirty="0"/>
              <a:t>Instead of moving y+1, move y+1</a:t>
            </a:r>
            <a:r>
              <a:rPr lang="en-US" baseline="30000" dirty="0"/>
              <a:t>2. </a:t>
            </a:r>
          </a:p>
          <a:p>
            <a:pPr lvl="1"/>
            <a:r>
              <a:rPr lang="en-US" dirty="0"/>
              <a:t>Then, if y+1</a:t>
            </a:r>
            <a:r>
              <a:rPr lang="en-US" baseline="30000" dirty="0"/>
              <a:t>2</a:t>
            </a:r>
            <a:r>
              <a:rPr lang="en-US" dirty="0"/>
              <a:t> is full, try y+2</a:t>
            </a:r>
            <a:r>
              <a:rPr lang="en-US" baseline="30000" dirty="0"/>
              <a:t>2</a:t>
            </a:r>
          </a:p>
          <a:p>
            <a:pPr lvl="1"/>
            <a:r>
              <a:rPr lang="en-US" dirty="0"/>
              <a:t>Chances are, you'll find an empty spot faster.</a:t>
            </a:r>
          </a:p>
          <a:p>
            <a:pPr lvl="1"/>
            <a:endParaRPr lang="en-US" dirty="0"/>
          </a:p>
          <a:p>
            <a:r>
              <a:rPr lang="en-US" dirty="0">
                <a:hlinkClick r:id="rId3"/>
              </a:rPr>
              <a:t>Double hashing</a:t>
            </a:r>
            <a:endParaRPr lang="en-US" dirty="0"/>
          </a:p>
          <a:p>
            <a:pPr lvl="1"/>
            <a:r>
              <a:rPr lang="en-US" dirty="0"/>
              <a:t>Have a separate hash function that you run when there are collisions</a:t>
            </a:r>
          </a:p>
          <a:p>
            <a:pPr lvl="1"/>
            <a:endParaRPr lang="en-US" dirty="0"/>
          </a:p>
          <a:p>
            <a:r>
              <a:rPr lang="en-US" dirty="0"/>
              <a:t>And more!</a:t>
            </a:r>
          </a:p>
        </p:txBody>
      </p:sp>
    </p:spTree>
    <p:extLst>
      <p:ext uri="{BB962C8B-B14F-4D97-AF65-F5344CB8AC3E}">
        <p14:creationId xmlns:p14="http://schemas.microsoft.com/office/powerpoint/2010/main" val="3249394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5394-68B9-1DCC-859C-FFB0175D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things are in there?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402EA3-8FA4-B24E-9DC6-580D4C674C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Hash table has fixed size </a:t>
                </a:r>
              </a:p>
              <a:p>
                <a:pPr lvl="1"/>
                <a:r>
                  <a:rPr lang="en-US" dirty="0"/>
                  <a:t>Like if implemented with arrays</a:t>
                </a:r>
              </a:p>
              <a:p>
                <a:r>
                  <a:rPr lang="en-US" dirty="0"/>
                  <a:t>So, need to keep track of "how full" it is</a:t>
                </a:r>
              </a:p>
              <a:p>
                <a:r>
                  <a:rPr lang="en-US" dirty="0"/>
                  <a:t>Load factor: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= size of data (num. entries)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= number of buckets (capacity)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402EA3-8FA4-B24E-9DC6-580D4C674C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EEBDC-CCFD-92A1-9D52-A4D5632B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11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0030-AC9C-92A7-2ADC-D1FA4F289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4B10CD-54D5-47C8-20A5-1282E52D6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You decide how full you want it to get </a:t>
                </a:r>
              </a:p>
              <a:p>
                <a:pPr lvl="1"/>
                <a:r>
                  <a:rPr lang="en-US" sz="2800" dirty="0"/>
                  <a:t>Set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800" dirty="0">
                    <a:effectLst/>
                  </a:rPr>
                  <a:t> threshold</a:t>
                </a:r>
              </a:p>
              <a:p>
                <a:r>
                  <a:rPr lang="en-US" dirty="0"/>
                  <a:t>Resize, </a:t>
                </a:r>
                <a:r>
                  <a:rPr lang="en-US" i="1" dirty="0"/>
                  <a:t>then rehash </a:t>
                </a:r>
                <a:r>
                  <a:rPr lang="en-US" dirty="0"/>
                  <a:t>when it gets too big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), or when gets too small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/4 ??)</a:t>
                </a:r>
              </a:p>
              <a:p>
                <a:r>
                  <a:rPr lang="en-US" dirty="0"/>
                  <a:t>Also may depend on method of collision resolution</a:t>
                </a:r>
                <a:r>
                  <a:rPr lang="en-US" dirty="0">
                    <a:effectLst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4B10CD-54D5-47C8-20A5-1282E52D6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793DE-B029-B5EF-E10C-7EC2B296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35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04F4-8310-7708-3584-47DE691D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8C609-B7DB-5EBF-5AB7-43167F604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F880C-D12F-5E19-7CAB-59485782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17</a:t>
            </a:fld>
            <a:endParaRPr lang="en-US"/>
          </a:p>
        </p:txBody>
      </p:sp>
      <p:pic>
        <p:nvPicPr>
          <p:cNvPr id="44034" name="Picture 2">
            <a:extLst>
              <a:ext uri="{FF2B5EF4-FFF2-40B4-BE49-F238E27FC236}">
                <a16:creationId xmlns:a16="http://schemas.microsoft.com/office/drawing/2014/main" id="{0470DCD9-22F5-43B0-C6F0-779308489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15" y="1540289"/>
            <a:ext cx="10169769" cy="492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704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8A6B-B144-FD0E-5924-FC9C291E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76051-9B69-2BF3-4418-598E4D1BA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D37F-4690-95D4-BD06-FBD1920F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128CF-F58D-9D2E-FF64-EE6E1524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E168-B338-8AE4-1E43-5678D3C6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19</a:t>
            </a:fld>
            <a:endParaRPr lang="en-US"/>
          </a:p>
        </p:txBody>
      </p:sp>
      <p:pic>
        <p:nvPicPr>
          <p:cNvPr id="29698" name="Picture 2" descr="How to Implement Binary Search Trees and Tree Traversal in JavaScript | by  Matthew Aquino | JavaScript in Plain English">
            <a:extLst>
              <a:ext uri="{FF2B5EF4-FFF2-40B4-BE49-F238E27FC236}">
                <a16:creationId xmlns:a16="http://schemas.microsoft.com/office/drawing/2014/main" id="{2360144A-AD87-76C9-874C-0D8E8740A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3688"/>
            <a:ext cx="12192000" cy="626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409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3894-8CEF-3922-81D4-A2CDA779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Insert the following items into a BST: </a:t>
            </a:r>
            <a:br>
              <a:rPr lang="en-US" dirty="0"/>
            </a:br>
            <a:r>
              <a:rPr lang="en-US" dirty="0"/>
              <a:t>60, 9, 45, 3, 70, 5, 90, 93, 39, 77, 70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4EDED-E5B3-03B7-156F-1C6F5EF40A2A}"/>
              </a:ext>
            </a:extLst>
          </p:cNvPr>
          <p:cNvSpPr txBox="1"/>
          <p:nvPr/>
        </p:nvSpPr>
        <p:spPr>
          <a:xfrm>
            <a:off x="9814560" y="1158240"/>
            <a:ext cx="785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A</a:t>
            </a:r>
          </a:p>
        </p:txBody>
      </p:sp>
    </p:spTree>
    <p:extLst>
      <p:ext uri="{BB962C8B-B14F-4D97-AF65-F5344CB8AC3E}">
        <p14:creationId xmlns:p14="http://schemas.microsoft.com/office/powerpoint/2010/main" val="2921745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F1E0F-325B-B39E-D62A-4C51D41F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AC01-5C1F-BDB3-1AC5-EE6FB51B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Insert the following items into a BST: </a:t>
            </a:r>
            <a:br>
              <a:rPr lang="en-US" dirty="0"/>
            </a:br>
            <a:r>
              <a:rPr lang="en-US" dirty="0"/>
              <a:t>58  47   84  39  55  14  98  53  79  42  87  3  90  1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2BFF0-9510-56FC-FDA3-7DFDBC5FAA96}"/>
              </a:ext>
            </a:extLst>
          </p:cNvPr>
          <p:cNvSpPr txBox="1"/>
          <p:nvPr/>
        </p:nvSpPr>
        <p:spPr>
          <a:xfrm>
            <a:off x="11216640" y="619760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B</a:t>
            </a:r>
          </a:p>
        </p:txBody>
      </p:sp>
    </p:spTree>
    <p:extLst>
      <p:ext uri="{BB962C8B-B14F-4D97-AF65-F5344CB8AC3E}">
        <p14:creationId xmlns:p14="http://schemas.microsoft.com/office/powerpoint/2010/main" val="874730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6A37-0C98-8810-FBBC-469E69302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71E7A-64E4-BDD9-DD50-B5FEBAFD4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</a:t>
            </a:r>
          </a:p>
          <a:p>
            <a:pPr lvl="1"/>
            <a:r>
              <a:rPr lang="en-US" dirty="0"/>
              <a:t>All levels full</a:t>
            </a:r>
          </a:p>
          <a:p>
            <a:r>
              <a:rPr lang="en-US" dirty="0"/>
              <a:t>Balanced</a:t>
            </a:r>
          </a:p>
          <a:p>
            <a:pPr lvl="1"/>
            <a:r>
              <a:rPr lang="en-US" dirty="0"/>
              <a:t>One side not more than other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513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890C-A0E2-F767-13B2-B45B5BBD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A6545-F309-812F-59DB-6AC2E959C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8AB1C-9A20-4784-3381-371FE3D0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23</a:t>
            </a:fld>
            <a:endParaRPr lang="en-US"/>
          </a:p>
        </p:txBody>
      </p:sp>
      <p:pic>
        <p:nvPicPr>
          <p:cNvPr id="26626" name="Picture 2" descr="CS 225 | Binary Search Trees">
            <a:extLst>
              <a:ext uri="{FF2B5EF4-FFF2-40B4-BE49-F238E27FC236}">
                <a16:creationId xmlns:a16="http://schemas.microsoft.com/office/drawing/2014/main" id="{590715C4-55FB-37A4-1B2A-F54EFEDD3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0"/>
            <a:ext cx="1155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740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7743-8FDB-22C5-B95B-14FD5435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Traversal of tree A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D7DDC-79B8-38D7-6067-253184D85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64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5701-DBC9-ABE8-0988-E9CDCD207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12C73-F482-4A7E-7145-61F823381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1BD6B-D802-A33F-9D18-3E97A8E3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25</a:t>
            </a:fld>
            <a:endParaRPr lang="en-US"/>
          </a:p>
        </p:txBody>
      </p:sp>
      <p:pic>
        <p:nvPicPr>
          <p:cNvPr id="30722" name="Picture 2" descr="Tree Traversal Techniques - GeeksforGeeks">
            <a:extLst>
              <a:ext uri="{FF2B5EF4-FFF2-40B4-BE49-F238E27FC236}">
                <a16:creationId xmlns:a16="http://schemas.microsoft.com/office/drawing/2014/main" id="{91BF39FE-1E48-189E-BE5D-33BB5AFFE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0"/>
            <a:ext cx="9588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376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F53BE-4B73-72BB-904F-1E647B10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77B3-D4AA-22EE-EB0A-8DA6F240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PreOrder</a:t>
            </a:r>
            <a:r>
              <a:rPr lang="en-US" dirty="0"/>
              <a:t> Traversal of tree A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A26B-609F-5521-A515-C90551F34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95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9365-F418-CE58-D617-C11A6EC0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EF60F-A7CE-C35B-4760-AE18803CF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Post-order traversal: E M X S B P N T H C W A</a:t>
            </a:r>
          </a:p>
          <a:p>
            <a:r>
              <a:rPr lang="en-US" dirty="0"/>
              <a:t>(this isn't a BST, just a BT)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F3994-1B5D-81D6-4095-78CB6B5F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27</a:t>
            </a:fld>
            <a:endParaRPr lang="en-US"/>
          </a:p>
        </p:txBody>
      </p:sp>
      <p:pic>
        <p:nvPicPr>
          <p:cNvPr id="31746" name="Picture 2" descr="Binary Tree Traversals">
            <a:extLst>
              <a:ext uri="{FF2B5EF4-FFF2-40B4-BE49-F238E27FC236}">
                <a16:creationId xmlns:a16="http://schemas.microsoft.com/office/drawing/2014/main" id="{F174605B-E224-664B-4130-664F2C2AA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1231900"/>
            <a:ext cx="10871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310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30C2-A6E5-D3DE-2614-029BFA661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69FD8-8C4C-2688-D64E-44E16489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PostOrder</a:t>
            </a:r>
            <a:r>
              <a:rPr lang="en-US" dirty="0"/>
              <a:t> Traversal of tree A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A3374-A331-CF07-6E01-06759C655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25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32F6-20FB-CB49-D0EE-74C70846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3B8D7-C4DC-B12A-18C5-AF5597742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– O(h), where h= height of tree</a:t>
            </a:r>
          </a:p>
          <a:p>
            <a:r>
              <a:rPr lang="en-US" dirty="0"/>
              <a:t>Find min/max – O(h)</a:t>
            </a:r>
          </a:p>
          <a:p>
            <a:r>
              <a:rPr lang="en-US" dirty="0"/>
              <a:t>Traversal – O(n)</a:t>
            </a:r>
          </a:p>
          <a:p>
            <a:r>
              <a:rPr lang="en-US" dirty="0"/>
              <a:t>Insertion – O(h)</a:t>
            </a:r>
          </a:p>
          <a:p>
            <a:r>
              <a:rPr lang="en-US" dirty="0"/>
              <a:t>Deletion – O(h)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E50CA-A7CA-B577-2B9E-1AD469F3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9C6F-93B4-4945-8DF5-8EB7FB06616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47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C50D92-D643-815E-61E9-61ABBAC7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Warm-up</a:t>
            </a:r>
            <a:br>
              <a:rPr lang="en-US" dirty="0"/>
            </a:br>
            <a:r>
              <a:rPr lang="en-US" dirty="0"/>
              <a:t>Meet up with your teams. On the whiteboard: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8BEB413-2B48-07FE-04EA-F84AE000F8E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888326"/>
              </a:xfrm>
              <a:ln>
                <a:solidFill>
                  <a:schemeClr val="accent1"/>
                </a:solidFill>
              </a:ln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u="sng" dirty="0"/>
                  <a:t>Problem A.</a:t>
                </a:r>
              </a:p>
              <a:p>
                <a:r>
                  <a:rPr lang="en-US" dirty="0"/>
                  <a:t>Using </a:t>
                </a:r>
                <a:r>
                  <a:rPr lang="en-US" i="1" dirty="0"/>
                  <a:t>mod 6</a:t>
                </a:r>
                <a:r>
                  <a:rPr lang="en-US" dirty="0"/>
                  <a:t>, </a:t>
                </a:r>
              </a:p>
              <a:p>
                <a:r>
                  <a:rPr lang="en-US" dirty="0"/>
                  <a:t>Create a hash table for 10, 20, 7, 11, 17, 14, 2, 4, 6, 15, 3</a:t>
                </a:r>
              </a:p>
              <a:p>
                <a:r>
                  <a:rPr lang="en-US" dirty="0"/>
                  <a:t>Equation: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=18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+21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Rehash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 0.6</m:t>
                    </m:r>
                  </m:oMath>
                </a14:m>
                <a:r>
                  <a:rPr lang="en-US" dirty="0"/>
                  <a:t>. What do you choose for new mod? Why?</a:t>
                </a:r>
              </a:p>
              <a:p>
                <a:r>
                  <a:rPr lang="en-US" dirty="0"/>
                  <a:t>Use your choice of collision resolution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8BEB413-2B48-07FE-04EA-F84AE000F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888326"/>
              </a:xfrm>
              <a:blipFill>
                <a:blip r:embed="rId2"/>
                <a:stretch>
                  <a:fillRect l="-2195" t="-2850" b="-181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39C96-61DE-CF82-39AF-FFFA48F62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Problem B.</a:t>
            </a:r>
          </a:p>
          <a:p>
            <a:r>
              <a:rPr lang="en-US" dirty="0"/>
              <a:t>Create a binary search tree for 20, 10, 7, 11, 17, 14, 2, 4, 6, 15, 3</a:t>
            </a:r>
          </a:p>
          <a:p>
            <a:endParaRPr lang="en-US" dirty="0"/>
          </a:p>
          <a:p>
            <a:r>
              <a:rPr lang="en-US" dirty="0"/>
              <a:t>Create a binary search tree for 17, 10, 7, 11, 20, 14, 2, 4, 6, 15, 3</a:t>
            </a:r>
          </a:p>
          <a:p>
            <a:r>
              <a:rPr lang="en-US" dirty="0"/>
              <a:t>These are the same numbers: What's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472734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0EA8-84E4-1A7D-D236-C0550EB8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5338B-05C5-5D09-0C84-CC24AADE0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20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A561DD-9A27-9E11-DB99-49CE0988E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5E74D5-7FF5-B6A9-097D-2B1161392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Min-heap: smaller = at the top</a:t>
            </a:r>
          </a:p>
          <a:p>
            <a:r>
              <a:rPr lang="en-US" dirty="0"/>
              <a:t>Max-heap: larger = at the top</a:t>
            </a:r>
          </a:p>
          <a:p>
            <a:endParaRPr lang="en-US" dirty="0"/>
          </a:p>
          <a:p>
            <a:r>
              <a:rPr lang="en-US" dirty="0"/>
              <a:t>Complete binary tree</a:t>
            </a:r>
          </a:p>
          <a:p>
            <a:pPr lvl="1"/>
            <a:r>
              <a:rPr lang="en-US" dirty="0"/>
              <a:t>All levels are filled…</a:t>
            </a:r>
          </a:p>
          <a:p>
            <a:pPr lvl="1"/>
            <a:r>
              <a:rPr lang="en-US" dirty="0"/>
              <a:t>…except maybe the last one</a:t>
            </a:r>
          </a:p>
          <a:p>
            <a:pPr lvl="1"/>
            <a:r>
              <a:rPr lang="en-US" dirty="0"/>
              <a:t>Last level gets filled Left to Right.</a:t>
            </a:r>
          </a:p>
        </p:txBody>
      </p:sp>
    </p:spTree>
    <p:extLst>
      <p:ext uri="{BB962C8B-B14F-4D97-AF65-F5344CB8AC3E}">
        <p14:creationId xmlns:p14="http://schemas.microsoft.com/office/powerpoint/2010/main" val="4056197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6B0D-7D5A-EEFD-C222-4D339EF8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– Insertion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9B7A1-1412-D202-EE0F-F69B92F81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latest item in bottommost, leftmost position.</a:t>
            </a:r>
          </a:p>
          <a:p>
            <a:r>
              <a:rPr lang="en-US" dirty="0"/>
              <a:t>"Bubble up" if necessary.</a:t>
            </a:r>
          </a:p>
          <a:p>
            <a:pPr lvl="1"/>
            <a:r>
              <a:rPr lang="en-US" dirty="0"/>
              <a:t>Swap the item with its parent until heap property is not violated</a:t>
            </a:r>
          </a:p>
          <a:p>
            <a:pPr lvl="1"/>
            <a:r>
              <a:rPr lang="en-US" dirty="0"/>
              <a:t>Also called "</a:t>
            </a:r>
            <a:r>
              <a:rPr lang="en-US" dirty="0" err="1"/>
              <a:t>heapify</a:t>
            </a:r>
            <a:r>
              <a:rPr lang="en-US" dirty="0"/>
              <a:t>", sometimes "</a:t>
            </a:r>
            <a:r>
              <a:rPr lang="en-US" dirty="0" err="1"/>
              <a:t>heapify</a:t>
            </a:r>
            <a:r>
              <a:rPr lang="en-US" dirty="0"/>
              <a:t> up"</a:t>
            </a:r>
          </a:p>
        </p:txBody>
      </p:sp>
    </p:spTree>
    <p:extLst>
      <p:ext uri="{BB962C8B-B14F-4D97-AF65-F5344CB8AC3E}">
        <p14:creationId xmlns:p14="http://schemas.microsoft.com/office/powerpoint/2010/main" val="4214698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C2F7-5EB7-8F96-4C5B-1EF2720C8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83" y="365125"/>
            <a:ext cx="1182413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Insert the following numbers into a min-heap. </a:t>
            </a:r>
            <a:br>
              <a:rPr lang="en-US" dirty="0"/>
            </a:br>
            <a:r>
              <a:rPr lang="en-US" dirty="0"/>
              <a:t>18, 12, 3, 7, 15, 4, 11, 16, 5, 14. </a:t>
            </a:r>
            <a:br>
              <a:rPr lang="en-US" dirty="0"/>
            </a:br>
            <a:r>
              <a:rPr lang="en-US" dirty="0"/>
              <a:t>Then draw the array.</a:t>
            </a:r>
          </a:p>
        </p:txBody>
      </p:sp>
    </p:spTree>
    <p:extLst>
      <p:ext uri="{BB962C8B-B14F-4D97-AF65-F5344CB8AC3E}">
        <p14:creationId xmlns:p14="http://schemas.microsoft.com/office/powerpoint/2010/main" val="3887871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408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2802-1485-C855-7482-E8B8EC00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– Deletion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11BEF-2CD3-69EF-8E1D-B9682B0B7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the item at the root</a:t>
            </a:r>
          </a:p>
          <a:p>
            <a:r>
              <a:rPr lang="en-US" dirty="0"/>
              <a:t>Move the "last" thing in the heap to the root</a:t>
            </a:r>
          </a:p>
          <a:p>
            <a:r>
              <a:rPr lang="en-US" dirty="0"/>
              <a:t>"Bubble down" if necessary.</a:t>
            </a:r>
          </a:p>
          <a:p>
            <a:pPr lvl="1"/>
            <a:r>
              <a:rPr lang="en-US" dirty="0"/>
              <a:t>Check the children. </a:t>
            </a:r>
          </a:p>
          <a:p>
            <a:pPr lvl="1"/>
            <a:r>
              <a:rPr lang="en-US" dirty="0"/>
              <a:t>Swap the item with the smaller of the children </a:t>
            </a:r>
          </a:p>
          <a:p>
            <a:pPr lvl="1"/>
            <a:r>
              <a:rPr lang="en-US" dirty="0"/>
              <a:t>Continue swapping item down, so the smaller thing gets swapped up.</a:t>
            </a:r>
          </a:p>
          <a:p>
            <a:pPr lvl="1"/>
            <a:r>
              <a:rPr lang="en-US" dirty="0"/>
              <a:t>Also called "</a:t>
            </a:r>
            <a:r>
              <a:rPr lang="en-US" dirty="0" err="1"/>
              <a:t>heapify</a:t>
            </a:r>
            <a:r>
              <a:rPr lang="en-US" dirty="0"/>
              <a:t>", sometimes "</a:t>
            </a:r>
            <a:r>
              <a:rPr lang="en-US" dirty="0" err="1"/>
              <a:t>heapify</a:t>
            </a:r>
            <a:r>
              <a:rPr lang="en-US" dirty="0"/>
              <a:t> down"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243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A0BD7-EAAF-9DB1-2181-379C1316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2 things from the preceding heap.</a:t>
            </a:r>
          </a:p>
        </p:txBody>
      </p:sp>
    </p:spTree>
    <p:extLst>
      <p:ext uri="{BB962C8B-B14F-4D97-AF65-F5344CB8AC3E}">
        <p14:creationId xmlns:p14="http://schemas.microsoft.com/office/powerpoint/2010/main" val="1158584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363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F9A8-21AC-F586-25F7-E4D2698F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 – that's great, but how does it code???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29BA7F-9CDA-E2B8-74FC-DDD79CBC97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Heaps use binary trees</a:t>
                </a:r>
              </a:p>
              <a:p>
                <a:r>
                  <a:rPr lang="en-US" dirty="0"/>
                  <a:t>Stored in an array with level order</a:t>
                </a:r>
              </a:p>
              <a:p>
                <a:pPr lvl="1"/>
                <a:r>
                  <a:rPr lang="en-US" dirty="0"/>
                  <a:t>Index 0=minimum</a:t>
                </a:r>
              </a:p>
              <a:p>
                <a:pPr lvl="1"/>
                <a:r>
                  <a:rPr lang="en-US" dirty="0"/>
                  <a:t>For a given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 </a:t>
                </a:r>
              </a:p>
              <a:p>
                <a:pPr lvl="2"/>
                <a:r>
                  <a:rPr lang="en-US" dirty="0"/>
                  <a:t>Parent node is located at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Left child is located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+1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Right child is located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+2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29BA7F-9CDA-E2B8-74FC-DDD79CBC97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3748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C5025-8009-2E50-91E0-34644915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– Search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38446-3449-C539-2539-04DB5DE3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Ehhh</a:t>
            </a:r>
            <a:r>
              <a:rPr lang="en-US" dirty="0"/>
              <a:t> not really</a:t>
            </a:r>
          </a:p>
          <a:p>
            <a:r>
              <a:rPr lang="en-US" dirty="0"/>
              <a:t>Used to find the *min* element </a:t>
            </a:r>
          </a:p>
          <a:p>
            <a:r>
              <a:rPr lang="en-US" dirty="0"/>
              <a:t>So don't worry about it!</a:t>
            </a:r>
          </a:p>
        </p:txBody>
      </p:sp>
    </p:spTree>
    <p:extLst>
      <p:ext uri="{BB962C8B-B14F-4D97-AF65-F5344CB8AC3E}">
        <p14:creationId xmlns:p14="http://schemas.microsoft.com/office/powerpoint/2010/main" val="1941977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41AB58-5C15-39E1-2823-754654D2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use heaps for?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7D480D-D907-4306-6BD5-715863E3D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Priority queues!</a:t>
            </a:r>
          </a:p>
          <a:p>
            <a:r>
              <a:rPr lang="en-US" dirty="0"/>
              <a:t>Min-heap removal always gives the minimum element.</a:t>
            </a:r>
          </a:p>
        </p:txBody>
      </p:sp>
    </p:spTree>
    <p:extLst>
      <p:ext uri="{BB962C8B-B14F-4D97-AF65-F5344CB8AC3E}">
        <p14:creationId xmlns:p14="http://schemas.microsoft.com/office/powerpoint/2010/main" val="2945092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9166-8492-70E6-BC59-9B3604D3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Complexity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3B490-F5BA-BADC-D57D-6FE13FA89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0155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51AF-8B58-DE7D-CC4E-BC7FDEC8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Draw the max-heap for the following numbers, then remove 3 elements.</a:t>
            </a:r>
            <a:br>
              <a:rPr lang="en-US" dirty="0"/>
            </a:br>
            <a:r>
              <a:rPr lang="en-US" dirty="0"/>
              <a:t>3, 14, 4, 8, 15, 16, 9, 12, 20</a:t>
            </a:r>
          </a:p>
        </p:txBody>
      </p:sp>
    </p:spTree>
    <p:extLst>
      <p:ext uri="{BB962C8B-B14F-4D97-AF65-F5344CB8AC3E}">
        <p14:creationId xmlns:p14="http://schemas.microsoft.com/office/powerpoint/2010/main" val="16821476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DDD9-6EA0-5F0A-5E34-B2394679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Cool-Down: Solve my to-do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3A3B8-678A-E1FA-ECF4-D1C0A8BE1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097"/>
            <a:ext cx="11086070" cy="5034778"/>
          </a:xfrm>
        </p:spPr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Discuss on what variable or combination of variables you will optimize.</a:t>
            </a:r>
          </a:p>
          <a:p>
            <a:r>
              <a:rPr lang="en-US" dirty="0"/>
              <a:t>Describe on the board how you will construct a priority queue, and use a heap to return the order of tasks I should complete, until the queue is empty.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09008F-8863-FF4F-7172-FA8FC82B4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625219"/>
              </p:ext>
            </p:extLst>
          </p:nvPr>
        </p:nvGraphicFramePr>
        <p:xfrm>
          <a:off x="1080186" y="1445735"/>
          <a:ext cx="1003162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084">
                  <a:extLst>
                    <a:ext uri="{9D8B030D-6E8A-4147-A177-3AD203B41FA5}">
                      <a16:colId xmlns:a16="http://schemas.microsoft.com/office/drawing/2014/main" val="996818835"/>
                    </a:ext>
                  </a:extLst>
                </a:gridCol>
                <a:gridCol w="2701668">
                  <a:extLst>
                    <a:ext uri="{9D8B030D-6E8A-4147-A177-3AD203B41FA5}">
                      <a16:colId xmlns:a16="http://schemas.microsoft.com/office/drawing/2014/main" val="2964340360"/>
                    </a:ext>
                  </a:extLst>
                </a:gridCol>
                <a:gridCol w="3343876">
                  <a:extLst>
                    <a:ext uri="{9D8B030D-6E8A-4147-A177-3AD203B41FA5}">
                      <a16:colId xmlns:a16="http://schemas.microsoft.com/office/drawing/2014/main" val="3186455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Roscoe's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735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Grade Algorithms HW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833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Knit 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March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009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Read a 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42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 the Stats homework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5pm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3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Submit Jan Term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Sunday 11:59pm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5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 Algorithms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5pm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94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Write a section of 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5pm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7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291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2117-3266-BA80-50F7-93BBE7F7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Warm-up: Does heap insert order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03DE8-4973-A76F-1B4A-49C932425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Insert the following lists of numbers into a heap. Do they produce the same heap?</a:t>
            </a:r>
          </a:p>
          <a:p>
            <a:pPr marL="514350" indent="-514350">
              <a:buAutoNum type="alphaUcPeriod"/>
            </a:pPr>
            <a:r>
              <a:rPr lang="en-US" dirty="0"/>
              <a:t>19, 27, 13, 26, 11, 24, 18, 10,  1, 30, 28, 14,  5, 15,  4,  8, 12, 23</a:t>
            </a:r>
            <a:br>
              <a:rPr lang="en-US" dirty="0"/>
            </a:br>
            <a:endParaRPr lang="en-US" dirty="0"/>
          </a:p>
          <a:p>
            <a:pPr marL="514350" indent="-514350">
              <a:buAutoNum type="alphaUcPeriod"/>
            </a:pPr>
            <a:r>
              <a:rPr lang="en-US" dirty="0"/>
              <a:t>11,  1,  8,  5, 10, 24, 14, 18, 26,  4, 19, 13, 15, 30, 27, 23, 28, 12</a:t>
            </a:r>
            <a:br>
              <a:rPr lang="en-US" dirty="0"/>
            </a:br>
            <a:endParaRPr lang="en-US" dirty="0"/>
          </a:p>
          <a:p>
            <a:pPr marL="514350" indent="-514350">
              <a:buAutoNum type="alphaUcPeriod"/>
            </a:pPr>
            <a:r>
              <a:rPr lang="en-US" dirty="0"/>
              <a:t>24, 27, 11,  4,  8,  5,  1, 23, 12, 30, 18, 28, 19, 15, 14, 10, 13, 26</a:t>
            </a:r>
          </a:p>
        </p:txBody>
      </p:sp>
    </p:spTree>
    <p:extLst>
      <p:ext uri="{BB962C8B-B14F-4D97-AF65-F5344CB8AC3E}">
        <p14:creationId xmlns:p14="http://schemas.microsoft.com/office/powerpoint/2010/main" val="2898668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DCDC-DDF4-E5C3-74F0-53E24595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Union-Find / Disjoint 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E19C8-ED1A-29F3-66DC-4F8E855FA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898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9873-DCF1-A1D7-C885-CED6C3C0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6796F-62AC-EFA7-F217-F54E973E6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Analogy</a:t>
            </a:r>
          </a:p>
          <a:p>
            <a:r>
              <a:rPr lang="en-US" dirty="0"/>
              <a:t>Trees</a:t>
            </a:r>
          </a:p>
          <a:p>
            <a:r>
              <a:rPr lang="en-US" dirty="0"/>
              <a:t>In arrays</a:t>
            </a:r>
          </a:p>
          <a:p>
            <a:r>
              <a:rPr lang="en-US" dirty="0"/>
              <a:t>Code</a:t>
            </a:r>
          </a:p>
          <a:p>
            <a:r>
              <a:rPr lang="en-US" dirty="0"/>
              <a:t>Optimizations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2679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6F82-C1F8-7854-C7B9-C0C76CA2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start a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E03DA-3632-6771-73CD-9D8454DEA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You're wondering why I've brought you all here today…</a:t>
            </a:r>
          </a:p>
          <a:p>
            <a:pPr lvl="1"/>
            <a:r>
              <a:rPr lang="en-US" dirty="0"/>
              <a:t>Everyone is working on something different.</a:t>
            </a:r>
          </a:p>
          <a:p>
            <a:pPr lvl="1"/>
            <a:r>
              <a:rPr lang="en-US" dirty="0"/>
              <a:t>You get a number 1-26 to represent your various projects/</a:t>
            </a:r>
            <a:r>
              <a:rPr lang="en-US" dirty="0" err="1"/>
              <a:t>expertises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317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A092-8B25-F7AA-6CAB-28D90914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start a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DC5A8-26EF-8AC5-A38C-EA57C3688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Hang on, some of you are working on similar things.</a:t>
            </a:r>
          </a:p>
          <a:p>
            <a:r>
              <a:rPr lang="en-US" dirty="0"/>
              <a:t>I will put you in different "departments"</a:t>
            </a:r>
          </a:p>
          <a:p>
            <a:pPr lvl="1"/>
            <a:r>
              <a:rPr lang="en-US" dirty="0"/>
              <a:t>pairs/groups of 3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9094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6D62-AFC6-43DA-3FB0-D27E4D78F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Someone has to be in charge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6F13D-9BF3-691B-0AAB-C4C6B2ED8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Between you, designate someone to be your "manager".</a:t>
            </a:r>
          </a:p>
          <a:p>
            <a:r>
              <a:rPr lang="en-US" dirty="0"/>
              <a:t>Even if you have a direct supervisor, you still have a manager.</a:t>
            </a:r>
          </a:p>
          <a:p>
            <a:r>
              <a:rPr lang="en-US" dirty="0"/>
              <a:t>When I ask you which group you're part of, respond with the name of your ultimate manager.</a:t>
            </a:r>
          </a:p>
          <a:p>
            <a:pPr lvl="1"/>
            <a:r>
              <a:rPr lang="en-US" dirty="0"/>
              <a:t>This operation is called </a:t>
            </a:r>
            <a:r>
              <a:rPr lang="en-US" b="1" dirty="0"/>
              <a:t>find()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223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D4CA-FB4C-2E56-2036-7C248ED5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Departments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E3880-076F-4A8B-259D-8DC94391B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Merging 2 departments: </a:t>
            </a:r>
          </a:p>
          <a:p>
            <a:pPr lvl="1"/>
            <a:r>
              <a:rPr lang="en-US" dirty="0"/>
              <a:t>One of the two existing managers gets to be ultimate manager</a:t>
            </a:r>
          </a:p>
          <a:p>
            <a:pPr lvl="1"/>
            <a:r>
              <a:rPr lang="en-US" dirty="0"/>
              <a:t>Can't have 2 managers</a:t>
            </a:r>
          </a:p>
          <a:p>
            <a:pPr lvl="1"/>
            <a:r>
              <a:rPr lang="en-US" dirty="0"/>
              <a:t>The result is 1 department with 1 manager.</a:t>
            </a:r>
          </a:p>
          <a:p>
            <a:pPr lvl="1"/>
            <a:endParaRPr lang="en-US" dirty="0"/>
          </a:p>
          <a:p>
            <a:r>
              <a:rPr lang="en-US" dirty="0"/>
              <a:t>This operation is called </a:t>
            </a:r>
            <a:r>
              <a:rPr lang="en-US" b="1" dirty="0"/>
              <a:t>union().</a:t>
            </a:r>
          </a:p>
          <a:p>
            <a:r>
              <a:rPr lang="en-US" dirty="0"/>
              <a:t>Specifically,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108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FE24-4E66-3CBD-59DD-15C98CC8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Union-Find / Disjoint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7C985-C8B4-A290-0088-45590190B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structure that performs 2 main operations:</a:t>
            </a:r>
          </a:p>
          <a:p>
            <a:pPr lvl="1"/>
            <a:r>
              <a:rPr lang="en-US" dirty="0"/>
              <a:t>Union(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Combine two departments based on any two people in those departments.</a:t>
            </a:r>
          </a:p>
          <a:p>
            <a:pPr lvl="1"/>
            <a:r>
              <a:rPr lang="en-US" dirty="0"/>
              <a:t>Find(x)</a:t>
            </a:r>
          </a:p>
          <a:p>
            <a:pPr lvl="2"/>
            <a:r>
              <a:rPr lang="en-US" dirty="0"/>
              <a:t>Return who x's ultimate manager is.</a:t>
            </a:r>
          </a:p>
        </p:txBody>
      </p:sp>
    </p:spTree>
    <p:extLst>
      <p:ext uri="{BB962C8B-B14F-4D97-AF65-F5344CB8AC3E}">
        <p14:creationId xmlns:p14="http://schemas.microsoft.com/office/powerpoint/2010/main" val="29793008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CEC8-4844-33C1-C568-128063ECC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Union-Find uses a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170F-75F7-9170-B30D-5200D7D7F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Forest = group of un-connected trees</a:t>
            </a:r>
          </a:p>
          <a:p>
            <a:r>
              <a:rPr lang="en-US" dirty="0"/>
              <a:t>Each tree in the forest is a connected group </a:t>
            </a:r>
          </a:p>
          <a:p>
            <a:pPr lvl="1"/>
            <a:r>
              <a:rPr lang="en-US" dirty="0"/>
              <a:t>A department, identified by its ultimate manager</a:t>
            </a:r>
          </a:p>
          <a:p>
            <a:r>
              <a:rPr lang="en-US" dirty="0"/>
              <a:t>Merging departments means combining trees under a common root</a:t>
            </a:r>
          </a:p>
        </p:txBody>
      </p:sp>
    </p:spTree>
    <p:extLst>
      <p:ext uri="{BB962C8B-B14F-4D97-AF65-F5344CB8AC3E}">
        <p14:creationId xmlns:p14="http://schemas.microsoft.com/office/powerpoint/2010/main" val="36468037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B906-D78B-706E-3DE7-53AC4800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Find: that's great, but how does it code???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1E09-BBA7-D6DE-E9A7-DB790D189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 me: What's an element of an array? </a:t>
            </a:r>
          </a:p>
          <a:p>
            <a:endParaRPr lang="en-US" dirty="0"/>
          </a:p>
          <a:p>
            <a:r>
              <a:rPr lang="en-US" dirty="0"/>
              <a:t>Remind me: What's an index of an array?</a:t>
            </a:r>
          </a:p>
        </p:txBody>
      </p:sp>
    </p:spTree>
    <p:extLst>
      <p:ext uri="{BB962C8B-B14F-4D97-AF65-F5344CB8AC3E}">
        <p14:creationId xmlns:p14="http://schemas.microsoft.com/office/powerpoint/2010/main" val="32969870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260D-3472-FE6A-B918-EA7CD59D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A4CC-14B6-FD4F-547F-2D124D07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Find: that's great, but how does it code???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2FD14-1B99-829E-5DE6-6F4EE95EB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</a:t>
            </a:r>
            <a:r>
              <a:rPr lang="en-US" i="1" dirty="0"/>
              <a:t>element</a:t>
            </a:r>
            <a:r>
              <a:rPr lang="en-US" dirty="0"/>
              <a:t> corresponds to an array </a:t>
            </a:r>
            <a:r>
              <a:rPr lang="en-US" i="1" u="sng" dirty="0"/>
              <a:t>index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Space: O(n)</a:t>
            </a:r>
          </a:p>
          <a:p>
            <a:r>
              <a:rPr lang="en-US" dirty="0"/>
              <a:t>Elements not nice integers? </a:t>
            </a:r>
          </a:p>
          <a:p>
            <a:pPr lvl="1"/>
            <a:r>
              <a:rPr lang="en-US" dirty="0"/>
              <a:t>Use a </a:t>
            </a:r>
            <a:r>
              <a:rPr lang="en-US" dirty="0" err="1"/>
              <a:t>Hashmap</a:t>
            </a:r>
            <a:r>
              <a:rPr lang="en-US" dirty="0"/>
              <a:t>/dictionary. Map elements to integers. </a:t>
            </a:r>
          </a:p>
          <a:p>
            <a:r>
              <a:rPr lang="en-US" dirty="0"/>
              <a:t>The </a:t>
            </a:r>
            <a:r>
              <a:rPr lang="en-US" i="1" u="sng" dirty="0"/>
              <a:t>item</a:t>
            </a:r>
            <a:r>
              <a:rPr lang="en-US" dirty="0"/>
              <a:t> at each element is the name of the "manager"</a:t>
            </a:r>
          </a:p>
          <a:p>
            <a:pPr lvl="1"/>
            <a:r>
              <a:rPr lang="en-US" dirty="0"/>
              <a:t>If 5's root is 2, the element at index 5 is 2</a:t>
            </a:r>
          </a:p>
        </p:txBody>
      </p:sp>
    </p:spTree>
    <p:extLst>
      <p:ext uri="{BB962C8B-B14F-4D97-AF65-F5344CB8AC3E}">
        <p14:creationId xmlns:p14="http://schemas.microsoft.com/office/powerpoint/2010/main" val="23682055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254C8-1D77-885D-37F5-39A912F40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4661509" y="256381"/>
            <a:ext cx="10515600" cy="1325563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A86E7-78A9-EDFC-414F-40F6E8097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7471036-EF04-0202-39CB-2C8FB87949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69" t="7714" r="4499" b="17108"/>
          <a:stretch>
            <a:fillRect/>
          </a:stretch>
        </p:blipFill>
        <p:spPr>
          <a:xfrm>
            <a:off x="838200" y="183458"/>
            <a:ext cx="11065590" cy="6121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F73690-A300-B9AD-F2E2-268E58D1F1C9}"/>
              </a:ext>
            </a:extLst>
          </p:cNvPr>
          <p:cNvSpPr txBox="1"/>
          <p:nvPr/>
        </p:nvSpPr>
        <p:spPr>
          <a:xfrm>
            <a:off x="1077686" y="6433457"/>
            <a:ext cx="570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https://www.youtube.com/watch?v=92UpvDXc8fs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27252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390FE-2DD7-228E-7921-9C4707FA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with 10-element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7D930-2A0C-ACF4-396C-1042C312E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221"/>
            <a:ext cx="10515600" cy="466574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Break ties with a preference for smaller numbers.</a:t>
            </a:r>
          </a:p>
          <a:p>
            <a:r>
              <a:rPr lang="en-US" dirty="0"/>
              <a:t>Union(5, 9)</a:t>
            </a:r>
          </a:p>
          <a:p>
            <a:r>
              <a:rPr lang="en-US" dirty="0"/>
              <a:t>Union( 3,   1)</a:t>
            </a:r>
          </a:p>
          <a:p>
            <a:r>
              <a:rPr lang="en-US" dirty="0"/>
              <a:t>Union( 8,   6)</a:t>
            </a:r>
          </a:p>
          <a:p>
            <a:r>
              <a:rPr lang="en-US" dirty="0"/>
              <a:t>Union( 9,   2)</a:t>
            </a:r>
          </a:p>
          <a:p>
            <a:r>
              <a:rPr lang="en-US" dirty="0"/>
              <a:t>Union( 4,   7)</a:t>
            </a:r>
          </a:p>
          <a:p>
            <a:r>
              <a:rPr lang="en-US" dirty="0"/>
              <a:t>Union(8,  0)</a:t>
            </a:r>
          </a:p>
          <a:p>
            <a:r>
              <a:rPr lang="en-US" dirty="0"/>
              <a:t>Union( 7,   1)</a:t>
            </a:r>
          </a:p>
          <a:p>
            <a:r>
              <a:rPr lang="en-US" dirty="0"/>
              <a:t>Union( 9,   4)</a:t>
            </a:r>
          </a:p>
          <a:p>
            <a:r>
              <a:rPr lang="en-US" dirty="0"/>
              <a:t>Union( 2,   3)</a:t>
            </a:r>
          </a:p>
          <a:p>
            <a:r>
              <a:rPr lang="en-US" dirty="0"/>
              <a:t>Union( 6,   5)</a:t>
            </a:r>
          </a:p>
          <a:p>
            <a:r>
              <a:rPr lang="en-US" dirty="0"/>
              <a:t>What is find(5)?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088F4C-DE1A-D937-21A1-00FAFB2B3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797254"/>
              </p:ext>
            </p:extLst>
          </p:nvPr>
        </p:nvGraphicFramePr>
        <p:xfrm>
          <a:off x="2032000" y="6176963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15127842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06652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794694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659863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0389316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566376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7169761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5397777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450237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28047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0864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0F4189-2339-A40E-5992-038103E1647B}"/>
              </a:ext>
            </a:extLst>
          </p:cNvPr>
          <p:cNvSpPr txBox="1"/>
          <p:nvPr/>
        </p:nvSpPr>
        <p:spPr>
          <a:xfrm>
            <a:off x="2334018" y="6492875"/>
            <a:ext cx="7763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0                1              2               3               4              5                6               7               8                9</a:t>
            </a:r>
          </a:p>
        </p:txBody>
      </p:sp>
    </p:spTree>
    <p:extLst>
      <p:ext uri="{BB962C8B-B14F-4D97-AF65-F5344CB8AC3E}">
        <p14:creationId xmlns:p14="http://schemas.microsoft.com/office/powerpoint/2010/main" val="5845988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B6A7-676F-A683-E733-C563CC94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It's not perfect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4372C-E121-B1C7-2DC5-F5B9D8D7A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Haphazard union-</a:t>
            </a:r>
            <a:r>
              <a:rPr lang="en-US" dirty="0" err="1"/>
              <a:t>ing</a:t>
            </a:r>
            <a:r>
              <a:rPr lang="en-US" dirty="0"/>
              <a:t> could result in a linear structure</a:t>
            </a:r>
          </a:p>
        </p:txBody>
      </p:sp>
    </p:spTree>
    <p:extLst>
      <p:ext uri="{BB962C8B-B14F-4D97-AF65-F5344CB8AC3E}">
        <p14:creationId xmlns:p14="http://schemas.microsoft.com/office/powerpoint/2010/main" val="20501268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DC79-6B57-D8A5-0511-E8C665743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it better – By Rank / By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43C5F-BB90-E5D0-3322-3197694F0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Union by …</a:t>
            </a:r>
          </a:p>
          <a:p>
            <a:pPr lvl="1"/>
            <a:r>
              <a:rPr lang="en-US" dirty="0"/>
              <a:t>Rank = height of the tree</a:t>
            </a:r>
          </a:p>
          <a:p>
            <a:pPr lvl="1"/>
            <a:r>
              <a:rPr lang="en-US" dirty="0"/>
              <a:t>Size = number of elements in the tree</a:t>
            </a:r>
          </a:p>
          <a:p>
            <a:r>
              <a:rPr lang="en-US" dirty="0"/>
              <a:t>Keep track of this in a separate array</a:t>
            </a:r>
          </a:p>
          <a:p>
            <a:pPr lvl="1"/>
            <a:r>
              <a:rPr lang="en-US" dirty="0"/>
              <a:t>Only need to keep track of the root's rank or size</a:t>
            </a:r>
          </a:p>
        </p:txBody>
      </p:sp>
    </p:spTree>
    <p:extLst>
      <p:ext uri="{BB962C8B-B14F-4D97-AF65-F5344CB8AC3E}">
        <p14:creationId xmlns:p14="http://schemas.microsoft.com/office/powerpoint/2010/main" val="20905018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9AF86-AB5A-2189-7597-DDE5D32F8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it better – Path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7A607-635A-F92F-2808-733ED4733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finding, if we aren't directly reporting to the manager, make it so we do directly report to the manager.</a:t>
            </a:r>
          </a:p>
          <a:p>
            <a:pPr lvl="1"/>
            <a:r>
              <a:rPr lang="en-US" dirty="0"/>
              <a:t>Redraw edges of the tree</a:t>
            </a:r>
          </a:p>
          <a:p>
            <a:endParaRPr lang="en-US" dirty="0"/>
          </a:p>
          <a:p>
            <a:r>
              <a:rPr lang="en-US" dirty="0"/>
              <a:t>Makes the tree wide, but fast lookup. 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490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2A611-F25D-C7F3-73BC-C761E072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0455-B6F9-999F-BF59-A0A3CC53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4595018" y="399593"/>
            <a:ext cx="10515600" cy="1325563"/>
          </a:xfrm>
        </p:spPr>
        <p:txBody>
          <a:bodyPr/>
          <a:lstStyle/>
          <a:p>
            <a:r>
              <a:rPr lang="en-US" dirty="0"/>
              <a:t>Code version 2</a:t>
            </a:r>
          </a:p>
        </p:txBody>
      </p:sp>
      <p:pic>
        <p:nvPicPr>
          <p:cNvPr id="7" name="Content Placeholder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37283147-960A-584E-DEBA-86F2AF4C8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066" t="7578" r="7393" b="16245"/>
          <a:stretch>
            <a:fillRect/>
          </a:stretch>
        </p:blipFill>
        <p:spPr>
          <a:xfrm>
            <a:off x="1186742" y="211719"/>
            <a:ext cx="9818516" cy="62712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F51A59-93DC-0614-B018-71102621F619}"/>
              </a:ext>
            </a:extLst>
          </p:cNvPr>
          <p:cNvSpPr txBox="1"/>
          <p:nvPr/>
        </p:nvSpPr>
        <p:spPr>
          <a:xfrm>
            <a:off x="1077686" y="6433457"/>
            <a:ext cx="570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https://www.youtube.com/watch?v=92UpvDXc8fs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21296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B5B8-2320-8BAA-D887-FE8FE5913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Union-Find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3CEC5A-D3D1-4D03-A418-B23D56554B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Just path compression:  </a:t>
                </a:r>
              </a:p>
              <a:p>
                <a:r>
                  <a:rPr lang="en-US" dirty="0"/>
                  <a:t>Just union-by-rank, no path compression:</a:t>
                </a:r>
              </a:p>
              <a:p>
                <a:r>
                  <a:rPr lang="en-US" dirty="0"/>
                  <a:t>Union-by-rank WITH path compression: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here is the Inverse Ackermann function</a:t>
                </a:r>
              </a:p>
              <a:p>
                <a:pPr lvl="2"/>
                <a:r>
                  <a:rPr lang="en-US" dirty="0"/>
                  <a:t>Ackermann function grows </a:t>
                </a:r>
                <a:r>
                  <a:rPr lang="en-US" i="1" dirty="0"/>
                  <a:t>really really fast</a:t>
                </a:r>
              </a:p>
              <a:p>
                <a:pPr lvl="2"/>
                <a:r>
                  <a:rPr lang="en-US" dirty="0"/>
                  <a:t>Inverse means it grows slowly</a:t>
                </a:r>
              </a:p>
              <a:p>
                <a:pPr lvl="2"/>
                <a:r>
                  <a:rPr lang="en-US" dirty="0"/>
                  <a:t>Essentially &lt;=4 for any quantifiable n. 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So, not actually constant time, but essentially free.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3CEC5A-D3D1-4D03-A418-B23D56554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18944C-9AD1-0705-C406-D7BBFA9D0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020" y="1910175"/>
            <a:ext cx="2944750" cy="364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4F1457-DE12-6222-63D0-D6078D595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240" y="2409411"/>
            <a:ext cx="1353111" cy="364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4F94C6-9A7B-6D14-C32B-C48A2CAF8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194" y="2908647"/>
            <a:ext cx="1113152" cy="38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432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946F-1205-7E43-2214-9C9AFE25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3802E-523B-8FD7-2F0F-A6570ADE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a minimum spanning tree</a:t>
            </a:r>
          </a:p>
          <a:p>
            <a:pPr lvl="1"/>
            <a:r>
              <a:rPr lang="en-US" dirty="0"/>
              <a:t>Kruskal's MST algorithm</a:t>
            </a:r>
          </a:p>
          <a:p>
            <a:r>
              <a:rPr lang="en-US" dirty="0"/>
              <a:t>How many connected components of a graph are there?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Easy-to-implement and efficient graph algorithms have wide-reaching effects.</a:t>
            </a:r>
          </a:p>
        </p:txBody>
      </p:sp>
    </p:spTree>
    <p:extLst>
      <p:ext uri="{BB962C8B-B14F-4D97-AF65-F5344CB8AC3E}">
        <p14:creationId xmlns:p14="http://schemas.microsoft.com/office/powerpoint/2010/main" val="36876698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2CBF-ABB2-004C-0E96-A3AAD714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Cool-Down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80F44-A3A6-1DA9-1346-ED126D52C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your teams, visualize a sequence of Union-Find operations as an array and as a forest. Use by-rank and path optimization. Break ties with a preference for smaller numbers.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Union(7,1)</a:t>
            </a:r>
          </a:p>
          <a:p>
            <a:pPr lvl="1"/>
            <a:r>
              <a:rPr lang="en-US" dirty="0"/>
              <a:t>Union(4,2)</a:t>
            </a:r>
          </a:p>
          <a:p>
            <a:pPr lvl="1"/>
            <a:r>
              <a:rPr lang="en-US" dirty="0"/>
              <a:t>Union(8,5)</a:t>
            </a:r>
          </a:p>
          <a:p>
            <a:pPr lvl="1"/>
            <a:r>
              <a:rPr lang="en-US" dirty="0"/>
              <a:t>Union(0,3)</a:t>
            </a:r>
          </a:p>
          <a:p>
            <a:pPr lvl="1"/>
            <a:r>
              <a:rPr lang="en-US" dirty="0"/>
              <a:t>Union(6,9)</a:t>
            </a:r>
          </a:p>
          <a:p>
            <a:pPr lvl="1"/>
            <a:r>
              <a:rPr lang="en-US" dirty="0"/>
              <a:t>Union(2,7)</a:t>
            </a:r>
          </a:p>
          <a:p>
            <a:pPr lvl="1"/>
            <a:r>
              <a:rPr lang="en-US" dirty="0"/>
              <a:t>Union(5,9)</a:t>
            </a:r>
          </a:p>
          <a:p>
            <a:pPr lvl="1"/>
            <a:r>
              <a:rPr lang="en-US" dirty="0"/>
              <a:t>Union(8,1)</a:t>
            </a:r>
          </a:p>
          <a:p>
            <a:pPr lvl="1"/>
            <a:r>
              <a:rPr lang="en-US" dirty="0"/>
              <a:t>Union(4,6)</a:t>
            </a:r>
          </a:p>
          <a:p>
            <a:r>
              <a:rPr lang="en-US" dirty="0"/>
              <a:t>What is Find(4)?</a:t>
            </a:r>
          </a:p>
        </p:txBody>
      </p:sp>
    </p:spTree>
    <p:extLst>
      <p:ext uri="{BB962C8B-B14F-4D97-AF65-F5344CB8AC3E}">
        <p14:creationId xmlns:p14="http://schemas.microsoft.com/office/powerpoint/2010/main" val="24370932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90977-7F38-7937-1421-F15AB3FF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Cool-Down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6F9D5-24E1-2A13-37A4-0BB44CE0E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"Number of Provinces" </a:t>
            </a:r>
            <a:r>
              <a:rPr lang="en-US" dirty="0" err="1"/>
              <a:t>LeetCode</a:t>
            </a:r>
            <a:r>
              <a:rPr lang="en-US" dirty="0"/>
              <a:t> problem using </a:t>
            </a:r>
            <a:r>
              <a:rPr lang="en-US" dirty="0" err="1"/>
              <a:t>UnionFind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https://leetcode.com/problems/number-of-provinces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8857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699D-E8F2-98C5-2DFB-55445644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06FA3-DF82-25CD-5B25-E89EDE449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https://en.wikipedia.org/wiki/Disjoint-set_data_structure#</a:t>
            </a:r>
            <a:endParaRPr lang="en-US" dirty="0"/>
          </a:p>
          <a:p>
            <a:r>
              <a:rPr lang="en-US" dirty="0">
                <a:hlinkClick r:id="rId3"/>
              </a:rPr>
              <a:t>https://en.wikipedia.org/wiki/Ackermann_function#Inverse</a:t>
            </a:r>
            <a:endParaRPr lang="en-US" dirty="0"/>
          </a:p>
          <a:p>
            <a:r>
              <a:rPr lang="en-US" dirty="0">
                <a:hlinkClick r:id="rId4"/>
              </a:rPr>
              <a:t>https://www.youtube.com/watch?v=92UpvDXc8fs</a:t>
            </a:r>
            <a:r>
              <a:rPr lang="en-US" dirty="0"/>
              <a:t> </a:t>
            </a:r>
          </a:p>
          <a:p>
            <a:r>
              <a:rPr lang="en-US" dirty="0">
                <a:hlinkClick r:id="rId5"/>
              </a:rPr>
              <a:t>https://www.youtube.com/watch?v=8f1XPm4WOUc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06855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13D4F-4B54-2CFD-45CE-D820434DD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These slides are work-in-progress; more will be added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CBB95-B5A0-4E31-8197-E2631EE1C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72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3915</TotalTime>
  <Words>2201</Words>
  <Application>Microsoft Macintosh PowerPoint</Application>
  <PresentationFormat>Widescreen</PresentationFormat>
  <Paragraphs>304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Aptos</vt:lpstr>
      <vt:lpstr>Aptos Display</vt:lpstr>
      <vt:lpstr>Arial</vt:lpstr>
      <vt:lpstr>Cambria Math</vt:lpstr>
      <vt:lpstr>Office Theme</vt:lpstr>
      <vt:lpstr>Data Structures, In Detail</vt:lpstr>
      <vt:lpstr>Hashing/Dictionaries</vt:lpstr>
      <vt:lpstr>PowerPoint Presentation</vt:lpstr>
      <vt:lpstr>Hashing</vt:lpstr>
      <vt:lpstr>PowerPoint Presentation</vt:lpstr>
      <vt:lpstr>Example</vt:lpstr>
      <vt:lpstr>PowerPoint Presentation</vt:lpstr>
      <vt:lpstr>Linear Probing</vt:lpstr>
      <vt:lpstr>Example</vt:lpstr>
      <vt:lpstr>Chaining</vt:lpstr>
      <vt:lpstr>Example</vt:lpstr>
      <vt:lpstr>f(x)=x+31 mod 11: 60, 9, 45, 3, 70, 5, 90, 93, 39, 77, 70 </vt:lpstr>
      <vt:lpstr>f(x)=x+31 mod 11: 60, 9, 45, 3, 70, 5, 90, 93, 39, 77, 70 </vt:lpstr>
      <vt:lpstr>More Collision Resolution</vt:lpstr>
      <vt:lpstr>How many things are in there?</vt:lpstr>
      <vt:lpstr>Load factor</vt:lpstr>
      <vt:lpstr>Hash Table Operations</vt:lpstr>
      <vt:lpstr>Binary Search Trees</vt:lpstr>
      <vt:lpstr>PowerPoint Presentation</vt:lpstr>
      <vt:lpstr>Insert the following items into a BST:  60, 9, 45, 3, 70, 5, 90, 93, 39, 77, 70 </vt:lpstr>
      <vt:lpstr>Insert the following items into a BST:  58  47   84  39  55  14  98  53  79  42  87  3  90  1</vt:lpstr>
      <vt:lpstr>BST Terms</vt:lpstr>
      <vt:lpstr>PowerPoint Presentation</vt:lpstr>
      <vt:lpstr>InOrder Traversal of tree A</vt:lpstr>
      <vt:lpstr>PowerPoint Presentation</vt:lpstr>
      <vt:lpstr>PreOrder Traversal of tree A</vt:lpstr>
      <vt:lpstr>PowerPoint Presentation</vt:lpstr>
      <vt:lpstr>PostOrder Traversal of tree A</vt:lpstr>
      <vt:lpstr>BST Operations</vt:lpstr>
      <vt:lpstr>Warm-up Meet up with your teams. On the whiteboard:</vt:lpstr>
      <vt:lpstr>Heaps</vt:lpstr>
      <vt:lpstr>Heaps</vt:lpstr>
      <vt:lpstr>Heap – Insertion </vt:lpstr>
      <vt:lpstr>Example: Insert the following numbers into a min-heap.  18, 12, 3, 7, 15, 4, 11, 16, 5, 14.  Then draw the array.</vt:lpstr>
      <vt:lpstr>PowerPoint Presentation</vt:lpstr>
      <vt:lpstr>Heap – Deletion </vt:lpstr>
      <vt:lpstr>Remove 2 things from the preceding heap.</vt:lpstr>
      <vt:lpstr>PowerPoint Presentation</vt:lpstr>
      <vt:lpstr>Heaps – that's great, but how does it code???</vt:lpstr>
      <vt:lpstr>Heap – Search </vt:lpstr>
      <vt:lpstr>What do we use heaps for?</vt:lpstr>
      <vt:lpstr>Heap Complexity </vt:lpstr>
      <vt:lpstr>Draw the max-heap for the following numbers, then remove 3 elements. 3, 14, 4, 8, 15, 16, 9, 12, 20</vt:lpstr>
      <vt:lpstr>Cool-Down: Solve my to-do list</vt:lpstr>
      <vt:lpstr>Warm-up: Does heap insert order matter?</vt:lpstr>
      <vt:lpstr>Union-Find / Disjoint Sets</vt:lpstr>
      <vt:lpstr>Outline</vt:lpstr>
      <vt:lpstr>Let's start a company</vt:lpstr>
      <vt:lpstr>Let's start a company</vt:lpstr>
      <vt:lpstr>Someone has to be in charge</vt:lpstr>
      <vt:lpstr>Merging Departments</vt:lpstr>
      <vt:lpstr>Union-Find / Disjoint Sets</vt:lpstr>
      <vt:lpstr>Union-Find uses a Forest</vt:lpstr>
      <vt:lpstr>Union Find: that's great, but how does it code???</vt:lpstr>
      <vt:lpstr>Union Find: that's great, but how does it code???</vt:lpstr>
      <vt:lpstr>Code</vt:lpstr>
      <vt:lpstr>Example: with 10-element array</vt:lpstr>
      <vt:lpstr>It's not perfect</vt:lpstr>
      <vt:lpstr>Making it better – By Rank / By Size</vt:lpstr>
      <vt:lpstr>Making it better – Path Compression</vt:lpstr>
      <vt:lpstr>Code version 2</vt:lpstr>
      <vt:lpstr>Complexity of Union-Find</vt:lpstr>
      <vt:lpstr>Applications</vt:lpstr>
      <vt:lpstr>Cool-Down</vt:lpstr>
      <vt:lpstr>Cool-Down</vt:lpstr>
      <vt:lpstr>Further Exploration</vt:lpstr>
      <vt:lpstr>These slides are work-in-progress; more will be added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R Roscoe</dc:creator>
  <cp:lastModifiedBy>Sarah R Roscoe</cp:lastModifiedBy>
  <cp:revision>15</cp:revision>
  <dcterms:created xsi:type="dcterms:W3CDTF">2026-02-18T23:52:25Z</dcterms:created>
  <dcterms:modified xsi:type="dcterms:W3CDTF">2026-03-02T22:40:43Z</dcterms:modified>
</cp:coreProperties>
</file>