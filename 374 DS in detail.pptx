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5" r:id="rId3"/>
    <p:sldId id="316" r:id="rId4"/>
    <p:sldId id="314" r:id="rId5"/>
    <p:sldId id="315" r:id="rId6"/>
    <p:sldId id="325" r:id="rId7"/>
    <p:sldId id="318" r:id="rId8"/>
    <p:sldId id="319" r:id="rId9"/>
    <p:sldId id="326" r:id="rId10"/>
    <p:sldId id="317" r:id="rId11"/>
    <p:sldId id="327" r:id="rId12"/>
    <p:sldId id="328" r:id="rId13"/>
    <p:sldId id="337" r:id="rId14"/>
    <p:sldId id="329" r:id="rId15"/>
    <p:sldId id="322" r:id="rId16"/>
    <p:sldId id="323" r:id="rId17"/>
    <p:sldId id="320" r:id="rId18"/>
    <p:sldId id="330" r:id="rId19"/>
    <p:sldId id="302" r:id="rId20"/>
    <p:sldId id="331" r:id="rId21"/>
    <p:sldId id="332" r:id="rId22"/>
    <p:sldId id="333" r:id="rId23"/>
    <p:sldId id="299" r:id="rId24"/>
    <p:sldId id="334" r:id="rId25"/>
    <p:sldId id="303" r:id="rId26"/>
    <p:sldId id="335" r:id="rId27"/>
    <p:sldId id="304" r:id="rId28"/>
    <p:sldId id="336" r:id="rId29"/>
    <p:sldId id="305" r:id="rId30"/>
    <p:sldId id="32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719"/>
  </p:normalViewPr>
  <p:slideViewPr>
    <p:cSldViewPr snapToGrid="0">
      <p:cViewPr>
        <p:scale>
          <a:sx n="125" d="100"/>
          <a:sy n="125" d="100"/>
        </p:scale>
        <p:origin x="175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2E4B-23D5-7B6A-EFF4-5C09E6120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69E74-CFD4-7D38-EC0A-BC97514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EB26D-DBD7-D87C-B6FD-AA8A12BB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EB90-8AB9-F5BE-8DC6-53ADB93D9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C940ED-2393-A54C-211D-55695ABB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221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B4E6B-538A-6FCD-A941-000560DC7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75702-AB7D-5419-E2BD-AFAB68C32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D1D40-76D4-6830-33D5-10D0DA8C3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8959F5-C33C-26B4-90E4-8E69965D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A487B-311A-8BF5-148E-103B32D44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8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F24F-D78F-90C4-F019-9B38D297F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60AC6B-F0C3-0F09-D899-D92F4344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BD076-8263-400A-C908-937693CC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9D176-B508-5A4D-FD0A-453426E36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281D6-C5CB-AD33-E006-1E7B2B61A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92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692-F537-6411-45CE-170B383B8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A0B35-B4D8-7116-0655-2E0BCCBA3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64AFF-D704-74B6-DAD5-3C16AFF5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38A67-849F-6425-5F8E-9E3B5CCA4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B541A-89E7-2C9B-69A1-3EE0575EE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C7A01-B246-A9F4-14E3-5C690965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4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FD58C-8B93-9833-8C30-06C005A5E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2461-0A24-92A1-5B98-347AF8DCD5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52C4C6-C5CC-D604-BC45-EC7930DB3B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B3D654-F7A1-D7D5-D64F-398EBC7EF9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00557A-69EB-DD47-1CB9-37A7E5574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E4FDCE-0960-4D06-F77A-A6A353872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5C029E-DB6E-68A6-D215-E31DF56C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61D4E7-5129-A74A-6465-7745E044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99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D1D7-FE50-260D-E229-78C653E0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43F8B-A1C8-1433-B2C1-98C3364BD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808EA-1E10-CA28-B1B2-C9FB0C4D2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7F4E1-F1B8-B217-B648-765A9150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1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F04FFC-9E5B-D3B9-CDF0-8E34F86B5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3BC12-ECED-BD18-401D-C4DF08524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FD99E-0E59-AC8B-F204-E0AC60D33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29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FB020-551B-D609-5259-70FD7F09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376E3-B096-C5C9-D71B-31652839D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86854-BC97-126D-0505-9E9362B2B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3E15A-7B35-DA66-7DF7-F359398AC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03A5A-5782-82B3-82E1-3DD647C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D0F36-FD0B-9C44-6E98-2D40EACE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7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FD28C-5B98-4843-6A94-3822C732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7D04AA-1BD5-FE43-5E9D-B05810195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E0ED7-4FC1-E0D1-9549-F2DAF9846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B7C2C-E59E-D0EB-8130-1D0BAB416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A632C-71EF-85B1-D389-BA04E8908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EF776-E9D6-AD9C-7C8C-49FD9A9D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50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14C6-3445-6823-05C8-C7F167754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7C4ECE-3B90-651F-DF0F-FB70D03B90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7130D-E483-35A1-A233-91A062A33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517B26-B72D-598E-209C-740FF8310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BC60F-5537-5E6A-90F3-2451058D8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69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11063D-5993-C1DE-870A-4A160558F6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6BA45F-D980-05B1-514A-ECDBB6F878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0E3B-6060-DAC3-52A6-017B3B6B6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AF864-05E7-F894-37AC-33FB2D821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9A8CB-41E5-6368-4806-88E9733E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19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26EEA7-1210-B182-4958-EE51877B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AFB0D-B4BE-6F3C-6FC1-896623A01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26375-A5F1-447D-1B91-122D3EF03E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EE7D20-2DA8-734D-A950-8DD41E3ED5D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15A2-BE4B-3116-A23B-E24129878D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8EA46-275D-9EA9-A0C4-54D9F4C5C9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CC913-022C-5247-998E-0D45DA2165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84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double-hashing/" TargetMode="External"/><Relationship Id="rId2" Type="http://schemas.openxmlformats.org/officeDocument/2006/relationships/hyperlink" Target="https://www.geeksforgeeks.org/dsa/quadratic-probing-in-hashing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95E61-E30A-1442-966D-6EFE4898D0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Structures, In Detail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C643E-B7AA-A92D-EC1B-2D104F9E6A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 374</a:t>
            </a:r>
          </a:p>
        </p:txBody>
      </p:sp>
    </p:spTree>
    <p:extLst>
      <p:ext uri="{BB962C8B-B14F-4D97-AF65-F5344CB8AC3E}">
        <p14:creationId xmlns:p14="http://schemas.microsoft.com/office/powerpoint/2010/main" val="3245362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0514-6176-3A3B-FA0D-CF217F579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Hashing/Dictionaries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6AE7-88CF-6005-39DF-F3F9B4FFB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32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698B5-AAD9-A936-AF04-2423F1DEA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175A9-AA95-5552-9713-4CE962D4D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633AE-8559-D3A9-2F20-0297EED60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2" descr="Hashing Algorithms. The functions that empower and protect… | by SHREYANSH  SAXENA | Nybles | Medium">
            <a:extLst>
              <a:ext uri="{FF2B5EF4-FFF2-40B4-BE49-F238E27FC236}">
                <a16:creationId xmlns:a16="http://schemas.microsoft.com/office/drawing/2014/main" id="{3EC0BFF8-FA23-7423-F207-7ED78FF4E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997" y="1495165"/>
            <a:ext cx="7710006" cy="3867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269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1DE96-C452-C735-4955-E15795C00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95DEC-F70C-3320-80EB-E49DD4290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i="1" dirty="0"/>
              <a:t>hash</a:t>
            </a:r>
            <a:r>
              <a:rPr lang="en-US" dirty="0"/>
              <a:t> is a function that maps keys to an integer.</a:t>
            </a:r>
          </a:p>
          <a:p>
            <a:r>
              <a:rPr lang="en-US" dirty="0"/>
              <a:t>Used in dictionaries, etc. to help you find it</a:t>
            </a:r>
          </a:p>
          <a:p>
            <a:r>
              <a:rPr lang="en-US" dirty="0"/>
              <a:t> Also used for cryptography</a:t>
            </a:r>
          </a:p>
          <a:p>
            <a:endParaRPr lang="en-US" dirty="0"/>
          </a:p>
          <a:p>
            <a:r>
              <a:rPr lang="en-US" dirty="0"/>
              <a:t>Have a function, then mod by m to stick it into spot m in the structure</a:t>
            </a:r>
          </a:p>
          <a:p>
            <a:endParaRPr lang="en-US" dirty="0"/>
          </a:p>
          <a:p>
            <a:r>
              <a:rPr lang="en-US" dirty="0"/>
              <a:t>Collisions are an issue – what if two things have same hash?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0371E-0619-A9CE-1FA9-5A68D8615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22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66D2D-162D-7E6D-EEEA-6029DC46E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CCC3D-F651-AD04-18C4-2CF0E7DC1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F0D54-67FF-A6B1-75E4-AC4FD96F4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5</a:t>
            </a:fld>
            <a:endParaRPr lang="en-US"/>
          </a:p>
        </p:txBody>
      </p:sp>
      <p:pic>
        <p:nvPicPr>
          <p:cNvPr id="38914" name="Picture 2" descr="undefined">
            <a:extLst>
              <a:ext uri="{FF2B5EF4-FFF2-40B4-BE49-F238E27FC236}">
                <a16:creationId xmlns:a16="http://schemas.microsoft.com/office/drawing/2014/main" id="{FB37B490-8D8E-6F3A-93E9-E2BCE56E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425" y="0"/>
            <a:ext cx="8945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9828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4570-D46C-88EF-66AB-D0A3EFBE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194327-663B-18EE-149D-489FBFB79F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3. Given a hash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11, determine </a:t>
                </a:r>
                <a:r>
                  <a:rPr lang="en-US" i="1" dirty="0"/>
                  <a:t>if </a:t>
                </a:r>
                <a:r>
                  <a:rPr lang="en-US" dirty="0"/>
                  <a:t>there is a collision for items inserted with the keys 60, 9, 45, 3, 70, 5, 90, 93, 39, 77, 70  in that order. </a:t>
                </a:r>
              </a:p>
              <a:p>
                <a:r>
                  <a:rPr lang="en-US" dirty="0"/>
                  <a:t>At which item does the first collision occur?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194327-663B-18EE-149D-489FBFB79F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92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908D6-B5DC-A374-A533-C1D8908F2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85BA9-BAE3-D5D5-892B-87DCF5411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18B09-1BA9-E049-A602-C6D3FE05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7</a:t>
            </a:fld>
            <a:endParaRPr lang="en-US"/>
          </a:p>
        </p:txBody>
      </p:sp>
      <p:pic>
        <p:nvPicPr>
          <p:cNvPr id="41986" name="Picture 2">
            <a:extLst>
              <a:ext uri="{FF2B5EF4-FFF2-40B4-BE49-F238E27FC236}">
                <a16:creationId xmlns:a16="http://schemas.microsoft.com/office/drawing/2014/main" id="{CE6FEB9A-C2B4-947A-BF42-698FCE9CD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82763"/>
            <a:ext cx="12192000" cy="329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9680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2A118-9C9C-00AE-3A30-DF8131E2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DBF3B-AEF9-5C2A-0E29-740A51152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2D36F-B7E1-EB3C-97CF-CFCD74D85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8</a:t>
            </a:fld>
            <a:endParaRPr lang="en-US"/>
          </a:p>
        </p:txBody>
      </p:sp>
      <p:pic>
        <p:nvPicPr>
          <p:cNvPr id="43010" name="Picture 2" descr="Open Addressing: Handling collision in hashing">
            <a:extLst>
              <a:ext uri="{FF2B5EF4-FFF2-40B4-BE49-F238E27FC236}">
                <a16:creationId xmlns:a16="http://schemas.microsoft.com/office/drawing/2014/main" id="{8B7A9390-AFB1-DBE2-E0B3-441DDB124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811" y="1323609"/>
            <a:ext cx="11110377" cy="4210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080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7257-3803-0AF9-F7E6-8F79DD3B1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0705C-7589-8CD0-37A7-FCBE5714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E408D-64AB-E89F-2C65-0237E72C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3. Given a hash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11, determine </a:t>
                </a:r>
                <a:r>
                  <a:rPr lang="en-US" i="1" dirty="0"/>
                  <a:t>if </a:t>
                </a:r>
                <a:r>
                  <a:rPr lang="en-US" dirty="0"/>
                  <a:t>there is a collision for items inserted with the keys 60, 9, 45, 3, 70, 5, 90, 93, 39, 77, 70  in that order. </a:t>
                </a:r>
              </a:p>
              <a:p>
                <a:r>
                  <a:rPr lang="en-US" dirty="0"/>
                  <a:t>What is the result of the array when resolving collisions using linear/sequential probing?  Use arrows/different colors to demonstrate when probing occurs.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E408D-64AB-E89F-2C65-0237E72C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6895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06C93-BCAF-52DA-9A0E-487FD94DD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588D9-1EF4-CD4C-2D82-F4D5C2FA4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10</a:t>
            </a:fld>
            <a:endParaRPr lang="en-US"/>
          </a:p>
        </p:txBody>
      </p:sp>
      <p:pic>
        <p:nvPicPr>
          <p:cNvPr id="40962" name="Picture 2">
            <a:extLst>
              <a:ext uri="{FF2B5EF4-FFF2-40B4-BE49-F238E27FC236}">
                <a16:creationId xmlns:a16="http://schemas.microsoft.com/office/drawing/2014/main" id="{B75E7F88-B49E-42C7-DAA6-BE38DA676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2243"/>
            <a:ext cx="12192000" cy="6513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EEAC59-7183-98DF-66A0-3229C21C4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Chaining</a:t>
            </a:r>
          </a:p>
        </p:txBody>
      </p:sp>
    </p:spTree>
    <p:extLst>
      <p:ext uri="{BB962C8B-B14F-4D97-AF65-F5344CB8AC3E}">
        <p14:creationId xmlns:p14="http://schemas.microsoft.com/office/powerpoint/2010/main" val="1797612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033FE-64BB-2E86-8D06-9F0381D9F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FB683-41AF-5376-AA9D-066634886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5CDD37-25FE-F1F8-8DC4-C6DBA24BB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3. Given a hash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11, determine </a:t>
                </a:r>
                <a:r>
                  <a:rPr lang="en-US" i="1" dirty="0"/>
                  <a:t>if </a:t>
                </a:r>
                <a:r>
                  <a:rPr lang="en-US" dirty="0"/>
                  <a:t>there is a collision for items inserted with the keys 60, 9, 45, 3, 70, 5, 90, 93, 39, 77, 70  in that order. </a:t>
                </a:r>
              </a:p>
              <a:p>
                <a:r>
                  <a:rPr lang="en-US" dirty="0"/>
                  <a:t>What is the result of the array when resolving collisions using chaining?  Draw a picture.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5CDD37-25FE-F1F8-8DC4-C6DBA24BB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9281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8847565C-967E-3183-0B48-5C5B3568D9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11: 60, 9, 45, 3, 70, 5, 90, 93, 39, 77, 70 </a:t>
                </a:r>
              </a:p>
            </p:txBody>
          </p:sp>
        </mc:Choice>
        <mc:Fallback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8847565C-967E-3183-0B48-5C5B3568D9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t="-13333" r="-3257" b="-2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2E7CC6-E528-1ACD-875D-B6D162781A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100462"/>
              </p:ext>
            </p:extLst>
          </p:nvPr>
        </p:nvGraphicFramePr>
        <p:xfrm>
          <a:off x="1341118" y="1920240"/>
          <a:ext cx="9509764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4524">
                  <a:extLst>
                    <a:ext uri="{9D8B030D-6E8A-4147-A177-3AD203B41FA5}">
                      <a16:colId xmlns:a16="http://schemas.microsoft.com/office/drawing/2014/main" val="313715946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376636867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11784015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789003611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4096710856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541899010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983841587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32762702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79710034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64781393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84951581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76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6034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9B4B-15F1-32ED-84F6-8CA8F8B70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BE9462B0-5FBA-CF13-33D2-AB93D3384B5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+31</m:t>
                    </m:r>
                  </m:oMath>
                </a14:m>
                <a:r>
                  <a:rPr lang="en-US" dirty="0"/>
                  <a:t> mod 11: 60, 9, 45, 3, 70, 5, 90, 93, 39, 77, 70 </a:t>
                </a:r>
              </a:p>
            </p:txBody>
          </p:sp>
        </mc:Choice>
        <mc:Fallback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BE9462B0-5FBA-CF13-33D2-AB93D3384B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t="-13333" r="-3257" b="-2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FF17C04-08BD-E0F0-7F42-5A982B5B38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998519"/>
              </p:ext>
            </p:extLst>
          </p:nvPr>
        </p:nvGraphicFramePr>
        <p:xfrm>
          <a:off x="1341118" y="1889760"/>
          <a:ext cx="9509764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4524">
                  <a:extLst>
                    <a:ext uri="{9D8B030D-6E8A-4147-A177-3AD203B41FA5}">
                      <a16:colId xmlns:a16="http://schemas.microsoft.com/office/drawing/2014/main" val="313715946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376636867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11784015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789003611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4096710856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541899010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983841587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2327627029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797100344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64781393"/>
                    </a:ext>
                  </a:extLst>
                </a:gridCol>
                <a:gridCol w="864524">
                  <a:extLst>
                    <a:ext uri="{9D8B030D-6E8A-4147-A177-3AD203B41FA5}">
                      <a16:colId xmlns:a16="http://schemas.microsoft.com/office/drawing/2014/main" val="184951581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76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346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1533D-FD6D-BD54-306F-8766E3AB3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486A7-3E6F-BCB3-1A75-B84EF5571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Quadratic hashing</a:t>
            </a:r>
            <a:endParaRPr lang="en-US" dirty="0"/>
          </a:p>
          <a:p>
            <a:pPr lvl="1"/>
            <a:r>
              <a:rPr lang="en-US" dirty="0"/>
              <a:t>If value x matches to y,</a:t>
            </a:r>
          </a:p>
          <a:p>
            <a:pPr lvl="1"/>
            <a:r>
              <a:rPr lang="en-US" dirty="0"/>
              <a:t>Instead of moving y+1, move y+1</a:t>
            </a:r>
            <a:r>
              <a:rPr lang="en-US" baseline="30000" dirty="0"/>
              <a:t>2. </a:t>
            </a:r>
          </a:p>
          <a:p>
            <a:pPr lvl="1"/>
            <a:r>
              <a:rPr lang="en-US" dirty="0"/>
              <a:t>Then, if y+1</a:t>
            </a:r>
            <a:r>
              <a:rPr lang="en-US" baseline="30000" dirty="0"/>
              <a:t>2</a:t>
            </a:r>
            <a:r>
              <a:rPr lang="en-US" dirty="0"/>
              <a:t> is full, try y+2</a:t>
            </a:r>
            <a:r>
              <a:rPr lang="en-US" baseline="30000" dirty="0"/>
              <a:t>2</a:t>
            </a:r>
          </a:p>
          <a:p>
            <a:pPr lvl="1"/>
            <a:r>
              <a:rPr lang="en-US" dirty="0"/>
              <a:t>Chances are, you'll find an empty spot faster.</a:t>
            </a:r>
          </a:p>
          <a:p>
            <a:pPr lvl="1"/>
            <a:endParaRPr lang="en-US" dirty="0"/>
          </a:p>
          <a:p>
            <a:r>
              <a:rPr lang="en-US" dirty="0">
                <a:hlinkClick r:id="rId3"/>
              </a:rPr>
              <a:t>Double hashing</a:t>
            </a:r>
            <a:endParaRPr lang="en-US" dirty="0"/>
          </a:p>
          <a:p>
            <a:pPr lvl="1"/>
            <a:r>
              <a:rPr lang="en-US" dirty="0"/>
              <a:t>Have a separate hash function that you run when there are collisions</a:t>
            </a:r>
          </a:p>
          <a:p>
            <a:pPr lvl="1"/>
            <a:endParaRPr lang="en-US" dirty="0"/>
          </a:p>
          <a:p>
            <a:r>
              <a:rPr lang="en-US" dirty="0"/>
              <a:t>And more!</a:t>
            </a:r>
          </a:p>
        </p:txBody>
      </p:sp>
    </p:spTree>
    <p:extLst>
      <p:ext uri="{BB962C8B-B14F-4D97-AF65-F5344CB8AC3E}">
        <p14:creationId xmlns:p14="http://schemas.microsoft.com/office/powerpoint/2010/main" val="3249394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65394-68B9-1DCC-859C-FFB0175D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things are in there?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02EA3-8FA4-B24E-9DC6-580D4C674C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Hash table has fixed size </a:t>
                </a:r>
              </a:p>
              <a:p>
                <a:pPr lvl="1"/>
                <a:r>
                  <a:rPr lang="en-US" dirty="0"/>
                  <a:t>Like if implemented with arrays</a:t>
                </a:r>
              </a:p>
              <a:p>
                <a:r>
                  <a:rPr lang="en-US" dirty="0"/>
                  <a:t>So, need to keep track of "how full" it is</a:t>
                </a:r>
              </a:p>
              <a:p>
                <a:r>
                  <a:rPr lang="en-US" dirty="0"/>
                  <a:t>Load factor: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= size of data (num. entries)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= number of buckets (capacity)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02EA3-8FA4-B24E-9DC6-580D4C674C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EEBDC-CCFD-92A1-9D52-A4D5632B8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11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80030-AC9C-92A7-2ADC-D1FA4F289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B10CD-54D5-47C8-20A5-1282E52D69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You decide how full you want it to get </a:t>
                </a:r>
              </a:p>
              <a:p>
                <a:pPr lvl="1"/>
                <a:r>
                  <a:rPr lang="en-US" sz="2800" dirty="0"/>
                  <a:t>Set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800" dirty="0">
                    <a:effectLst/>
                  </a:rPr>
                  <a:t> threshold</a:t>
                </a:r>
              </a:p>
              <a:p>
                <a:r>
                  <a:rPr lang="en-US" dirty="0"/>
                  <a:t>Resize, </a:t>
                </a:r>
                <a:r>
                  <a:rPr lang="en-US" i="1" dirty="0"/>
                  <a:t>then rehash </a:t>
                </a:r>
                <a:r>
                  <a:rPr lang="en-US" dirty="0"/>
                  <a:t>when it gets too big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effectLst/>
                  </a:rPr>
                  <a:t> ), or when gets too small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effectLst/>
                  </a:rPr>
                  <a:t>/4 ??)</a:t>
                </a:r>
              </a:p>
              <a:p>
                <a:r>
                  <a:rPr lang="en-US" dirty="0"/>
                  <a:t>Also may depend on method of collision resolution</a:t>
                </a:r>
                <a:r>
                  <a:rPr lang="en-US" dirty="0">
                    <a:effectLst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B10CD-54D5-47C8-20A5-1282E52D69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793DE-B029-B5EF-E10C-7EC2B296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335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A04F4-8310-7708-3584-47DE691D1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8C609-B7DB-5EBF-5AB7-43167F604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F880C-D12F-5E19-7CAB-59485782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17</a:t>
            </a:fld>
            <a:endParaRPr lang="en-US"/>
          </a:p>
        </p:txBody>
      </p:sp>
      <p:pic>
        <p:nvPicPr>
          <p:cNvPr id="44034" name="Picture 2">
            <a:extLst>
              <a:ext uri="{FF2B5EF4-FFF2-40B4-BE49-F238E27FC236}">
                <a16:creationId xmlns:a16="http://schemas.microsoft.com/office/drawing/2014/main" id="{0470DCD9-22F5-43B0-C6F0-779308489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115" y="1540289"/>
            <a:ext cx="10169769" cy="492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704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E8A6B-B144-FD0E-5924-FC9C291E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76051-9B69-2BF3-4418-598E4D1BA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5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4D37F-4690-95D4-BD06-FBD1920F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128CF-F58D-9D2E-FF64-EE6E15241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E168-B338-8AE4-1E43-5678D3C6C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19</a:t>
            </a:fld>
            <a:endParaRPr lang="en-US"/>
          </a:p>
        </p:txBody>
      </p:sp>
      <p:pic>
        <p:nvPicPr>
          <p:cNvPr id="29698" name="Picture 2" descr="How to Implement Binary Search Trees and Tree Traversal in JavaScript | by  Matthew Aquino | JavaScript in Plain English">
            <a:extLst>
              <a:ext uri="{FF2B5EF4-FFF2-40B4-BE49-F238E27FC236}">
                <a16:creationId xmlns:a16="http://schemas.microsoft.com/office/drawing/2014/main" id="{2360144A-AD87-76C9-874C-0D8E8740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3688"/>
            <a:ext cx="12192000" cy="6269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5409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B3894-8CEF-3922-81D4-A2CDA7790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Insert the following items into a BST: </a:t>
            </a:r>
            <a:br>
              <a:rPr lang="en-US" dirty="0"/>
            </a:br>
            <a:r>
              <a:rPr lang="en-US" dirty="0"/>
              <a:t>60, 9, 45, 3, 70, 5, 90, 93, 39, 77, 70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C4EDED-E5B3-03B7-156F-1C6F5EF40A2A}"/>
              </a:ext>
            </a:extLst>
          </p:cNvPr>
          <p:cNvSpPr txBox="1"/>
          <p:nvPr/>
        </p:nvSpPr>
        <p:spPr>
          <a:xfrm>
            <a:off x="9814560" y="1158240"/>
            <a:ext cx="785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Tree A</a:t>
            </a:r>
          </a:p>
        </p:txBody>
      </p:sp>
    </p:spTree>
    <p:extLst>
      <p:ext uri="{BB962C8B-B14F-4D97-AF65-F5344CB8AC3E}">
        <p14:creationId xmlns:p14="http://schemas.microsoft.com/office/powerpoint/2010/main" val="29217453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F1E0F-325B-B39E-D62A-4C51D41F6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DAC01-5C1F-BDB3-1AC5-EE6FB51B7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Insert the following items into a BST: </a:t>
            </a:r>
            <a:br>
              <a:rPr lang="en-US" dirty="0"/>
            </a:br>
            <a:r>
              <a:rPr lang="en-US" dirty="0"/>
              <a:t>58  47   84  39  55  14  98  53  79  42  87  3  90  1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92BFF0-9510-56FC-FDA3-7DFDBC5FAA96}"/>
              </a:ext>
            </a:extLst>
          </p:cNvPr>
          <p:cNvSpPr txBox="1"/>
          <p:nvPr/>
        </p:nvSpPr>
        <p:spPr>
          <a:xfrm>
            <a:off x="11216640" y="619760"/>
            <a:ext cx="788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Tree B</a:t>
            </a:r>
          </a:p>
        </p:txBody>
      </p:sp>
    </p:spTree>
    <p:extLst>
      <p:ext uri="{BB962C8B-B14F-4D97-AF65-F5344CB8AC3E}">
        <p14:creationId xmlns:p14="http://schemas.microsoft.com/office/powerpoint/2010/main" val="874730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D6A37-0C98-8810-FBBC-469E69302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71E7A-64E4-BDD9-DD50-B5FEBAFD4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</a:t>
            </a:r>
          </a:p>
          <a:p>
            <a:pPr lvl="1"/>
            <a:r>
              <a:rPr lang="en-US" dirty="0"/>
              <a:t>All levels full</a:t>
            </a:r>
          </a:p>
          <a:p>
            <a:r>
              <a:rPr lang="en-US" dirty="0"/>
              <a:t>Balanced</a:t>
            </a:r>
          </a:p>
          <a:p>
            <a:pPr lvl="1"/>
            <a:r>
              <a:rPr lang="en-US" dirty="0"/>
              <a:t>One side not more than other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133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7890C-A0E2-F767-13B2-B45B5BBD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A6545-F309-812F-59DB-6AC2E959C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8AB1C-9A20-4784-3381-371FE3D0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23</a:t>
            </a:fld>
            <a:endParaRPr lang="en-US"/>
          </a:p>
        </p:txBody>
      </p:sp>
      <p:pic>
        <p:nvPicPr>
          <p:cNvPr id="26626" name="Picture 2" descr="CS 225 | Binary Search Trees">
            <a:extLst>
              <a:ext uri="{FF2B5EF4-FFF2-40B4-BE49-F238E27FC236}">
                <a16:creationId xmlns:a16="http://schemas.microsoft.com/office/drawing/2014/main" id="{590715C4-55FB-37A4-1B2A-F54EFEDD3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00" y="0"/>
            <a:ext cx="1155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740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17743-8FDB-22C5-B95B-14FD5435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InOrder</a:t>
            </a:r>
            <a:r>
              <a:rPr lang="en-US" dirty="0"/>
              <a:t> Traversal of tree A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D7DDC-79B8-38D7-6067-253184D85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64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55701-DBC9-ABE8-0988-E9CDCD207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2C73-F482-4A7E-7145-61F8233812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1BD6B-D802-A33F-9D18-3E97A8E3D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25</a:t>
            </a:fld>
            <a:endParaRPr lang="en-US"/>
          </a:p>
        </p:txBody>
      </p:sp>
      <p:pic>
        <p:nvPicPr>
          <p:cNvPr id="30722" name="Picture 2" descr="Tree Traversal Techniques - GeeksforGeeks">
            <a:extLst>
              <a:ext uri="{FF2B5EF4-FFF2-40B4-BE49-F238E27FC236}">
                <a16:creationId xmlns:a16="http://schemas.microsoft.com/office/drawing/2014/main" id="{91BF39FE-1E48-189E-BE5D-33BB5AFFE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0" y="0"/>
            <a:ext cx="9588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53765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F53BE-4B73-72BB-904F-1E647B10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877B3-D4AA-22EE-EB0A-8DA6F240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PreOrder</a:t>
            </a:r>
            <a:r>
              <a:rPr lang="en-US" dirty="0"/>
              <a:t> Traversal of tree A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A26B-609F-5521-A515-C90551F34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8956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79365-F418-CE58-D617-C11A6EC03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EF60F-A7CE-C35B-4760-AE18803CF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Post-order traversal: E M X S B P N T H C W A</a:t>
            </a:r>
          </a:p>
          <a:p>
            <a:r>
              <a:rPr lang="en-US" dirty="0"/>
              <a:t>(this isn't a BST, just a BT)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F3994-1B5D-81D6-4095-78CB6B5F9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27</a:t>
            </a:fld>
            <a:endParaRPr lang="en-US"/>
          </a:p>
        </p:txBody>
      </p:sp>
      <p:pic>
        <p:nvPicPr>
          <p:cNvPr id="31746" name="Picture 2" descr="Binary Tree Traversals">
            <a:extLst>
              <a:ext uri="{FF2B5EF4-FFF2-40B4-BE49-F238E27FC236}">
                <a16:creationId xmlns:a16="http://schemas.microsoft.com/office/drawing/2014/main" id="{F174605B-E224-664B-4130-664F2C2AA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00" y="1231900"/>
            <a:ext cx="10871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6310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A30C2-A6E5-D3DE-2614-029BFA661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69FD8-8C4C-2688-D64E-44E164892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PostOrder</a:t>
            </a:r>
            <a:r>
              <a:rPr lang="en-US" dirty="0"/>
              <a:t> Traversal of tree A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A3374-A331-CF07-6E01-06759C655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259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032F6-20FB-CB49-D0EE-74C70846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3B8D7-C4DC-B12A-18C5-AF5597742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– O(h), where h= height of tree</a:t>
            </a:r>
          </a:p>
          <a:p>
            <a:r>
              <a:rPr lang="en-US" dirty="0"/>
              <a:t>Find min/max – O(h)</a:t>
            </a:r>
          </a:p>
          <a:p>
            <a:r>
              <a:rPr lang="en-US" dirty="0"/>
              <a:t>Traversal – O(n)</a:t>
            </a:r>
          </a:p>
          <a:p>
            <a:r>
              <a:rPr lang="en-US" dirty="0"/>
              <a:t>Insertion – O(h)</a:t>
            </a:r>
          </a:p>
          <a:p>
            <a:r>
              <a:rPr lang="en-US" dirty="0"/>
              <a:t>Deletion – O(h)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0CA-A7CA-B577-2B9E-1AD469F3B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B9C6F-93B4-4945-8DF5-8EB7FB06616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471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B13D4F-4B54-2CFD-45CE-D820434D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These slides are work-in-progress; more will be added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CBB95-B5A0-4E31-8197-E2631EE1C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472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2492</TotalTime>
  <Words>695</Words>
  <Application>Microsoft Macintosh PowerPoint</Application>
  <PresentationFormat>Widescreen</PresentationFormat>
  <Paragraphs>92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Office Theme</vt:lpstr>
      <vt:lpstr>Data Structures, In Detail</vt:lpstr>
      <vt:lpstr>Hashing/Dictionaries</vt:lpstr>
      <vt:lpstr>PowerPoint Presentation</vt:lpstr>
      <vt:lpstr>Hashing</vt:lpstr>
      <vt:lpstr>PowerPoint Presentation</vt:lpstr>
      <vt:lpstr>Example</vt:lpstr>
      <vt:lpstr>PowerPoint Presentation</vt:lpstr>
      <vt:lpstr>Linear Probing</vt:lpstr>
      <vt:lpstr>Example</vt:lpstr>
      <vt:lpstr>Chaining</vt:lpstr>
      <vt:lpstr>Example</vt:lpstr>
      <vt:lpstr>f(x)=x+31 mod 11: 60, 9, 45, 3, 70, 5, 90, 93, 39, 77, 70 </vt:lpstr>
      <vt:lpstr>f(x)=x+31 mod 11: 60, 9, 45, 3, 70, 5, 90, 93, 39, 77, 70 </vt:lpstr>
      <vt:lpstr>More Collision Resolution</vt:lpstr>
      <vt:lpstr>How many things are in there?</vt:lpstr>
      <vt:lpstr>Load factor</vt:lpstr>
      <vt:lpstr>Hash Table Operations</vt:lpstr>
      <vt:lpstr>Binary Search Trees</vt:lpstr>
      <vt:lpstr>PowerPoint Presentation</vt:lpstr>
      <vt:lpstr>Insert the following items into a BST:  60, 9, 45, 3, 70, 5, 90, 93, 39, 77, 70 </vt:lpstr>
      <vt:lpstr>Insert the following items into a BST:  58  47   84  39  55  14  98  53  79  42  87  3  90  1</vt:lpstr>
      <vt:lpstr>BST Terms</vt:lpstr>
      <vt:lpstr>PowerPoint Presentation</vt:lpstr>
      <vt:lpstr>InOrder Traversal of tree A</vt:lpstr>
      <vt:lpstr>PowerPoint Presentation</vt:lpstr>
      <vt:lpstr>PreOrder Traversal of tree A</vt:lpstr>
      <vt:lpstr>PowerPoint Presentation</vt:lpstr>
      <vt:lpstr>PostOrder Traversal of tree A</vt:lpstr>
      <vt:lpstr>BST Operations</vt:lpstr>
      <vt:lpstr>These slides are work-in-progress; more will be added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 Roscoe</dc:creator>
  <cp:lastModifiedBy>Sarah R Roscoe</cp:lastModifiedBy>
  <cp:revision>6</cp:revision>
  <dcterms:created xsi:type="dcterms:W3CDTF">2026-02-18T23:52:25Z</dcterms:created>
  <dcterms:modified xsi:type="dcterms:W3CDTF">2026-02-24T19:10:11Z</dcterms:modified>
</cp:coreProperties>
</file>